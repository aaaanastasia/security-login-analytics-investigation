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AA00AC-A946-4D20-93B9-A029F7BE7F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383902"/>
            <a:ext cx="2095500" cy="38472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4254-7E9C-489D-9188-7F62A00AC1E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57250" cy="47625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14FD74-EE19-46C4-AB05-C73F3760EC6D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953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Security Login Analytics Investigation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C1C6D71-5968-48C4-A352-96DA79C8F374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Technical Design Review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A5E66B0-9E73-4897-900E-9A3B26787A76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4524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D9D9D9"/>
                </a:solidFill>
              </a:defRPr>
            </a:pPr>
            <a:r>
              <a:rPr sz="1650" b="0">
                <a:solidFill>
                  <a:srgbClr val="D9D9D9"/>
                </a:solidFill>
              </a:rPr>
              <a:t>Detecting suspicious authentication behavior using behavioral analytics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A310B1A-B9D3-47AA-924A-FA5A09998202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D9D9D9"/>
                </a:solidFill>
              </a:defRPr>
            </a:pPr>
            <a:r>
              <a:rPr sz="1125" b="0">
                <a:solidFill>
                  <a:srgbClr val="D9D9D9"/>
                </a:solidFill>
              </a:rPr>
              <a:t>Prepared by Stasy | 10 158 login events | 2024-01-01 to 2024-03-29</a:t>
            </a:r>
          </a:p>
        </p:txBody>
      </p:sp>
    </p:spTree>
    <p:extLst>
      <p:ext uri="{BB962C8B-B14F-4D97-AF65-F5344CB8AC3E}">
        <p14:creationId xmlns:p14="http://schemas.microsoft.com/office/powerpoint/2010/main" val="730027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02FF32-6A1F-435E-8DAF-35D3ADF2C7D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98DFD7-40F8-47BB-8620-86EDAD922633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F1535B7-C769-49D5-B11D-D5862AA73E7F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385C22A-4AD5-4FEC-ACFE-DFA36330C006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review moves from business risk to operating model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0FE8469-FD62-4C58-99CE-48B2CC2BBDA7}"/>
              </a:ext>
            </a:extLst>
          </p:cNvPr>
          <p:cNvSpPr>
            <a:spLocks noGrp="1"/>
          </p:cNvSpPr>
          <p:nvPr/>
        </p:nvSpPr>
        <p:spPr>
          <a:xfrm>
            <a:off x="1066800" y="1543050"/>
            <a:ext cx="4286250" cy="390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Business problem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Assignment understanding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Analytical strategy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Decision log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Data understanding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Data quality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Exploratory analysis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Baseline and features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Anomaly investigation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Threat kill chain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740524E-BF1F-4114-B143-650480564D5F}"/>
              </a:ext>
            </a:extLst>
          </p:cNvPr>
          <p:cNvSpPr>
            <a:spLocks noGrp="1"/>
          </p:cNvSpPr>
          <p:nvPr/>
        </p:nvSpPr>
        <p:spPr>
          <a:xfrm>
            <a:off x="6429375" y="1543050"/>
            <a:ext cx="4286250" cy="390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Statistical confidence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Heuristics versus ML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Explainability and cost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SOC workflow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Dashboard design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Product perspective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Product KPI case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Production architecture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Limitations</a:t>
            </a:r>
          </a:p>
          <a:p>
            <a:pPr algn="l">
              <a:defRPr sz="1575" b="0">
                <a:solidFill>
                  <a:srgbClr val="2A2A2A"/>
                </a:solidFill>
              </a:defRPr>
            </a:pPr>
            <a:r>
              <a:rPr sz="1575" b="0">
                <a:solidFill>
                  <a:srgbClr val="2A2A2A"/>
                </a:solidFill>
              </a:rPr>
              <a:t>- Recommendations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DA423B0-D64F-4DEC-9ED4-E35FF52E36E2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D82789C-4A88-4A1B-B2FB-2595FD0F350E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3322D5F-EDD3-45BD-BDCC-99D897406E12}"/>
              </a:ext>
            </a:extLst>
          </p:cNvPr>
          <p:cNvSpPr>
            <a:spLocks noGrp="1"/>
          </p:cNvSpPr>
          <p:nvPr/>
        </p:nvSpPr>
        <p:spPr>
          <a:xfrm>
            <a:off x="914400" y="581977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throughline is not 'find weird rows'; it is reduce security risk with evidence that a SOC can act on.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A247604-9711-4FD3-8524-F7C6B384C63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66CB9EC-211D-4163-99BF-544D67ACC43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026B2F3-027E-434E-80A8-14A239AB0485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8420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B6D54B8-2D42-470A-808E-BD0B1B5E94B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C701C9B-097E-4CCA-AA9B-F7C6CE9F0DFD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ED4339B-4297-4643-B4E4-E2C7B1713059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8C42EE-F585-48FE-9B4B-97D306539E0B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Login monitoring protects revenue, trust, and compliance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5A787E6-A566-455A-958E-F2073E7FD1E5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1432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F5EF24B-3355-4CC2-8951-9188917B9C5B}"/>
              </a:ext>
            </a:extLst>
          </p:cNvPr>
          <p:cNvSpPr>
            <a:spLocks noGrp="1"/>
          </p:cNvSpPr>
          <p:nvPr/>
        </p:nvSpPr>
        <p:spPr>
          <a:xfrm>
            <a:off x="876300" y="18383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Primary objective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EEA9928-10F2-412C-9FB0-43D3BEBD8EC0}"/>
              </a:ext>
            </a:extLst>
          </p:cNvPr>
          <p:cNvSpPr>
            <a:spLocks noGrp="1"/>
          </p:cNvSpPr>
          <p:nvPr/>
        </p:nvSpPr>
        <p:spPr>
          <a:xfrm>
            <a:off x="876300" y="2085975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A582D"/>
                </a:solidFill>
              </a:defRPr>
            </a:pPr>
            <a:r>
              <a:rPr sz="2250" b="1">
                <a:solidFill>
                  <a:srgbClr val="FA582D"/>
                </a:solidFill>
              </a:rPr>
              <a:t>Reduce risk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842B47B-1622-4498-8D03-F6D3DCD60280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Without flooding analysts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3873E8D6-B1F4-474F-AA48-CE5DBCEC4427}"/>
              </a:ext>
            </a:extLst>
          </p:cNvPr>
          <p:cNvSpPr>
            <a:spLocks noGrp="1"/>
          </p:cNvSpPr>
          <p:nvPr/>
        </p:nvSpPr>
        <p:spPr>
          <a:xfrm>
            <a:off x="4524375" y="1666875"/>
            <a:ext cx="31432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BB3BC69-501B-4955-9B9F-93D012C1C361}"/>
              </a:ext>
            </a:extLst>
          </p:cNvPr>
          <p:cNvSpPr>
            <a:spLocks noGrp="1"/>
          </p:cNvSpPr>
          <p:nvPr/>
        </p:nvSpPr>
        <p:spPr>
          <a:xfrm>
            <a:off x="4714875" y="18383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False-positive cost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79ED640-F2BB-4B58-BBE1-05C46286598E}"/>
              </a:ext>
            </a:extLst>
          </p:cNvPr>
          <p:cNvSpPr>
            <a:spLocks noGrp="1"/>
          </p:cNvSpPr>
          <p:nvPr/>
        </p:nvSpPr>
        <p:spPr>
          <a:xfrm>
            <a:off x="4714875" y="2085975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B020"/>
                </a:solidFill>
              </a:defRPr>
            </a:pPr>
            <a:r>
              <a:rPr sz="2250" b="1">
                <a:solidFill>
                  <a:srgbClr val="FFB020"/>
                </a:solidFill>
              </a:rPr>
              <a:t>Alert fatigue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EC5DC58-EE2A-447C-9D56-757742845E72}"/>
              </a:ext>
            </a:extLst>
          </p:cNvPr>
          <p:cNvSpPr>
            <a:spLocks noGrp="1"/>
          </p:cNvSpPr>
          <p:nvPr/>
        </p:nvSpPr>
        <p:spPr>
          <a:xfrm>
            <a:off x="4714875" y="245745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SOC capacity is finite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C3CF871-7EBD-45E6-A5E6-D32DEBFFDA02}"/>
              </a:ext>
            </a:extLst>
          </p:cNvPr>
          <p:cNvSpPr>
            <a:spLocks noGrp="1"/>
          </p:cNvSpPr>
          <p:nvPr/>
        </p:nvSpPr>
        <p:spPr>
          <a:xfrm>
            <a:off x="8362950" y="1666875"/>
            <a:ext cx="31432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09E9072-0812-428F-8C97-8D657D9276D0}"/>
              </a:ext>
            </a:extLst>
          </p:cNvPr>
          <p:cNvSpPr>
            <a:spLocks noGrp="1"/>
          </p:cNvSpPr>
          <p:nvPr/>
        </p:nvSpPr>
        <p:spPr>
          <a:xfrm>
            <a:off x="8553450" y="18383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False-negative cost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B41628B-F5ED-4AF6-B26A-AE0ABCB0A9FB}"/>
              </a:ext>
            </a:extLst>
          </p:cNvPr>
          <p:cNvSpPr>
            <a:spLocks noGrp="1"/>
          </p:cNvSpPr>
          <p:nvPr/>
        </p:nvSpPr>
        <p:spPr>
          <a:xfrm>
            <a:off x="8553450" y="2085975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D92D20"/>
                </a:solidFill>
              </a:defRPr>
            </a:pPr>
            <a:r>
              <a:rPr sz="2250" b="1">
                <a:solidFill>
                  <a:srgbClr val="D92D20"/>
                </a:solidFill>
              </a:rPr>
              <a:t>Account takeover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7102891-FA36-49D9-83F0-4BF0CB99E288}"/>
              </a:ext>
            </a:extLst>
          </p:cNvPr>
          <p:cNvSpPr>
            <a:spLocks noGrp="1"/>
          </p:cNvSpPr>
          <p:nvPr/>
        </p:nvSpPr>
        <p:spPr>
          <a:xfrm>
            <a:off x="8553450" y="245745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Fraud, privacy, trust loss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334E406-C088-48F3-ADDA-4B1F2B2F984E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2333625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345294A-6772-4813-B8BA-32FB5323590A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Threat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E2F307A-91E9-4AE7-901F-8C6FB27B0612}"/>
              </a:ext>
            </a:extLst>
          </p:cNvPr>
          <p:cNvSpPr>
            <a:spLocks noGrp="1"/>
          </p:cNvSpPr>
          <p:nvPr/>
        </p:nvSpPr>
        <p:spPr>
          <a:xfrm>
            <a:off x="3019425" y="3286125"/>
            <a:ext cx="3905250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670F69C-3F13-436A-BCD2-158D35FE8DD4}"/>
              </a:ext>
            </a:extLst>
          </p:cNvPr>
          <p:cNvSpPr>
            <a:spLocks noGrp="1"/>
          </p:cNvSpPr>
          <p:nvPr/>
        </p:nvSpPr>
        <p:spPr>
          <a:xfrm>
            <a:off x="3114675" y="337185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What login logs reveal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117F493-590F-4025-B504-4AA0A917D644}"/>
              </a:ext>
            </a:extLst>
          </p:cNvPr>
          <p:cNvSpPr>
            <a:spLocks noGrp="1"/>
          </p:cNvSpPr>
          <p:nvPr/>
        </p:nvSpPr>
        <p:spPr>
          <a:xfrm>
            <a:off x="6924675" y="3286125"/>
            <a:ext cx="4581525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1A884E8-E053-4672-98D2-FB679F6B077E}"/>
              </a:ext>
            </a:extLst>
          </p:cNvPr>
          <p:cNvSpPr>
            <a:spLocks noGrp="1"/>
          </p:cNvSpPr>
          <p:nvPr/>
        </p:nvSpPr>
        <p:spPr>
          <a:xfrm>
            <a:off x="7019925" y="3371850"/>
            <a:ext cx="4391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Business risk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26FDCE5-61A5-4A59-835D-2B3EAD3873D1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333625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8D421E8-425E-4712-9B6D-20908FB5D081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21431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Credential stuffing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B3E9480-99CB-4423-8F69-A1466B7EFD29}"/>
              </a:ext>
            </a:extLst>
          </p:cNvPr>
          <p:cNvSpPr>
            <a:spLocks noGrp="1"/>
          </p:cNvSpPr>
          <p:nvPr/>
        </p:nvSpPr>
        <p:spPr>
          <a:xfrm>
            <a:off x="3019425" y="3714750"/>
            <a:ext cx="3905250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5128446-A82C-42FB-9E96-A50132B17758}"/>
              </a:ext>
            </a:extLst>
          </p:cNvPr>
          <p:cNvSpPr>
            <a:spLocks noGrp="1"/>
          </p:cNvSpPr>
          <p:nvPr/>
        </p:nvSpPr>
        <p:spPr>
          <a:xfrm>
            <a:off x="3114675" y="3790950"/>
            <a:ext cx="3714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Repeated failures, IP rotation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273C5E4-B749-4DE1-B2AF-C5B51DC149C9}"/>
              </a:ext>
            </a:extLst>
          </p:cNvPr>
          <p:cNvSpPr>
            <a:spLocks noGrp="1"/>
          </p:cNvSpPr>
          <p:nvPr/>
        </p:nvSpPr>
        <p:spPr>
          <a:xfrm>
            <a:off x="6924675" y="3714750"/>
            <a:ext cx="4581525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BF5E83C-69B5-41B1-93A5-5460ABADB026}"/>
              </a:ext>
            </a:extLst>
          </p:cNvPr>
          <p:cNvSpPr>
            <a:spLocks noGrp="1"/>
          </p:cNvSpPr>
          <p:nvPr/>
        </p:nvSpPr>
        <p:spPr>
          <a:xfrm>
            <a:off x="7019925" y="3790950"/>
            <a:ext cx="43910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Compromised accounts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7122BF1-77A8-4430-9295-ED8E6F60F95B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23336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241292A-BC17-4C66-940D-894B32D2CBDA}"/>
              </a:ext>
            </a:extLst>
          </p:cNvPr>
          <p:cNvSpPr>
            <a:spLocks noGrp="1"/>
          </p:cNvSpPr>
          <p:nvPr/>
        </p:nvSpPr>
        <p:spPr>
          <a:xfrm>
            <a:off x="781050" y="4219575"/>
            <a:ext cx="21431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Password spraying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0F2B28C-CDE5-4930-B225-4101C70D7E7A}"/>
              </a:ext>
            </a:extLst>
          </p:cNvPr>
          <p:cNvSpPr>
            <a:spLocks noGrp="1"/>
          </p:cNvSpPr>
          <p:nvPr/>
        </p:nvSpPr>
        <p:spPr>
          <a:xfrm>
            <a:off x="3019425" y="4143375"/>
            <a:ext cx="39052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02334FB-AEF4-4E03-B0D7-D9B869CF68E3}"/>
              </a:ext>
            </a:extLst>
          </p:cNvPr>
          <p:cNvSpPr>
            <a:spLocks noGrp="1"/>
          </p:cNvSpPr>
          <p:nvPr/>
        </p:nvSpPr>
        <p:spPr>
          <a:xfrm>
            <a:off x="3114675" y="4219575"/>
            <a:ext cx="3714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One IP across many users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4744B981-D30C-4D7F-A3E5-6ABEC992B5A8}"/>
              </a:ext>
            </a:extLst>
          </p:cNvPr>
          <p:cNvSpPr>
            <a:spLocks noGrp="1"/>
          </p:cNvSpPr>
          <p:nvPr/>
        </p:nvSpPr>
        <p:spPr>
          <a:xfrm>
            <a:off x="6924675" y="4143375"/>
            <a:ext cx="45815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3A8C92D-45A7-47D8-BC83-3744B41E790C}"/>
              </a:ext>
            </a:extLst>
          </p:cNvPr>
          <p:cNvSpPr>
            <a:spLocks noGrp="1"/>
          </p:cNvSpPr>
          <p:nvPr/>
        </p:nvSpPr>
        <p:spPr>
          <a:xfrm>
            <a:off x="7019925" y="4219575"/>
            <a:ext cx="43910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Broad exposure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F7D9A9C3-55DE-41B9-8183-7B7F963EA48E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2333625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8A45D60D-2317-4D99-B5A9-B0467648D034}"/>
              </a:ext>
            </a:extLst>
          </p:cNvPr>
          <p:cNvSpPr>
            <a:spLocks noGrp="1"/>
          </p:cNvSpPr>
          <p:nvPr/>
        </p:nvSpPr>
        <p:spPr>
          <a:xfrm>
            <a:off x="781050" y="4648200"/>
            <a:ext cx="21431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Automated bots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63D302AD-E87A-49F2-A173-219B40F85CE5}"/>
              </a:ext>
            </a:extLst>
          </p:cNvPr>
          <p:cNvSpPr>
            <a:spLocks noGrp="1"/>
          </p:cNvSpPr>
          <p:nvPr/>
        </p:nvSpPr>
        <p:spPr>
          <a:xfrm>
            <a:off x="3019425" y="4572000"/>
            <a:ext cx="3905250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F364FE8B-92D9-4172-99F3-58945C5F9CB7}"/>
              </a:ext>
            </a:extLst>
          </p:cNvPr>
          <p:cNvSpPr>
            <a:spLocks noGrp="1"/>
          </p:cNvSpPr>
          <p:nvPr/>
        </p:nvSpPr>
        <p:spPr>
          <a:xfrm>
            <a:off x="3114675" y="4648200"/>
            <a:ext cx="3714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Machine-precise timing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49113264-F586-42AB-96F4-BDF7FC84F623}"/>
              </a:ext>
            </a:extLst>
          </p:cNvPr>
          <p:cNvSpPr>
            <a:spLocks noGrp="1"/>
          </p:cNvSpPr>
          <p:nvPr/>
        </p:nvSpPr>
        <p:spPr>
          <a:xfrm>
            <a:off x="6924675" y="4572000"/>
            <a:ext cx="4581525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921C99E-2F57-4025-A541-C0A0DAA68532}"/>
              </a:ext>
            </a:extLst>
          </p:cNvPr>
          <p:cNvSpPr>
            <a:spLocks noGrp="1"/>
          </p:cNvSpPr>
          <p:nvPr/>
        </p:nvSpPr>
        <p:spPr>
          <a:xfrm>
            <a:off x="7019925" y="4648200"/>
            <a:ext cx="43910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Fraud and abuse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9891F343-5308-4840-9C82-D30DC28097F1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23336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4CF0774D-BBB5-44AB-AF9E-BB02AA95F758}"/>
              </a:ext>
            </a:extLst>
          </p:cNvPr>
          <p:cNvSpPr>
            <a:spLocks noGrp="1"/>
          </p:cNvSpPr>
          <p:nvPr/>
        </p:nvSpPr>
        <p:spPr>
          <a:xfrm>
            <a:off x="781050" y="5076825"/>
            <a:ext cx="21431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Insider or misuse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8B726226-1C90-46DC-A110-76FE1622E597}"/>
              </a:ext>
            </a:extLst>
          </p:cNvPr>
          <p:cNvSpPr>
            <a:spLocks noGrp="1"/>
          </p:cNvSpPr>
          <p:nvPr/>
        </p:nvSpPr>
        <p:spPr>
          <a:xfrm>
            <a:off x="3019425" y="5000625"/>
            <a:ext cx="39052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299FA4D6-ABBB-4226-9B2E-C847BDA5ABEF}"/>
              </a:ext>
            </a:extLst>
          </p:cNvPr>
          <p:cNvSpPr>
            <a:spLocks noGrp="1"/>
          </p:cNvSpPr>
          <p:nvPr/>
        </p:nvSpPr>
        <p:spPr>
          <a:xfrm>
            <a:off x="3114675" y="5076825"/>
            <a:ext cx="3714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Off-hours or atypical access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0B51371E-B65F-4B3D-A50E-D3E0AE913614}"/>
              </a:ext>
            </a:extLst>
          </p:cNvPr>
          <p:cNvSpPr>
            <a:spLocks noGrp="1"/>
          </p:cNvSpPr>
          <p:nvPr/>
        </p:nvSpPr>
        <p:spPr>
          <a:xfrm>
            <a:off x="6924675" y="5000625"/>
            <a:ext cx="45815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CC02F754-BA56-4630-8A9C-482F28CBF7EA}"/>
              </a:ext>
            </a:extLst>
          </p:cNvPr>
          <p:cNvSpPr>
            <a:spLocks noGrp="1"/>
          </p:cNvSpPr>
          <p:nvPr/>
        </p:nvSpPr>
        <p:spPr>
          <a:xfrm>
            <a:off x="7019925" y="5076825"/>
            <a:ext cx="43910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Data loss and compliance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0C53E0DE-A637-43DF-ACEF-7503222A827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7DCBAF6E-C6B1-4013-BA24-EBD1998960F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F93C9B29-99A5-4BB6-80E5-2BA71C73F9C3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790720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A42611D-1C68-43EC-863D-B69B2C71C50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7B59AF8-CCBB-49FA-B84B-294C06EFE439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45E4239-4D68-4A11-95D9-122CF8C35FF1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7BFAF3A-39BA-4942-B013-4126F67CC1ED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assignment tests judgment, not just pandas syntax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950614E-28B0-4DCC-9C0C-49CBB20307F2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202692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5C16EF-9954-473C-8925-7E4DCC5E7825}"/>
              </a:ext>
            </a:extLst>
          </p:cNvPr>
          <p:cNvSpPr>
            <a:spLocks noGrp="1"/>
          </p:cNvSpPr>
          <p:nvPr/>
        </p:nvSpPr>
        <p:spPr>
          <a:xfrm>
            <a:off x="800100" y="1905000"/>
            <a:ext cx="179832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Business thinking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DFDF19B-6CA4-4906-9AFC-36819A952CB4}"/>
              </a:ext>
            </a:extLst>
          </p:cNvPr>
          <p:cNvSpPr>
            <a:spLocks noGrp="1"/>
          </p:cNvSpPr>
          <p:nvPr/>
        </p:nvSpPr>
        <p:spPr>
          <a:xfrm>
            <a:off x="2731770" y="19431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4681FEC-99A6-40B3-8AF3-E975DBE121D4}"/>
              </a:ext>
            </a:extLst>
          </p:cNvPr>
          <p:cNvSpPr>
            <a:spLocks noGrp="1"/>
          </p:cNvSpPr>
          <p:nvPr/>
        </p:nvSpPr>
        <p:spPr>
          <a:xfrm>
            <a:off x="2884170" y="1733550"/>
            <a:ext cx="202692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95FD82A-3F1D-4D13-A2FB-8549D310225D}"/>
              </a:ext>
            </a:extLst>
          </p:cNvPr>
          <p:cNvSpPr>
            <a:spLocks noGrp="1"/>
          </p:cNvSpPr>
          <p:nvPr/>
        </p:nvSpPr>
        <p:spPr>
          <a:xfrm>
            <a:off x="2998470" y="1905000"/>
            <a:ext cx="179832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Security thinking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93C9A65-6F7B-47B7-96BC-1CF03D049D7F}"/>
              </a:ext>
            </a:extLst>
          </p:cNvPr>
          <p:cNvSpPr>
            <a:spLocks noGrp="1"/>
          </p:cNvSpPr>
          <p:nvPr/>
        </p:nvSpPr>
        <p:spPr>
          <a:xfrm>
            <a:off x="4930140" y="19431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C0B994C-6560-4D42-A1FA-1F4B7D0D2D41}"/>
              </a:ext>
            </a:extLst>
          </p:cNvPr>
          <p:cNvSpPr>
            <a:spLocks noGrp="1"/>
          </p:cNvSpPr>
          <p:nvPr/>
        </p:nvSpPr>
        <p:spPr>
          <a:xfrm>
            <a:off x="5082540" y="1733550"/>
            <a:ext cx="202692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CEA59DA-E4F5-4B17-AA71-32340664EAC6}"/>
              </a:ext>
            </a:extLst>
          </p:cNvPr>
          <p:cNvSpPr>
            <a:spLocks noGrp="1"/>
          </p:cNvSpPr>
          <p:nvPr/>
        </p:nvSpPr>
        <p:spPr>
          <a:xfrm>
            <a:off x="5196840" y="1905000"/>
            <a:ext cx="179832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Analytical thinking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C36B161-7119-4363-8AD8-FF99AA95938E}"/>
              </a:ext>
            </a:extLst>
          </p:cNvPr>
          <p:cNvSpPr>
            <a:spLocks noGrp="1"/>
          </p:cNvSpPr>
          <p:nvPr/>
        </p:nvSpPr>
        <p:spPr>
          <a:xfrm>
            <a:off x="7128510" y="19431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6E0439F-7774-4E46-BE4C-2DEFD33E992E}"/>
              </a:ext>
            </a:extLst>
          </p:cNvPr>
          <p:cNvSpPr>
            <a:spLocks noGrp="1"/>
          </p:cNvSpPr>
          <p:nvPr/>
        </p:nvSpPr>
        <p:spPr>
          <a:xfrm>
            <a:off x="7280910" y="1733550"/>
            <a:ext cx="202692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7FE6750-00D4-49D6-A7F8-531B76CDBA21}"/>
              </a:ext>
            </a:extLst>
          </p:cNvPr>
          <p:cNvSpPr>
            <a:spLocks noGrp="1"/>
          </p:cNvSpPr>
          <p:nvPr/>
        </p:nvSpPr>
        <p:spPr>
          <a:xfrm>
            <a:off x="7395210" y="1905000"/>
            <a:ext cx="179832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Visualization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1F17F5A-F208-40FB-971B-9EAB583BB91C}"/>
              </a:ext>
            </a:extLst>
          </p:cNvPr>
          <p:cNvSpPr>
            <a:spLocks noGrp="1"/>
          </p:cNvSpPr>
          <p:nvPr/>
        </p:nvSpPr>
        <p:spPr>
          <a:xfrm>
            <a:off x="9326880" y="19431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25EB6E9-438A-458F-B0E5-09506CA01855}"/>
              </a:ext>
            </a:extLst>
          </p:cNvPr>
          <p:cNvSpPr>
            <a:spLocks noGrp="1"/>
          </p:cNvSpPr>
          <p:nvPr/>
        </p:nvSpPr>
        <p:spPr>
          <a:xfrm>
            <a:off x="9479280" y="1733550"/>
            <a:ext cx="202692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2014D2C-61DD-4AB2-82DD-FA0E95B11617}"/>
              </a:ext>
            </a:extLst>
          </p:cNvPr>
          <p:cNvSpPr>
            <a:spLocks noGrp="1"/>
          </p:cNvSpPr>
          <p:nvPr/>
        </p:nvSpPr>
        <p:spPr>
          <a:xfrm>
            <a:off x="9593580" y="1905000"/>
            <a:ext cx="179832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Communication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80A341D-4A32-481F-8746-A850883EB4A2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202692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B7247DB-3888-49CA-BC31-3150DC460F6C}"/>
              </a:ext>
            </a:extLst>
          </p:cNvPr>
          <p:cNvSpPr>
            <a:spLocks noGrp="1"/>
          </p:cNvSpPr>
          <p:nvPr/>
        </p:nvSpPr>
        <p:spPr>
          <a:xfrm>
            <a:off x="800100" y="3314700"/>
            <a:ext cx="179832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Decision making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BBA4669-B9C6-42F0-A1D4-478390BD6268}"/>
              </a:ext>
            </a:extLst>
          </p:cNvPr>
          <p:cNvSpPr>
            <a:spLocks noGrp="1"/>
          </p:cNvSpPr>
          <p:nvPr/>
        </p:nvSpPr>
        <p:spPr>
          <a:xfrm>
            <a:off x="2731770" y="3352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D040A2CC-AD66-4236-A410-AF4AA6E146FA}"/>
              </a:ext>
            </a:extLst>
          </p:cNvPr>
          <p:cNvSpPr>
            <a:spLocks noGrp="1"/>
          </p:cNvSpPr>
          <p:nvPr/>
        </p:nvSpPr>
        <p:spPr>
          <a:xfrm>
            <a:off x="2884170" y="3143250"/>
            <a:ext cx="202692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4E65BF3-75E7-4AB2-828A-AB89A96089F0}"/>
              </a:ext>
            </a:extLst>
          </p:cNvPr>
          <p:cNvSpPr>
            <a:spLocks noGrp="1"/>
          </p:cNvSpPr>
          <p:nvPr/>
        </p:nvSpPr>
        <p:spPr>
          <a:xfrm>
            <a:off x="2998470" y="3314700"/>
            <a:ext cx="179832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Hypothesis generation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51DA731-A9A7-41DE-895B-9E91B2382C85}"/>
              </a:ext>
            </a:extLst>
          </p:cNvPr>
          <p:cNvSpPr>
            <a:spLocks noGrp="1"/>
          </p:cNvSpPr>
          <p:nvPr/>
        </p:nvSpPr>
        <p:spPr>
          <a:xfrm>
            <a:off x="4930140" y="3352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41E1771A-0128-4467-A6D0-FE5D2A155C93}"/>
              </a:ext>
            </a:extLst>
          </p:cNvPr>
          <p:cNvSpPr>
            <a:spLocks noGrp="1"/>
          </p:cNvSpPr>
          <p:nvPr/>
        </p:nvSpPr>
        <p:spPr>
          <a:xfrm>
            <a:off x="5082540" y="3143250"/>
            <a:ext cx="202692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1D3DF87-0649-4BD0-AD2C-090995734BA4}"/>
              </a:ext>
            </a:extLst>
          </p:cNvPr>
          <p:cNvSpPr>
            <a:spLocks noGrp="1"/>
          </p:cNvSpPr>
          <p:nvPr/>
        </p:nvSpPr>
        <p:spPr>
          <a:xfrm>
            <a:off x="5196840" y="3314700"/>
            <a:ext cx="179832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Prioritization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64141DF-DA71-4C7E-86BD-77EBA687DCA6}"/>
              </a:ext>
            </a:extLst>
          </p:cNvPr>
          <p:cNvSpPr>
            <a:spLocks noGrp="1"/>
          </p:cNvSpPr>
          <p:nvPr/>
        </p:nvSpPr>
        <p:spPr>
          <a:xfrm>
            <a:off x="7128510" y="3352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AFDF1B4B-8639-4676-A10F-E899F7C820C2}"/>
              </a:ext>
            </a:extLst>
          </p:cNvPr>
          <p:cNvSpPr>
            <a:spLocks noGrp="1"/>
          </p:cNvSpPr>
          <p:nvPr/>
        </p:nvSpPr>
        <p:spPr>
          <a:xfrm>
            <a:off x="7280910" y="3143250"/>
            <a:ext cx="202692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8F8BC60-3A0B-4F88-971F-10C975F31FB9}"/>
              </a:ext>
            </a:extLst>
          </p:cNvPr>
          <p:cNvSpPr>
            <a:spLocks noGrp="1"/>
          </p:cNvSpPr>
          <p:nvPr/>
        </p:nvSpPr>
        <p:spPr>
          <a:xfrm>
            <a:off x="7395210" y="3314700"/>
            <a:ext cx="179832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Production mindset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32B7CD8-1B15-455F-A857-A195A2C97FAB}"/>
              </a:ext>
            </a:extLst>
          </p:cNvPr>
          <p:cNvSpPr>
            <a:spLocks noGrp="1"/>
          </p:cNvSpPr>
          <p:nvPr/>
        </p:nvSpPr>
        <p:spPr>
          <a:xfrm>
            <a:off x="9326880" y="3352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E5580C35-598A-49D1-BDF9-04632C8C8B72}"/>
              </a:ext>
            </a:extLst>
          </p:cNvPr>
          <p:cNvSpPr>
            <a:spLocks noGrp="1"/>
          </p:cNvSpPr>
          <p:nvPr/>
        </p:nvSpPr>
        <p:spPr>
          <a:xfrm>
            <a:off x="9479280" y="3143250"/>
            <a:ext cx="202692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7111FB0-4E89-4289-B3F4-1CC60409904B}"/>
              </a:ext>
            </a:extLst>
          </p:cNvPr>
          <p:cNvSpPr>
            <a:spLocks noGrp="1"/>
          </p:cNvSpPr>
          <p:nvPr/>
        </p:nvSpPr>
        <p:spPr>
          <a:xfrm>
            <a:off x="9593580" y="3314700"/>
            <a:ext cx="179832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Defensible evidence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854B2DD-DF69-490B-89D9-8179A9DDFA8E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FB66D5DC-16B4-4971-B7CD-E29C438384CD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B2517142-DCF9-4A15-9063-82AF0D622751}"/>
              </a:ext>
            </a:extLst>
          </p:cNvPr>
          <p:cNvSpPr>
            <a:spLocks noGrp="1"/>
          </p:cNvSpPr>
          <p:nvPr/>
        </p:nvSpPr>
        <p:spPr>
          <a:xfrm>
            <a:off x="914400" y="56483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 senior answer explains why the method is appropriate, where it can be wrong, and how it would become a production control.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7B8D205-A1A8-4A7C-8C30-C8A19BA743F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B02C553-0EE3-47EB-A242-923A07CB832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D39C9ADB-3C69-4C40-9469-DC14F1628729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2109228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Рисунок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0C947EE-8BE5-4BD9-B267-A863A64DB00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619ADB-E0C2-4D85-88FC-88091413E2FA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C57121-7265-4EAE-A421-9399F4D5E206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CF72081-E04D-4BF8-A717-BD863DD2ADC1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analytical sequence is designed to avoid premature detection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390BB16-2F36-4BB6-B035-2F54CD1CA8D8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202692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39692B4-F7E0-49DE-B093-2C41C05056D5}"/>
              </a:ext>
            </a:extLst>
          </p:cNvPr>
          <p:cNvSpPr>
            <a:spLocks noGrp="1"/>
          </p:cNvSpPr>
          <p:nvPr/>
        </p:nvSpPr>
        <p:spPr>
          <a:xfrm>
            <a:off x="800100" y="1771650"/>
            <a:ext cx="17983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Business question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698C10D-4B30-4AD0-9A38-0CA0EAACB297}"/>
              </a:ext>
            </a:extLst>
          </p:cNvPr>
          <p:cNvSpPr>
            <a:spLocks noGrp="1"/>
          </p:cNvSpPr>
          <p:nvPr/>
        </p:nvSpPr>
        <p:spPr>
          <a:xfrm>
            <a:off x="2731770" y="18097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E7AED08-B316-4796-9A2D-68D05A00AC65}"/>
              </a:ext>
            </a:extLst>
          </p:cNvPr>
          <p:cNvSpPr>
            <a:spLocks noGrp="1"/>
          </p:cNvSpPr>
          <p:nvPr/>
        </p:nvSpPr>
        <p:spPr>
          <a:xfrm>
            <a:off x="2884170" y="1600200"/>
            <a:ext cx="202692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044545-EECA-4FA5-8DA3-A6FB1E0879B9}"/>
              </a:ext>
            </a:extLst>
          </p:cNvPr>
          <p:cNvSpPr>
            <a:spLocks noGrp="1"/>
          </p:cNvSpPr>
          <p:nvPr/>
        </p:nvSpPr>
        <p:spPr>
          <a:xfrm>
            <a:off x="2998470" y="1771650"/>
            <a:ext cx="17983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Understand dataset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062C946-2A32-4772-ABBA-95E30C47B7E5}"/>
              </a:ext>
            </a:extLst>
          </p:cNvPr>
          <p:cNvSpPr>
            <a:spLocks noGrp="1"/>
          </p:cNvSpPr>
          <p:nvPr/>
        </p:nvSpPr>
        <p:spPr>
          <a:xfrm>
            <a:off x="4930140" y="18097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1E9EB2E-C156-4EB8-BE90-1756977AC11C}"/>
              </a:ext>
            </a:extLst>
          </p:cNvPr>
          <p:cNvSpPr>
            <a:spLocks noGrp="1"/>
          </p:cNvSpPr>
          <p:nvPr/>
        </p:nvSpPr>
        <p:spPr>
          <a:xfrm>
            <a:off x="5082540" y="1600200"/>
            <a:ext cx="202692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372E79D-DED7-4A08-8787-9DD24FF45705}"/>
              </a:ext>
            </a:extLst>
          </p:cNvPr>
          <p:cNvSpPr>
            <a:spLocks noGrp="1"/>
          </p:cNvSpPr>
          <p:nvPr/>
        </p:nvSpPr>
        <p:spPr>
          <a:xfrm>
            <a:off x="5196840" y="1771650"/>
            <a:ext cx="17983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Assess quality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82FF8A6-8976-402A-9659-E385CD0AC631}"/>
              </a:ext>
            </a:extLst>
          </p:cNvPr>
          <p:cNvSpPr>
            <a:spLocks noGrp="1"/>
          </p:cNvSpPr>
          <p:nvPr/>
        </p:nvSpPr>
        <p:spPr>
          <a:xfrm>
            <a:off x="7128510" y="18097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D0A45E4-2D7E-4C15-9000-2F68F9484030}"/>
              </a:ext>
            </a:extLst>
          </p:cNvPr>
          <p:cNvSpPr>
            <a:spLocks noGrp="1"/>
          </p:cNvSpPr>
          <p:nvPr/>
        </p:nvSpPr>
        <p:spPr>
          <a:xfrm>
            <a:off x="7280910" y="1600200"/>
            <a:ext cx="202692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37AC67D-9F24-4789-B618-7C6F811A71FB}"/>
              </a:ext>
            </a:extLst>
          </p:cNvPr>
          <p:cNvSpPr>
            <a:spLocks noGrp="1"/>
          </p:cNvSpPr>
          <p:nvPr/>
        </p:nvSpPr>
        <p:spPr>
          <a:xfrm>
            <a:off x="7395210" y="1771650"/>
            <a:ext cx="17983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EDA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6E71D93-D2DE-445B-901F-3ADBFAC6B203}"/>
              </a:ext>
            </a:extLst>
          </p:cNvPr>
          <p:cNvSpPr>
            <a:spLocks noGrp="1"/>
          </p:cNvSpPr>
          <p:nvPr/>
        </p:nvSpPr>
        <p:spPr>
          <a:xfrm>
            <a:off x="9326880" y="18097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FEE7ECD-B2E8-4D06-AD54-FAC9313C6AEE}"/>
              </a:ext>
            </a:extLst>
          </p:cNvPr>
          <p:cNvSpPr>
            <a:spLocks noGrp="1"/>
          </p:cNvSpPr>
          <p:nvPr/>
        </p:nvSpPr>
        <p:spPr>
          <a:xfrm>
            <a:off x="9479280" y="1600200"/>
            <a:ext cx="202692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07D0647-F0F8-408B-9F6C-FF872A4D06CF}"/>
              </a:ext>
            </a:extLst>
          </p:cNvPr>
          <p:cNvSpPr>
            <a:spLocks noGrp="1"/>
          </p:cNvSpPr>
          <p:nvPr/>
        </p:nvSpPr>
        <p:spPr>
          <a:xfrm>
            <a:off x="9593580" y="1771650"/>
            <a:ext cx="17983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Baseline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C871D50-A347-44B6-B8B8-49C694A06F99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202692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0B643A0-1829-4EF6-BD0F-EB89EBDA1B38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17983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Hypotheses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D788306-455D-4A41-91D1-EE8991E1E003}"/>
              </a:ext>
            </a:extLst>
          </p:cNvPr>
          <p:cNvSpPr>
            <a:spLocks noGrp="1"/>
          </p:cNvSpPr>
          <p:nvPr/>
        </p:nvSpPr>
        <p:spPr>
          <a:xfrm>
            <a:off x="2731770" y="30480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6DA04AA-438C-428B-814A-058B3351D7CF}"/>
              </a:ext>
            </a:extLst>
          </p:cNvPr>
          <p:cNvSpPr>
            <a:spLocks noGrp="1"/>
          </p:cNvSpPr>
          <p:nvPr/>
        </p:nvSpPr>
        <p:spPr>
          <a:xfrm>
            <a:off x="2884170" y="2838450"/>
            <a:ext cx="202692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228ACD2-9199-418E-B0F4-4FCD2D2DB0B0}"/>
              </a:ext>
            </a:extLst>
          </p:cNvPr>
          <p:cNvSpPr>
            <a:spLocks noGrp="1"/>
          </p:cNvSpPr>
          <p:nvPr/>
        </p:nvSpPr>
        <p:spPr>
          <a:xfrm>
            <a:off x="2998470" y="3009900"/>
            <a:ext cx="17983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Features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7894EF3-17AE-43BA-97DC-4A16B2877F56}"/>
              </a:ext>
            </a:extLst>
          </p:cNvPr>
          <p:cNvSpPr>
            <a:spLocks noGrp="1"/>
          </p:cNvSpPr>
          <p:nvPr/>
        </p:nvSpPr>
        <p:spPr>
          <a:xfrm>
            <a:off x="4930140" y="30480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F70A702-7DA9-4280-8E4E-C62741CC0287}"/>
              </a:ext>
            </a:extLst>
          </p:cNvPr>
          <p:cNvSpPr>
            <a:spLocks noGrp="1"/>
          </p:cNvSpPr>
          <p:nvPr/>
        </p:nvSpPr>
        <p:spPr>
          <a:xfrm>
            <a:off x="5082540" y="2838450"/>
            <a:ext cx="202692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1ECED62-A244-419A-954B-76B47FE608EE}"/>
              </a:ext>
            </a:extLst>
          </p:cNvPr>
          <p:cNvSpPr>
            <a:spLocks noGrp="1"/>
          </p:cNvSpPr>
          <p:nvPr/>
        </p:nvSpPr>
        <p:spPr>
          <a:xfrm>
            <a:off x="5196840" y="3009900"/>
            <a:ext cx="17983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Validate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55D89E1-1B4D-4FBD-9D94-07F48F2E924A}"/>
              </a:ext>
            </a:extLst>
          </p:cNvPr>
          <p:cNvSpPr>
            <a:spLocks noGrp="1"/>
          </p:cNvSpPr>
          <p:nvPr/>
        </p:nvSpPr>
        <p:spPr>
          <a:xfrm>
            <a:off x="7128510" y="30480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3FA77F6C-B2F6-47D6-896F-CB8DE7D81D90}"/>
              </a:ext>
            </a:extLst>
          </p:cNvPr>
          <p:cNvSpPr>
            <a:spLocks noGrp="1"/>
          </p:cNvSpPr>
          <p:nvPr/>
        </p:nvSpPr>
        <p:spPr>
          <a:xfrm>
            <a:off x="7280910" y="2838450"/>
            <a:ext cx="202692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418B5A0-C013-4DA6-90E9-2E316488128B}"/>
              </a:ext>
            </a:extLst>
          </p:cNvPr>
          <p:cNvSpPr>
            <a:spLocks noGrp="1"/>
          </p:cNvSpPr>
          <p:nvPr/>
        </p:nvSpPr>
        <p:spPr>
          <a:xfrm>
            <a:off x="7395210" y="3009900"/>
            <a:ext cx="17983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Prioritize risk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E7B3B22-1F13-4C2D-8A3D-8C1B14C87949}"/>
              </a:ext>
            </a:extLst>
          </p:cNvPr>
          <p:cNvSpPr>
            <a:spLocks noGrp="1"/>
          </p:cNvSpPr>
          <p:nvPr/>
        </p:nvSpPr>
        <p:spPr>
          <a:xfrm>
            <a:off x="9326880" y="30480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23765B25-2E49-46D6-A546-A12498783CB3}"/>
              </a:ext>
            </a:extLst>
          </p:cNvPr>
          <p:cNvSpPr>
            <a:spLocks noGrp="1"/>
          </p:cNvSpPr>
          <p:nvPr/>
        </p:nvSpPr>
        <p:spPr>
          <a:xfrm>
            <a:off x="9479280" y="2838450"/>
            <a:ext cx="202692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1FEE23C-B6AD-4AF6-8C78-B41923E68424}"/>
              </a:ext>
            </a:extLst>
          </p:cNvPr>
          <p:cNvSpPr>
            <a:spLocks noGrp="1"/>
          </p:cNvSpPr>
          <p:nvPr/>
        </p:nvSpPr>
        <p:spPr>
          <a:xfrm>
            <a:off x="9593580" y="3009900"/>
            <a:ext cx="17983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Production design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D898835-1F1B-451D-931F-36712DCD72A4}"/>
              </a:ext>
            </a:extLst>
          </p:cNvPr>
          <p:cNvSpPr>
            <a:spLocks noGrp="1"/>
          </p:cNvSpPr>
          <p:nvPr/>
        </p:nvSpPr>
        <p:spPr>
          <a:xfrm>
            <a:off x="990600" y="4524375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Why this order matters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8790BA8-E649-4D15-B635-B847071F83C2}"/>
              </a:ext>
            </a:extLst>
          </p:cNvPr>
          <p:cNvSpPr>
            <a:spLocks noGrp="1"/>
          </p:cNvSpPr>
          <p:nvPr/>
        </p:nvSpPr>
        <p:spPr>
          <a:xfrm>
            <a:off x="990600" y="4924425"/>
            <a:ext cx="9906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EDA exposes the shape of normal activity before thresholds are chosen.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Baselines prevent common events from being mislabeled as suspicious.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Features translate raw rows into behavior that analysts can reason about.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659A793-C2B9-4119-A5C8-4AC173E4302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2DFA7E6-8E55-4501-9A28-46AEC6D0E4F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E8F34280-6798-4720-8B9C-C098EC73F91C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116190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Рисунок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067B01-D86B-4EF7-8D37-A1D06B7D9385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11F4D3-DA9E-42AD-B3E3-5FCF8401A133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6203A4D-2631-4EA6-9E79-BAFFD4FCACA4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0EFB4C6-5658-48B8-A87E-93D79423BF39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decision log explains why simpler choices won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E9AC89E-424A-473C-A6CB-E28F803A9C6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2762250" cy="6096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AC0E321-9F98-49EF-AF57-FE78F46E9299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92E67FE-E0C1-48F5-B828-1B8A0DECC1B7}"/>
              </a:ext>
            </a:extLst>
          </p:cNvPr>
          <p:cNvSpPr>
            <a:spLocks noGrp="1"/>
          </p:cNvSpPr>
          <p:nvPr/>
        </p:nvSpPr>
        <p:spPr>
          <a:xfrm>
            <a:off x="3448050" y="1571625"/>
            <a:ext cx="2952750" cy="6096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6D4A3B9-1896-43C6-80E2-ABF470AF510E}"/>
              </a:ext>
            </a:extLst>
          </p:cNvPr>
          <p:cNvSpPr>
            <a:spLocks noGrp="1"/>
          </p:cNvSpPr>
          <p:nvPr/>
        </p:nvSpPr>
        <p:spPr>
          <a:xfrm>
            <a:off x="3543300" y="1657350"/>
            <a:ext cx="276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Alternatives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206086D-8BD1-491D-90BB-9079E50FD4F6}"/>
              </a:ext>
            </a:extLst>
          </p:cNvPr>
          <p:cNvSpPr>
            <a:spLocks noGrp="1"/>
          </p:cNvSpPr>
          <p:nvPr/>
        </p:nvSpPr>
        <p:spPr>
          <a:xfrm>
            <a:off x="6400800" y="1571625"/>
            <a:ext cx="5105400" cy="6096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17AF553-41CB-4F01-85DD-128730FE6306}"/>
              </a:ext>
            </a:extLst>
          </p:cNvPr>
          <p:cNvSpPr>
            <a:spLocks noGrp="1"/>
          </p:cNvSpPr>
          <p:nvPr/>
        </p:nvSpPr>
        <p:spPr>
          <a:xfrm>
            <a:off x="6496050" y="1657350"/>
            <a:ext cx="491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Why rejected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60E2CAA-37D4-40D3-B07C-5F3BB28014A7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276225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28611B8-2E5E-4A88-975A-5F70228B1CE5}"/>
              </a:ext>
            </a:extLst>
          </p:cNvPr>
          <p:cNvSpPr>
            <a:spLocks noGrp="1"/>
          </p:cNvSpPr>
          <p:nvPr/>
        </p:nvSpPr>
        <p:spPr>
          <a:xfrm>
            <a:off x="781050" y="2257425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Rule-based detection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8250FC5-95BC-4E0B-BD82-71FFF56C3A6F}"/>
              </a:ext>
            </a:extLst>
          </p:cNvPr>
          <p:cNvSpPr>
            <a:spLocks noGrp="1"/>
          </p:cNvSpPr>
          <p:nvPr/>
        </p:nvSpPr>
        <p:spPr>
          <a:xfrm>
            <a:off x="3448050" y="2181225"/>
            <a:ext cx="295275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7247068-09C9-485C-81D6-5F4BBD01D235}"/>
              </a:ext>
            </a:extLst>
          </p:cNvPr>
          <p:cNvSpPr>
            <a:spLocks noGrp="1"/>
          </p:cNvSpPr>
          <p:nvPr/>
        </p:nvSpPr>
        <p:spPr>
          <a:xfrm>
            <a:off x="3543300" y="2257425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Isolation Forest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4C54E0E-DBDA-4EA8-B363-566446760B08}"/>
              </a:ext>
            </a:extLst>
          </p:cNvPr>
          <p:cNvSpPr>
            <a:spLocks noGrp="1"/>
          </p:cNvSpPr>
          <p:nvPr/>
        </p:nvSpPr>
        <p:spPr>
          <a:xfrm>
            <a:off x="6400800" y="2181225"/>
            <a:ext cx="510540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81A3003-9A37-4821-96AD-69D36A51FB81}"/>
              </a:ext>
            </a:extLst>
          </p:cNvPr>
          <p:cNvSpPr>
            <a:spLocks noGrp="1"/>
          </p:cNvSpPr>
          <p:nvPr/>
        </p:nvSpPr>
        <p:spPr>
          <a:xfrm>
            <a:off x="6496050" y="22574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No labels, lower explainability, harder SOC defense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096AB90-4B54-4552-BFBB-04A76C4B9BFB}"/>
              </a:ext>
            </a:extLst>
          </p:cNvPr>
          <p:cNvSpPr>
            <a:spLocks noGrp="1"/>
          </p:cNvSpPr>
          <p:nvPr/>
        </p:nvSpPr>
        <p:spPr>
          <a:xfrm>
            <a:off x="685800" y="2790825"/>
            <a:ext cx="2762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D85B207-37B0-460E-9768-6DB04137173B}"/>
              </a:ext>
            </a:extLst>
          </p:cNvPr>
          <p:cNvSpPr>
            <a:spLocks noGrp="1"/>
          </p:cNvSpPr>
          <p:nvPr/>
        </p:nvSpPr>
        <p:spPr>
          <a:xfrm>
            <a:off x="781050" y="2867025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Daily baseline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DACFFBD-C2BB-4F7A-9DCF-0410365E5A88}"/>
              </a:ext>
            </a:extLst>
          </p:cNvPr>
          <p:cNvSpPr>
            <a:spLocks noGrp="1"/>
          </p:cNvSpPr>
          <p:nvPr/>
        </p:nvSpPr>
        <p:spPr>
          <a:xfrm>
            <a:off x="3448050" y="2790825"/>
            <a:ext cx="295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149C5FA-3DC6-414E-B5E3-4F46D495DE82}"/>
              </a:ext>
            </a:extLst>
          </p:cNvPr>
          <p:cNvSpPr>
            <a:spLocks noGrp="1"/>
          </p:cNvSpPr>
          <p:nvPr/>
        </p:nvSpPr>
        <p:spPr>
          <a:xfrm>
            <a:off x="3543300" y="2867025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Weekly baseline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2326531-1A84-46B4-8638-1D08AD635E75}"/>
              </a:ext>
            </a:extLst>
          </p:cNvPr>
          <p:cNvSpPr>
            <a:spLocks noGrp="1"/>
          </p:cNvSpPr>
          <p:nvPr/>
        </p:nvSpPr>
        <p:spPr>
          <a:xfrm>
            <a:off x="6400800" y="2790825"/>
            <a:ext cx="51054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BBCDB32-C03B-4890-93F6-46D26D6DAD7C}"/>
              </a:ext>
            </a:extLst>
          </p:cNvPr>
          <p:cNvSpPr>
            <a:spLocks noGrp="1"/>
          </p:cNvSpPr>
          <p:nvPr/>
        </p:nvSpPr>
        <p:spPr>
          <a:xfrm>
            <a:off x="6496050" y="28670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Dataset is too short for stable weekly seasonality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A35AD96-A3FF-4D88-B491-0A9050F7ACEB}"/>
              </a:ext>
            </a:extLst>
          </p:cNvPr>
          <p:cNvSpPr>
            <a:spLocks noGrp="1"/>
          </p:cNvSpPr>
          <p:nvPr/>
        </p:nvSpPr>
        <p:spPr>
          <a:xfrm>
            <a:off x="685800" y="3400425"/>
            <a:ext cx="276225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CBEAA67-FA02-4BAB-819B-E648D39F8104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Failure rate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65014A2-DE7F-430C-BED2-777F766C1309}"/>
              </a:ext>
            </a:extLst>
          </p:cNvPr>
          <p:cNvSpPr>
            <a:spLocks noGrp="1"/>
          </p:cNvSpPr>
          <p:nvPr/>
        </p:nvSpPr>
        <p:spPr>
          <a:xfrm>
            <a:off x="3448050" y="3400425"/>
            <a:ext cx="295275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2320A18-B7EE-4A5D-9B1F-193922A36590}"/>
              </a:ext>
            </a:extLst>
          </p:cNvPr>
          <p:cNvSpPr>
            <a:spLocks noGrp="1"/>
          </p:cNvSpPr>
          <p:nvPr/>
        </p:nvSpPr>
        <p:spPr>
          <a:xfrm>
            <a:off x="3543300" y="3476625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Raw failures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9083F31-B821-43EA-946E-EC7BBE1C1972}"/>
              </a:ext>
            </a:extLst>
          </p:cNvPr>
          <p:cNvSpPr>
            <a:spLocks noGrp="1"/>
          </p:cNvSpPr>
          <p:nvPr/>
        </p:nvSpPr>
        <p:spPr>
          <a:xfrm>
            <a:off x="6400800" y="3400425"/>
            <a:ext cx="510540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22D2A10-0591-4D4B-BAD9-9ED4EE8941F0}"/>
              </a:ext>
            </a:extLst>
          </p:cNvPr>
          <p:cNvSpPr>
            <a:spLocks noGrp="1"/>
          </p:cNvSpPr>
          <p:nvPr/>
        </p:nvSpPr>
        <p:spPr>
          <a:xfrm>
            <a:off x="6496050" y="34766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Normalizes activity across users and source volumes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5073731-2D5A-4CE3-8993-06F1B044A59A}"/>
              </a:ext>
            </a:extLst>
          </p:cNvPr>
          <p:cNvSpPr>
            <a:spLocks noGrp="1"/>
          </p:cNvSpPr>
          <p:nvPr/>
        </p:nvSpPr>
        <p:spPr>
          <a:xfrm>
            <a:off x="685800" y="4010025"/>
            <a:ext cx="2762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C6EE8AF-D9BC-48E5-AD07-85990ADC3DD3}"/>
              </a:ext>
            </a:extLst>
          </p:cNvPr>
          <p:cNvSpPr>
            <a:spLocks noGrp="1"/>
          </p:cNvSpPr>
          <p:nvPr/>
        </p:nvSpPr>
        <p:spPr>
          <a:xfrm>
            <a:off x="781050" y="4086225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IP velocity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369808A7-1FD9-44D6-A219-62742FBA331C}"/>
              </a:ext>
            </a:extLst>
          </p:cNvPr>
          <p:cNvSpPr>
            <a:spLocks noGrp="1"/>
          </p:cNvSpPr>
          <p:nvPr/>
        </p:nvSpPr>
        <p:spPr>
          <a:xfrm>
            <a:off x="3448050" y="4010025"/>
            <a:ext cx="295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5FC0828-3CB7-4F4C-AC58-466DC0881E47}"/>
              </a:ext>
            </a:extLst>
          </p:cNvPr>
          <p:cNvSpPr>
            <a:spLocks noGrp="1"/>
          </p:cNvSpPr>
          <p:nvPr/>
        </p:nvSpPr>
        <p:spPr>
          <a:xfrm>
            <a:off x="3543300" y="4086225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Raw IP count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2791DD9-F62C-4B4C-BC7D-1E55207C785B}"/>
              </a:ext>
            </a:extLst>
          </p:cNvPr>
          <p:cNvSpPr>
            <a:spLocks noGrp="1"/>
          </p:cNvSpPr>
          <p:nvPr/>
        </p:nvSpPr>
        <p:spPr>
          <a:xfrm>
            <a:off x="6400800" y="4010025"/>
            <a:ext cx="51054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DEA73A9-AC83-45D1-AFD8-1BBB4DAE57FA}"/>
              </a:ext>
            </a:extLst>
          </p:cNvPr>
          <p:cNvSpPr>
            <a:spLocks noGrp="1"/>
          </p:cNvSpPr>
          <p:nvPr/>
        </p:nvSpPr>
        <p:spPr>
          <a:xfrm>
            <a:off x="6496050" y="40862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Makes source spread comparable across users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247BD4D-11FD-4DED-9C94-BAF2CB02857A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276225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2B6A7FF-989F-458F-B588-A7EAE465C9B1}"/>
              </a:ext>
            </a:extLst>
          </p:cNvPr>
          <p:cNvSpPr>
            <a:spLocks noGrp="1"/>
          </p:cNvSpPr>
          <p:nvPr/>
        </p:nvSpPr>
        <p:spPr>
          <a:xfrm>
            <a:off x="781050" y="4695825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Behavioral features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9C61E53-1460-4335-B40E-7CE72F106D3E}"/>
              </a:ext>
            </a:extLst>
          </p:cNvPr>
          <p:cNvSpPr>
            <a:spLocks noGrp="1"/>
          </p:cNvSpPr>
          <p:nvPr/>
        </p:nvSpPr>
        <p:spPr>
          <a:xfrm>
            <a:off x="3448050" y="4619625"/>
            <a:ext cx="295275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C9A81E59-AAE8-4788-806E-6DF65BE1A6D3}"/>
              </a:ext>
            </a:extLst>
          </p:cNvPr>
          <p:cNvSpPr>
            <a:spLocks noGrp="1"/>
          </p:cNvSpPr>
          <p:nvPr/>
        </p:nvSpPr>
        <p:spPr>
          <a:xfrm>
            <a:off x="3543300" y="4695825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Row-level flags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8DC8AF5-7763-45BD-9752-7B61B0EC50DC}"/>
              </a:ext>
            </a:extLst>
          </p:cNvPr>
          <p:cNvSpPr>
            <a:spLocks noGrp="1"/>
          </p:cNvSpPr>
          <p:nvPr/>
        </p:nvSpPr>
        <p:spPr>
          <a:xfrm>
            <a:off x="6400800" y="4619625"/>
            <a:ext cx="510540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A289C87-F2CC-4C56-BCCC-FF4F3AC8B76F}"/>
              </a:ext>
            </a:extLst>
          </p:cNvPr>
          <p:cNvSpPr>
            <a:spLocks noGrp="1"/>
          </p:cNvSpPr>
          <p:nvPr/>
        </p:nvSpPr>
        <p:spPr>
          <a:xfrm>
            <a:off x="6496050" y="46958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Security behavior emerges across event sequences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D253FF61-AA46-4DD5-B2D9-F7A24A98F304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48B165B7-0C1C-4A09-8641-73C6F046B1ED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5B6189A-A7FB-4165-A3E3-5F4EABCA8F93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strongest defense is not only what was chosen, but why tempting alternatives were not used first.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6B52233B-E6D1-4FD2-AFE4-1CA571DCF92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15EEFD39-C6AA-498F-B4FF-3042916ABEE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AA89B6A-4A18-432A-AA49-A66C400AC37D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792193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Рисунок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D9EC252-4C12-4ED5-93CD-2982303D6C4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7D6B4F-48F7-47D4-9988-9E9E9E55F6B0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448534E-F554-47A8-A352-EFB82F07F92E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07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AEA2328-165F-4760-841E-E704F5FAC259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Baseline-first analysis keeps the investigation explainable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81DD572-D6A0-429D-9FFD-0F996365721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2476500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D27C84-995D-42C5-A270-917AA88BC65B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8CC939-A33D-484E-A6FB-DB7F9E1E068A}"/>
              </a:ext>
            </a:extLst>
          </p:cNvPr>
          <p:cNvSpPr>
            <a:spLocks noGrp="1"/>
          </p:cNvSpPr>
          <p:nvPr/>
        </p:nvSpPr>
        <p:spPr>
          <a:xfrm>
            <a:off x="3162300" y="1571625"/>
            <a:ext cx="2952750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95D6219-AA15-49EB-ADB9-28375A3CD679}"/>
              </a:ext>
            </a:extLst>
          </p:cNvPr>
          <p:cNvSpPr>
            <a:spLocks noGrp="1"/>
          </p:cNvSpPr>
          <p:nvPr/>
        </p:nvSpPr>
        <p:spPr>
          <a:xfrm>
            <a:off x="3257550" y="1657350"/>
            <a:ext cx="276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965550-C5B9-415A-B4F6-C514E65F108E}"/>
              </a:ext>
            </a:extLst>
          </p:cNvPr>
          <p:cNvSpPr>
            <a:spLocks noGrp="1"/>
          </p:cNvSpPr>
          <p:nvPr/>
        </p:nvSpPr>
        <p:spPr>
          <a:xfrm>
            <a:off x="6115050" y="1571625"/>
            <a:ext cx="5391150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2EB7BDF-94BE-4D03-95B3-D1A7DC3E8EBC}"/>
              </a:ext>
            </a:extLst>
          </p:cNvPr>
          <p:cNvSpPr>
            <a:spLocks noGrp="1"/>
          </p:cNvSpPr>
          <p:nvPr/>
        </p:nvSpPr>
        <p:spPr>
          <a:xfrm>
            <a:off x="6210300" y="165735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Reasoning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3643205-F416-4DFE-A3FD-C3A85DB9B27C}"/>
              </a:ext>
            </a:extLst>
          </p:cNvPr>
          <p:cNvSpPr>
            <a:spLocks noGrp="1"/>
          </p:cNvSpPr>
          <p:nvPr/>
        </p:nvSpPr>
        <p:spPr>
          <a:xfrm>
            <a:off x="685800" y="2314575"/>
            <a:ext cx="2476500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EC1FCD8-63B3-4469-9059-4A3D5C1B74FC}"/>
              </a:ext>
            </a:extLst>
          </p:cNvPr>
          <p:cNvSpPr>
            <a:spLocks noGrp="1"/>
          </p:cNvSpPr>
          <p:nvPr/>
        </p:nvSpPr>
        <p:spPr>
          <a:xfrm>
            <a:off x="781050" y="2390775"/>
            <a:ext cx="228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Why EDA first?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67B98D8-34A5-4067-8AC4-656F7643A979}"/>
              </a:ext>
            </a:extLst>
          </p:cNvPr>
          <p:cNvSpPr>
            <a:spLocks noGrp="1"/>
          </p:cNvSpPr>
          <p:nvPr/>
        </p:nvSpPr>
        <p:spPr>
          <a:xfrm>
            <a:off x="3162300" y="2314575"/>
            <a:ext cx="2952750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CF86215-B678-4E01-BAB3-9304D1660FE9}"/>
              </a:ext>
            </a:extLst>
          </p:cNvPr>
          <p:cNvSpPr>
            <a:spLocks noGrp="1"/>
          </p:cNvSpPr>
          <p:nvPr/>
        </p:nvSpPr>
        <p:spPr>
          <a:xfrm>
            <a:off x="3257550" y="2390775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Inspect normal behavior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4263C6D-3A1B-4959-8ACA-2494824EC09A}"/>
              </a:ext>
            </a:extLst>
          </p:cNvPr>
          <p:cNvSpPr>
            <a:spLocks noGrp="1"/>
          </p:cNvSpPr>
          <p:nvPr/>
        </p:nvSpPr>
        <p:spPr>
          <a:xfrm>
            <a:off x="6115050" y="2314575"/>
            <a:ext cx="5391150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FA12527-02E2-45D4-94FD-CE5974EF8139}"/>
              </a:ext>
            </a:extLst>
          </p:cNvPr>
          <p:cNvSpPr>
            <a:spLocks noGrp="1"/>
          </p:cNvSpPr>
          <p:nvPr/>
        </p:nvSpPr>
        <p:spPr>
          <a:xfrm>
            <a:off x="6210300" y="2390775"/>
            <a:ext cx="520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Anomaly labels are meaningless without context.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E714E85-AAD3-4809-8441-2F27EFDC8C71}"/>
              </a:ext>
            </a:extLst>
          </p:cNvPr>
          <p:cNvSpPr>
            <a:spLocks noGrp="1"/>
          </p:cNvSpPr>
          <p:nvPr/>
        </p:nvSpPr>
        <p:spPr>
          <a:xfrm>
            <a:off x="685800" y="3057525"/>
            <a:ext cx="2476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ACD4117-28D4-4D23-B842-D4CCB9A2FBC6}"/>
              </a:ext>
            </a:extLst>
          </p:cNvPr>
          <p:cNvSpPr>
            <a:spLocks noGrp="1"/>
          </p:cNvSpPr>
          <p:nvPr/>
        </p:nvSpPr>
        <p:spPr>
          <a:xfrm>
            <a:off x="781050" y="3133725"/>
            <a:ext cx="228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Why not ML first?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8C02F2C-4A54-4EAE-84D5-17872F4DCCDF}"/>
              </a:ext>
            </a:extLst>
          </p:cNvPr>
          <p:cNvSpPr>
            <a:spLocks noGrp="1"/>
          </p:cNvSpPr>
          <p:nvPr/>
        </p:nvSpPr>
        <p:spPr>
          <a:xfrm>
            <a:off x="3162300" y="3057525"/>
            <a:ext cx="2952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4F5E4F6-651B-41EB-B5D1-22500682DCDD}"/>
              </a:ext>
            </a:extLst>
          </p:cNvPr>
          <p:cNvSpPr>
            <a:spLocks noGrp="1"/>
          </p:cNvSpPr>
          <p:nvPr/>
        </p:nvSpPr>
        <p:spPr>
          <a:xfrm>
            <a:off x="3257550" y="3133725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Start with interpretable rules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FF40D86-52D1-4EFA-A6D3-1E8BF7C3CF66}"/>
              </a:ext>
            </a:extLst>
          </p:cNvPr>
          <p:cNvSpPr>
            <a:spLocks noGrp="1"/>
          </p:cNvSpPr>
          <p:nvPr/>
        </p:nvSpPr>
        <p:spPr>
          <a:xfrm>
            <a:off x="6115050" y="3057525"/>
            <a:ext cx="53911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F67FBB4-015B-4DD3-91DA-4F60711A13E7}"/>
              </a:ext>
            </a:extLst>
          </p:cNvPr>
          <p:cNvSpPr>
            <a:spLocks noGrp="1"/>
          </p:cNvSpPr>
          <p:nvPr/>
        </p:nvSpPr>
        <p:spPr>
          <a:xfrm>
            <a:off x="6210300" y="3133725"/>
            <a:ext cx="520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No labels or ground truth exist in the assignment.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09DDA40-9962-4F5F-8D61-2FAB3CD35F98}"/>
              </a:ext>
            </a:extLst>
          </p:cNvPr>
          <p:cNvSpPr>
            <a:spLocks noGrp="1"/>
          </p:cNvSpPr>
          <p:nvPr/>
        </p:nvSpPr>
        <p:spPr>
          <a:xfrm>
            <a:off x="685800" y="3800475"/>
            <a:ext cx="2476500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C3FABD8-08F6-41EA-ADD1-3CCB1E742A49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228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Why baseline before thresholds?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6EC43E2-5FD1-4FF4-9462-A7869A311F8E}"/>
              </a:ext>
            </a:extLst>
          </p:cNvPr>
          <p:cNvSpPr>
            <a:spLocks noGrp="1"/>
          </p:cNvSpPr>
          <p:nvPr/>
        </p:nvSpPr>
        <p:spPr>
          <a:xfrm>
            <a:off x="3162300" y="3800475"/>
            <a:ext cx="2952750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D3DC70C-D67E-4F73-86B0-1FBA192897CC}"/>
              </a:ext>
            </a:extLst>
          </p:cNvPr>
          <p:cNvSpPr>
            <a:spLocks noGrp="1"/>
          </p:cNvSpPr>
          <p:nvPr/>
        </p:nvSpPr>
        <p:spPr>
          <a:xfrm>
            <a:off x="3257550" y="3876675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Estimate natural variance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ED721CD-0351-4697-B0E3-53CF49E9055D}"/>
              </a:ext>
            </a:extLst>
          </p:cNvPr>
          <p:cNvSpPr>
            <a:spLocks noGrp="1"/>
          </p:cNvSpPr>
          <p:nvPr/>
        </p:nvSpPr>
        <p:spPr>
          <a:xfrm>
            <a:off x="6115050" y="3800475"/>
            <a:ext cx="5391150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65F4102-2932-47CD-BCAB-3E18C26EB358}"/>
              </a:ext>
            </a:extLst>
          </p:cNvPr>
          <p:cNvSpPr>
            <a:spLocks noGrp="1"/>
          </p:cNvSpPr>
          <p:nvPr/>
        </p:nvSpPr>
        <p:spPr>
          <a:xfrm>
            <a:off x="6210300" y="3876675"/>
            <a:ext cx="520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Thresholds need a denominator and a normal range.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241030D-F957-48EE-8E46-47B6A5471A0E}"/>
              </a:ext>
            </a:extLst>
          </p:cNvPr>
          <p:cNvSpPr>
            <a:spLocks noGrp="1"/>
          </p:cNvSpPr>
          <p:nvPr/>
        </p:nvSpPr>
        <p:spPr>
          <a:xfrm>
            <a:off x="685800" y="4543425"/>
            <a:ext cx="2476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97898FC-AC7B-428F-9F8B-99D94FDAD8DE}"/>
              </a:ext>
            </a:extLst>
          </p:cNvPr>
          <p:cNvSpPr>
            <a:spLocks noGrp="1"/>
          </p:cNvSpPr>
          <p:nvPr/>
        </p:nvSpPr>
        <p:spPr>
          <a:xfrm>
            <a:off x="781050" y="4619625"/>
            <a:ext cx="228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Why behavior over rows?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83D57D3-2A6C-400C-A5D0-889180363CA1}"/>
              </a:ext>
            </a:extLst>
          </p:cNvPr>
          <p:cNvSpPr>
            <a:spLocks noGrp="1"/>
          </p:cNvSpPr>
          <p:nvPr/>
        </p:nvSpPr>
        <p:spPr>
          <a:xfrm>
            <a:off x="3162300" y="4543425"/>
            <a:ext cx="2952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C1BA098-2762-43DA-B8FC-B21D28654F79}"/>
              </a:ext>
            </a:extLst>
          </p:cNvPr>
          <p:cNvSpPr>
            <a:spLocks noGrp="1"/>
          </p:cNvSpPr>
          <p:nvPr/>
        </p:nvSpPr>
        <p:spPr>
          <a:xfrm>
            <a:off x="3257550" y="4619625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Engineer user/IP patterns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4E222B6-E303-4849-938B-AF1621D9D69D}"/>
              </a:ext>
            </a:extLst>
          </p:cNvPr>
          <p:cNvSpPr>
            <a:spLocks noGrp="1"/>
          </p:cNvSpPr>
          <p:nvPr/>
        </p:nvSpPr>
        <p:spPr>
          <a:xfrm>
            <a:off x="6115050" y="4543425"/>
            <a:ext cx="53911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65ECD12-DD6E-453A-BA1F-B4CFE27E9DAA}"/>
              </a:ext>
            </a:extLst>
          </p:cNvPr>
          <p:cNvSpPr>
            <a:spLocks noGrp="1"/>
          </p:cNvSpPr>
          <p:nvPr/>
        </p:nvSpPr>
        <p:spPr>
          <a:xfrm>
            <a:off x="6210300" y="4619625"/>
            <a:ext cx="520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Attack behavior emerges across events, not one record.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024379C7-CC6B-4455-94BC-9CFB84386881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3D3807D-4108-4E91-A5E3-DB15B2A2F354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D4182CAE-3CD8-42F8-8C8F-AB0A100112BC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method is intentionally conservative: explainable evidence first, automation later.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133F661-0046-4620-BA63-02C4664B276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2E4567C-920A-4B85-901E-5ECF76019AA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1014D78-E6B8-4F1E-B834-D1B858B7FDF4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243683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Рисунок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35452B-0F93-453A-95C6-2111A4CCC365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5912752-0C9B-4F74-B739-76BCD23D5614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99C2E8F-EE99-4444-8E0E-D2974A1115A7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08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1284592-0946-4A76-A069-D8DACDE4A306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dataset is useful but missing key production signals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389920D-2A1F-4A90-84C3-5A60B1F7117D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A4E6856-1974-44AE-A73B-132562557DD9}"/>
              </a:ext>
            </a:extLst>
          </p:cNvPr>
          <p:cNvSpPr>
            <a:spLocks noGrp="1"/>
          </p:cNvSpPr>
          <p:nvPr/>
        </p:nvSpPr>
        <p:spPr>
          <a:xfrm>
            <a:off x="876300" y="17430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Records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978E7B2-BF8E-479B-95DE-BF82887BC013}"/>
              </a:ext>
            </a:extLst>
          </p:cNvPr>
          <p:cNvSpPr>
            <a:spLocks noGrp="1"/>
          </p:cNvSpPr>
          <p:nvPr/>
        </p:nvSpPr>
        <p:spPr>
          <a:xfrm>
            <a:off x="876300" y="199072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A582D"/>
                </a:solidFill>
              </a:defRPr>
            </a:pPr>
            <a:r>
              <a:rPr sz="2250" b="1">
                <a:solidFill>
                  <a:srgbClr val="FA582D"/>
                </a:solidFill>
              </a:rPr>
              <a:t>10 158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F46E5C3-9C73-4124-AA36-50C1797B11D1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2024-01-01 to 2024-03-29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728DBF6-EB09-4D44-88CA-E6116367718E}"/>
              </a:ext>
            </a:extLst>
          </p:cNvPr>
          <p:cNvSpPr>
            <a:spLocks noGrp="1"/>
          </p:cNvSpPr>
          <p:nvPr/>
        </p:nvSpPr>
        <p:spPr>
          <a:xfrm>
            <a:off x="3448050" y="1571625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B44B8F6-4F9C-4800-A4A3-7297B7FACEA2}"/>
              </a:ext>
            </a:extLst>
          </p:cNvPr>
          <p:cNvSpPr>
            <a:spLocks noGrp="1"/>
          </p:cNvSpPr>
          <p:nvPr/>
        </p:nvSpPr>
        <p:spPr>
          <a:xfrm>
            <a:off x="3638550" y="17430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Users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6D74792-9B34-4968-B1A6-707B3C8B48EF}"/>
              </a:ext>
            </a:extLst>
          </p:cNvPr>
          <p:cNvSpPr>
            <a:spLocks noGrp="1"/>
          </p:cNvSpPr>
          <p:nvPr/>
        </p:nvSpPr>
        <p:spPr>
          <a:xfrm>
            <a:off x="3638550" y="199072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100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3734945-F8D9-42B9-9648-F9B71B935BCC}"/>
              </a:ext>
            </a:extLst>
          </p:cNvPr>
          <p:cNvSpPr>
            <a:spLocks noGrp="1"/>
          </p:cNvSpPr>
          <p:nvPr/>
        </p:nvSpPr>
        <p:spPr>
          <a:xfrm>
            <a:off x="3638550" y="23622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Known user identifiers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9CEFB03-84E2-4B2E-8C06-BA59ECBD523B}"/>
              </a:ext>
            </a:extLst>
          </p:cNvPr>
          <p:cNvSpPr>
            <a:spLocks noGrp="1"/>
          </p:cNvSpPr>
          <p:nvPr/>
        </p:nvSpPr>
        <p:spPr>
          <a:xfrm>
            <a:off x="6210300" y="1571625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4672964-3AF2-4F78-9166-B92B8857F94D}"/>
              </a:ext>
            </a:extLst>
          </p:cNvPr>
          <p:cNvSpPr>
            <a:spLocks noGrp="1"/>
          </p:cNvSpPr>
          <p:nvPr/>
        </p:nvSpPr>
        <p:spPr>
          <a:xfrm>
            <a:off x="6400800" y="17430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Fields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7786D5D-A1C2-4DEF-BDB5-DC4F4FDFDD7F}"/>
              </a:ext>
            </a:extLst>
          </p:cNvPr>
          <p:cNvSpPr>
            <a:spLocks noGrp="1"/>
          </p:cNvSpPr>
          <p:nvPr/>
        </p:nvSpPr>
        <p:spPr>
          <a:xfrm>
            <a:off x="6400800" y="199072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EA5A4"/>
                </a:solidFill>
              </a:defRPr>
            </a:pPr>
            <a:r>
              <a:rPr sz="2250" b="1">
                <a:solidFill>
                  <a:srgbClr val="0EA5A4"/>
                </a:solidFill>
              </a:rPr>
              <a:t>6 raw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1AAA88C-CB38-4639-8FBE-B420B97671D2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Time, user, IP, device, network, outcome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51799312-BC2E-4439-B2D0-BF06C38D6A25}"/>
              </a:ext>
            </a:extLst>
          </p:cNvPr>
          <p:cNvSpPr>
            <a:spLocks noGrp="1"/>
          </p:cNvSpPr>
          <p:nvPr/>
        </p:nvSpPr>
        <p:spPr>
          <a:xfrm>
            <a:off x="8972550" y="1571625"/>
            <a:ext cx="25336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42E171E-EB5E-41D2-8E30-CC235F75EFA4}"/>
              </a:ext>
            </a:extLst>
          </p:cNvPr>
          <p:cNvSpPr>
            <a:spLocks noGrp="1"/>
          </p:cNvSpPr>
          <p:nvPr/>
        </p:nvSpPr>
        <p:spPr>
          <a:xfrm>
            <a:off x="9163050" y="1743075"/>
            <a:ext cx="2152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Failure rate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034A8BC-77E1-4CB3-B7CE-B0F75E559EA9}"/>
              </a:ext>
            </a:extLst>
          </p:cNvPr>
          <p:cNvSpPr>
            <a:spLocks noGrp="1"/>
          </p:cNvSpPr>
          <p:nvPr/>
        </p:nvSpPr>
        <p:spPr>
          <a:xfrm>
            <a:off x="9163050" y="19907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D92D20"/>
                </a:solidFill>
              </a:defRPr>
            </a:pPr>
            <a:r>
              <a:rPr sz="2250" b="1">
                <a:solidFill>
                  <a:srgbClr val="D92D20"/>
                </a:solidFill>
              </a:rPr>
              <a:t>6.2%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369AE35-ED12-41D8-91C3-4BE48EE984C8}"/>
              </a:ext>
            </a:extLst>
          </p:cNvPr>
          <p:cNvSpPr>
            <a:spLocks noGrp="1"/>
          </p:cNvSpPr>
          <p:nvPr/>
        </p:nvSpPr>
        <p:spPr>
          <a:xfrm>
            <a:off x="9163050" y="23622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634 failed attempts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7A9DC51-DDC0-4184-8C7C-EFF138F173BC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2381250" cy="4762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95A605F-03A4-4518-96C5-BB05A140B6E6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Available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45BF0C9-067B-4419-8D60-77E1F33E93B5}"/>
              </a:ext>
            </a:extLst>
          </p:cNvPr>
          <p:cNvSpPr>
            <a:spLocks noGrp="1"/>
          </p:cNvSpPr>
          <p:nvPr/>
        </p:nvSpPr>
        <p:spPr>
          <a:xfrm>
            <a:off x="3067050" y="3286125"/>
            <a:ext cx="3143250" cy="4762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CD9092F-5225-4368-96BD-1A2E171782DF}"/>
              </a:ext>
            </a:extLst>
          </p:cNvPr>
          <p:cNvSpPr>
            <a:spLocks noGrp="1"/>
          </p:cNvSpPr>
          <p:nvPr/>
        </p:nvSpPr>
        <p:spPr>
          <a:xfrm>
            <a:off x="3162300" y="33718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Missing in production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09B30B1-E9B0-4E19-98FE-64EC20C1D051}"/>
              </a:ext>
            </a:extLst>
          </p:cNvPr>
          <p:cNvSpPr>
            <a:spLocks noGrp="1"/>
          </p:cNvSpPr>
          <p:nvPr/>
        </p:nvSpPr>
        <p:spPr>
          <a:xfrm>
            <a:off x="6210300" y="3286125"/>
            <a:ext cx="5295900" cy="4762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F4BF2F6-EB5D-49B6-A77E-A6A685A5EC66}"/>
              </a:ext>
            </a:extLst>
          </p:cNvPr>
          <p:cNvSpPr>
            <a:spLocks noGrp="1"/>
          </p:cNvSpPr>
          <p:nvPr/>
        </p:nvSpPr>
        <p:spPr>
          <a:xfrm>
            <a:off x="6305550" y="3371850"/>
            <a:ext cx="510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61C1245-D042-404B-8E1E-ED31BAE27DF6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2381250" cy="4762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CB07868-C5D1-4897-81A6-CD2DF61410EA}"/>
              </a:ext>
            </a:extLst>
          </p:cNvPr>
          <p:cNvSpPr>
            <a:spLocks noGrp="1"/>
          </p:cNvSpPr>
          <p:nvPr/>
        </p:nvSpPr>
        <p:spPr>
          <a:xfrm>
            <a:off x="781050" y="3838575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Timestamp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18304E0-D6FE-42AA-B060-5A353A02ED9B}"/>
              </a:ext>
            </a:extLst>
          </p:cNvPr>
          <p:cNvSpPr>
            <a:spLocks noGrp="1"/>
          </p:cNvSpPr>
          <p:nvPr/>
        </p:nvSpPr>
        <p:spPr>
          <a:xfrm>
            <a:off x="3067050" y="3762375"/>
            <a:ext cx="3143250" cy="4762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B0DC9F0-9324-46DB-9994-4ED6E4CC0510}"/>
              </a:ext>
            </a:extLst>
          </p:cNvPr>
          <p:cNvSpPr>
            <a:spLocks noGrp="1"/>
          </p:cNvSpPr>
          <p:nvPr/>
        </p:nvSpPr>
        <p:spPr>
          <a:xfrm>
            <a:off x="3162300" y="383857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Geo / ASN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373E499-0E73-4D76-96AA-3371761D3C9B}"/>
              </a:ext>
            </a:extLst>
          </p:cNvPr>
          <p:cNvSpPr>
            <a:spLocks noGrp="1"/>
          </p:cNvSpPr>
          <p:nvPr/>
        </p:nvSpPr>
        <p:spPr>
          <a:xfrm>
            <a:off x="6210300" y="3762375"/>
            <a:ext cx="5295900" cy="4762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2F098B6-E682-42CE-8298-5401A36422B0}"/>
              </a:ext>
            </a:extLst>
          </p:cNvPr>
          <p:cNvSpPr>
            <a:spLocks noGrp="1"/>
          </p:cNvSpPr>
          <p:nvPr/>
        </p:nvSpPr>
        <p:spPr>
          <a:xfrm>
            <a:off x="6305550" y="3838575"/>
            <a:ext cx="510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Impossible travel and known bad infrastructure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8961A1EC-34E3-4922-B213-F514C886F389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0B9214B-4609-4D63-BD77-A7F4C0D08B83}"/>
              </a:ext>
            </a:extLst>
          </p:cNvPr>
          <p:cNvSpPr>
            <a:spLocks noGrp="1"/>
          </p:cNvSpPr>
          <p:nvPr/>
        </p:nvSpPr>
        <p:spPr>
          <a:xfrm>
            <a:off x="781050" y="4314825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User and IP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7C230E4-2042-4631-99D3-E4DA8B966A8A}"/>
              </a:ext>
            </a:extLst>
          </p:cNvPr>
          <p:cNvSpPr>
            <a:spLocks noGrp="1"/>
          </p:cNvSpPr>
          <p:nvPr/>
        </p:nvSpPr>
        <p:spPr>
          <a:xfrm>
            <a:off x="3067050" y="4238625"/>
            <a:ext cx="3143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0FE2D04-3A8B-4339-A5C9-26B7D78CD47F}"/>
              </a:ext>
            </a:extLst>
          </p:cNvPr>
          <p:cNvSpPr>
            <a:spLocks noGrp="1"/>
          </p:cNvSpPr>
          <p:nvPr/>
        </p:nvSpPr>
        <p:spPr>
          <a:xfrm>
            <a:off x="3162300" y="43148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User agent / browser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00BD1D8A-FD5A-4B38-AC16-9EB03041D8CE}"/>
              </a:ext>
            </a:extLst>
          </p:cNvPr>
          <p:cNvSpPr>
            <a:spLocks noGrp="1"/>
          </p:cNvSpPr>
          <p:nvPr/>
        </p:nvSpPr>
        <p:spPr>
          <a:xfrm>
            <a:off x="6210300" y="4238625"/>
            <a:ext cx="52959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34A6F125-6CFB-47CA-A915-9BDCE81146F7}"/>
              </a:ext>
            </a:extLst>
          </p:cNvPr>
          <p:cNvSpPr>
            <a:spLocks noGrp="1"/>
          </p:cNvSpPr>
          <p:nvPr/>
        </p:nvSpPr>
        <p:spPr>
          <a:xfrm>
            <a:off x="6305550" y="4314825"/>
            <a:ext cx="510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Spoofing, bot signatures, device novelty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0EFA1AE9-866D-448E-8FB8-092BA47A1253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2381250" cy="4762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BAE0D97-280B-4413-B1B6-E3FA99A8B988}"/>
              </a:ext>
            </a:extLst>
          </p:cNvPr>
          <p:cNvSpPr>
            <a:spLocks noGrp="1"/>
          </p:cNvSpPr>
          <p:nvPr/>
        </p:nvSpPr>
        <p:spPr>
          <a:xfrm>
            <a:off x="781050" y="4791075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Device and network type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27BE7684-0D95-46CB-B2C6-CDE72635E469}"/>
              </a:ext>
            </a:extLst>
          </p:cNvPr>
          <p:cNvSpPr>
            <a:spLocks noGrp="1"/>
          </p:cNvSpPr>
          <p:nvPr/>
        </p:nvSpPr>
        <p:spPr>
          <a:xfrm>
            <a:off x="3067050" y="4714875"/>
            <a:ext cx="3143250" cy="4762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BB360E4B-6CE5-47CD-B1EB-B8E1560A21C1}"/>
              </a:ext>
            </a:extLst>
          </p:cNvPr>
          <p:cNvSpPr>
            <a:spLocks noGrp="1"/>
          </p:cNvSpPr>
          <p:nvPr/>
        </p:nvSpPr>
        <p:spPr>
          <a:xfrm>
            <a:off x="3162300" y="479107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MFA status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93EF9B90-7C74-4FEF-A28B-724E9CCCB98D}"/>
              </a:ext>
            </a:extLst>
          </p:cNvPr>
          <p:cNvSpPr>
            <a:spLocks noGrp="1"/>
          </p:cNvSpPr>
          <p:nvPr/>
        </p:nvSpPr>
        <p:spPr>
          <a:xfrm>
            <a:off x="6210300" y="4714875"/>
            <a:ext cx="5295900" cy="4762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4144BA9D-C8C8-4810-B7AC-C58A365DD6D0}"/>
              </a:ext>
            </a:extLst>
          </p:cNvPr>
          <p:cNvSpPr>
            <a:spLocks noGrp="1"/>
          </p:cNvSpPr>
          <p:nvPr/>
        </p:nvSpPr>
        <p:spPr>
          <a:xfrm>
            <a:off x="6305550" y="4791075"/>
            <a:ext cx="510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Step-up failures and bypass attempts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ADA530A5-285C-4F10-9BB0-B8E7E01DEC7F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28635897-29C4-4976-B835-93D3F612AE54}"/>
              </a:ext>
            </a:extLst>
          </p:cNvPr>
          <p:cNvSpPr>
            <a:spLocks noGrp="1"/>
          </p:cNvSpPr>
          <p:nvPr/>
        </p:nvSpPr>
        <p:spPr>
          <a:xfrm>
            <a:off x="781050" y="5267325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Success flag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7881B417-6598-4964-A992-866D45F866CA}"/>
              </a:ext>
            </a:extLst>
          </p:cNvPr>
          <p:cNvSpPr>
            <a:spLocks noGrp="1"/>
          </p:cNvSpPr>
          <p:nvPr/>
        </p:nvSpPr>
        <p:spPr>
          <a:xfrm>
            <a:off x="3067050" y="5191125"/>
            <a:ext cx="3143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2670CC8A-A467-4BF2-A8EF-96CB47E22FCC}"/>
              </a:ext>
            </a:extLst>
          </p:cNvPr>
          <p:cNvSpPr>
            <a:spLocks noGrp="1"/>
          </p:cNvSpPr>
          <p:nvPr/>
        </p:nvSpPr>
        <p:spPr>
          <a:xfrm>
            <a:off x="3162300" y="52673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Session context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4BDE8DDA-E865-49CF-9D31-C67B1DD76381}"/>
              </a:ext>
            </a:extLst>
          </p:cNvPr>
          <p:cNvSpPr>
            <a:spLocks noGrp="1"/>
          </p:cNvSpPr>
          <p:nvPr/>
        </p:nvSpPr>
        <p:spPr>
          <a:xfrm>
            <a:off x="6210300" y="5191125"/>
            <a:ext cx="52959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7D985131-DE33-473F-B26F-8EDB4F85036B}"/>
              </a:ext>
            </a:extLst>
          </p:cNvPr>
          <p:cNvSpPr>
            <a:spLocks noGrp="1"/>
          </p:cNvSpPr>
          <p:nvPr/>
        </p:nvSpPr>
        <p:spPr>
          <a:xfrm>
            <a:off x="6305550" y="5267325"/>
            <a:ext cx="510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Post-login abuse and privilege changes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8089258-CA41-4461-81B3-A8FA3772266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5495603-1AC6-43EC-9867-DED7B2A5152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35755EC4-6B2E-4CB8-85B1-753D2FA76A19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2133243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D6EBCA0-9AEF-4051-AB2D-CD40AB9F528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A99B43-7DBB-403C-B1F9-89BFDCECDBE6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018EA73-3796-413D-A4E9-033FD06A564D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09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A331B6F-BDE1-4B18-AB61-D9D1F45649D8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Data quality issues are small but operationally important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A0E2B7E-2A67-47EC-BBE6-DE62A66E2BA7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238125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17EFA53-9C8A-45CE-86D7-070068AC7CEC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ED616C5-241A-41FF-B3F7-4557FC6079EA}"/>
              </a:ext>
            </a:extLst>
          </p:cNvPr>
          <p:cNvSpPr>
            <a:spLocks noGrp="1"/>
          </p:cNvSpPr>
          <p:nvPr/>
        </p:nvSpPr>
        <p:spPr>
          <a:xfrm>
            <a:off x="3067050" y="1571625"/>
            <a:ext cx="104775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73DDDDB-946D-4886-9907-3EABA1503386}"/>
              </a:ext>
            </a:extLst>
          </p:cNvPr>
          <p:cNvSpPr>
            <a:spLocks noGrp="1"/>
          </p:cNvSpPr>
          <p:nvPr/>
        </p:nvSpPr>
        <p:spPr>
          <a:xfrm>
            <a:off x="3162300" y="16573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57652CE-59E9-4DDD-85E8-CC72D34F9C1E}"/>
              </a:ext>
            </a:extLst>
          </p:cNvPr>
          <p:cNvSpPr>
            <a:spLocks noGrp="1"/>
          </p:cNvSpPr>
          <p:nvPr/>
        </p:nvSpPr>
        <p:spPr>
          <a:xfrm>
            <a:off x="4114800" y="1571625"/>
            <a:ext cx="40005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682579A-08BD-4559-92E2-8570DCB72268}"/>
              </a:ext>
            </a:extLst>
          </p:cNvPr>
          <p:cNvSpPr>
            <a:spLocks noGrp="1"/>
          </p:cNvSpPr>
          <p:nvPr/>
        </p:nvSpPr>
        <p:spPr>
          <a:xfrm>
            <a:off x="4210050" y="16573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91607D2-E41B-4CB1-A4D6-7269A048CDCA}"/>
              </a:ext>
            </a:extLst>
          </p:cNvPr>
          <p:cNvSpPr>
            <a:spLocks noGrp="1"/>
          </p:cNvSpPr>
          <p:nvPr/>
        </p:nvSpPr>
        <p:spPr>
          <a:xfrm>
            <a:off x="8115300" y="1571625"/>
            <a:ext cx="33909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1F56989-742F-47DF-B40C-DF117A6E8F38}"/>
              </a:ext>
            </a:extLst>
          </p:cNvPr>
          <p:cNvSpPr>
            <a:spLocks noGrp="1"/>
          </p:cNvSpPr>
          <p:nvPr/>
        </p:nvSpPr>
        <p:spPr>
          <a:xfrm>
            <a:off x="8210550" y="1657350"/>
            <a:ext cx="320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DC4CE96-A07C-4D3E-B4A7-AC887F9872E5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2381250" cy="6858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D794E9C-3689-4514-828B-8E2EBA1F422D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Missing IP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679FCC9-4028-42E6-A605-F923103991F9}"/>
              </a:ext>
            </a:extLst>
          </p:cNvPr>
          <p:cNvSpPr>
            <a:spLocks noGrp="1"/>
          </p:cNvSpPr>
          <p:nvPr/>
        </p:nvSpPr>
        <p:spPr>
          <a:xfrm>
            <a:off x="3067050" y="2257425"/>
            <a:ext cx="1047750" cy="6858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F462765-B724-44AA-AE72-A614713375DA}"/>
              </a:ext>
            </a:extLst>
          </p:cNvPr>
          <p:cNvSpPr>
            <a:spLocks noGrp="1"/>
          </p:cNvSpPr>
          <p:nvPr/>
        </p:nvSpPr>
        <p:spPr>
          <a:xfrm>
            <a:off x="3162300" y="2333625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8BB2598-5C3B-445C-AA7D-9003B825F45C}"/>
              </a:ext>
            </a:extLst>
          </p:cNvPr>
          <p:cNvSpPr>
            <a:spLocks noGrp="1"/>
          </p:cNvSpPr>
          <p:nvPr/>
        </p:nvSpPr>
        <p:spPr>
          <a:xfrm>
            <a:off x="4114800" y="2257425"/>
            <a:ext cx="4000500" cy="6858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8C0B39D-0C14-4AB9-BC23-914E0C652341}"/>
              </a:ext>
            </a:extLst>
          </p:cNvPr>
          <p:cNvSpPr>
            <a:spLocks noGrp="1"/>
          </p:cNvSpPr>
          <p:nvPr/>
        </p:nvSpPr>
        <p:spPr>
          <a:xfrm>
            <a:off x="4210050" y="2333625"/>
            <a:ext cx="3810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Weakens IP-based detection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043D5F6-2CDE-4613-AC75-16C982F411EE}"/>
              </a:ext>
            </a:extLst>
          </p:cNvPr>
          <p:cNvSpPr>
            <a:spLocks noGrp="1"/>
          </p:cNvSpPr>
          <p:nvPr/>
        </p:nvSpPr>
        <p:spPr>
          <a:xfrm>
            <a:off x="8115300" y="2257425"/>
            <a:ext cx="3390900" cy="6858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E8AB49B-A48E-41F8-9165-13AFD87A7E80}"/>
              </a:ext>
            </a:extLst>
          </p:cNvPr>
          <p:cNvSpPr>
            <a:spLocks noGrp="1"/>
          </p:cNvSpPr>
          <p:nvPr/>
        </p:nvSpPr>
        <p:spPr>
          <a:xfrm>
            <a:off x="8210550" y="2333625"/>
            <a:ext cx="320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Investigate upstream source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728961D-4395-498A-BA73-09FA38F6300E}"/>
              </a:ext>
            </a:extLst>
          </p:cNvPr>
          <p:cNvSpPr>
            <a:spLocks noGrp="1"/>
          </p:cNvSpPr>
          <p:nvPr/>
        </p:nvSpPr>
        <p:spPr>
          <a:xfrm>
            <a:off x="685800" y="2943225"/>
            <a:ext cx="2381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51C4037-5E76-4FAF-AB47-8176EE142749}"/>
              </a:ext>
            </a:extLst>
          </p:cNvPr>
          <p:cNvSpPr>
            <a:spLocks noGrp="1"/>
          </p:cNvSpPr>
          <p:nvPr/>
        </p:nvSpPr>
        <p:spPr>
          <a:xfrm>
            <a:off x="781050" y="3019425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Missing outcome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F9D63DF-2B1E-4F59-81BF-9A6A4BD31029}"/>
              </a:ext>
            </a:extLst>
          </p:cNvPr>
          <p:cNvSpPr>
            <a:spLocks noGrp="1"/>
          </p:cNvSpPr>
          <p:nvPr/>
        </p:nvSpPr>
        <p:spPr>
          <a:xfrm>
            <a:off x="3067050" y="2943225"/>
            <a:ext cx="1047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4451F08-56C9-46F9-A558-D608003E1C65}"/>
              </a:ext>
            </a:extLst>
          </p:cNvPr>
          <p:cNvSpPr>
            <a:spLocks noGrp="1"/>
          </p:cNvSpPr>
          <p:nvPr/>
        </p:nvSpPr>
        <p:spPr>
          <a:xfrm>
            <a:off x="3162300" y="3019425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3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8E8C571-B4A5-4EB2-B4C0-C599D8C3B662}"/>
              </a:ext>
            </a:extLst>
          </p:cNvPr>
          <p:cNvSpPr>
            <a:spLocks noGrp="1"/>
          </p:cNvSpPr>
          <p:nvPr/>
        </p:nvSpPr>
        <p:spPr>
          <a:xfrm>
            <a:off x="4114800" y="2943225"/>
            <a:ext cx="4000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2018E9A-6C57-4B6B-96CB-CBE66E3AC390}"/>
              </a:ext>
            </a:extLst>
          </p:cNvPr>
          <p:cNvSpPr>
            <a:spLocks noGrp="1"/>
          </p:cNvSpPr>
          <p:nvPr/>
        </p:nvSpPr>
        <p:spPr>
          <a:xfrm>
            <a:off x="4210050" y="3019425"/>
            <a:ext cx="3810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Affects failure metrics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DE7BF15-A5B9-4A21-86B5-D35F343B9BEA}"/>
              </a:ext>
            </a:extLst>
          </p:cNvPr>
          <p:cNvSpPr>
            <a:spLocks noGrp="1"/>
          </p:cNvSpPr>
          <p:nvPr/>
        </p:nvSpPr>
        <p:spPr>
          <a:xfrm>
            <a:off x="8115300" y="2943225"/>
            <a:ext cx="33909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C31823E-7856-4568-A5C2-8B31A2E5B27A}"/>
              </a:ext>
            </a:extLst>
          </p:cNvPr>
          <p:cNvSpPr>
            <a:spLocks noGrp="1"/>
          </p:cNvSpPr>
          <p:nvPr/>
        </p:nvSpPr>
        <p:spPr>
          <a:xfrm>
            <a:off x="8210550" y="3019425"/>
            <a:ext cx="320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Use conservative handling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A6C6E5F-1FC1-4171-A8D2-35747E81A6D4}"/>
              </a:ext>
            </a:extLst>
          </p:cNvPr>
          <p:cNvSpPr>
            <a:spLocks noGrp="1"/>
          </p:cNvSpPr>
          <p:nvPr/>
        </p:nvSpPr>
        <p:spPr>
          <a:xfrm>
            <a:off x="685800" y="3629025"/>
            <a:ext cx="2381250" cy="6858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158F36E-876C-425A-BA2B-4D519066E488}"/>
              </a:ext>
            </a:extLst>
          </p:cNvPr>
          <p:cNvSpPr>
            <a:spLocks noGrp="1"/>
          </p:cNvSpPr>
          <p:nvPr/>
        </p:nvSpPr>
        <p:spPr>
          <a:xfrm>
            <a:off x="781050" y="3705225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Duplicates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3BAF72E6-B165-484B-884C-C05EA6EB2772}"/>
              </a:ext>
            </a:extLst>
          </p:cNvPr>
          <p:cNvSpPr>
            <a:spLocks noGrp="1"/>
          </p:cNvSpPr>
          <p:nvPr/>
        </p:nvSpPr>
        <p:spPr>
          <a:xfrm>
            <a:off x="3067050" y="3629025"/>
            <a:ext cx="1047750" cy="6858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9532300-E99A-40C4-BDC7-75854E327C53}"/>
              </a:ext>
            </a:extLst>
          </p:cNvPr>
          <p:cNvSpPr>
            <a:spLocks noGrp="1"/>
          </p:cNvSpPr>
          <p:nvPr/>
        </p:nvSpPr>
        <p:spPr>
          <a:xfrm>
            <a:off x="3162300" y="3705225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88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27AA066-D6D8-4521-9267-512CDD5A2090}"/>
              </a:ext>
            </a:extLst>
          </p:cNvPr>
          <p:cNvSpPr>
            <a:spLocks noGrp="1"/>
          </p:cNvSpPr>
          <p:nvPr/>
        </p:nvSpPr>
        <p:spPr>
          <a:xfrm>
            <a:off x="4114800" y="3629025"/>
            <a:ext cx="4000500" cy="6858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56B5CFE1-124C-45E4-99A1-C4D95EBA9719}"/>
              </a:ext>
            </a:extLst>
          </p:cNvPr>
          <p:cNvSpPr>
            <a:spLocks noGrp="1"/>
          </p:cNvSpPr>
          <p:nvPr/>
        </p:nvSpPr>
        <p:spPr>
          <a:xfrm>
            <a:off x="4210050" y="3705225"/>
            <a:ext cx="3810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Inflates alerts and velocity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31D8C30-A98B-40B1-9E5F-1DAB8B7140FE}"/>
              </a:ext>
            </a:extLst>
          </p:cNvPr>
          <p:cNvSpPr>
            <a:spLocks noGrp="1"/>
          </p:cNvSpPr>
          <p:nvPr/>
        </p:nvSpPr>
        <p:spPr>
          <a:xfrm>
            <a:off x="8115300" y="3629025"/>
            <a:ext cx="3390900" cy="6858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E6526CD6-7BFD-46F8-B64F-F7DBD4159CF6}"/>
              </a:ext>
            </a:extLst>
          </p:cNvPr>
          <p:cNvSpPr>
            <a:spLocks noGrp="1"/>
          </p:cNvSpPr>
          <p:nvPr/>
        </p:nvSpPr>
        <p:spPr>
          <a:xfrm>
            <a:off x="8210550" y="3705225"/>
            <a:ext cx="320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Deduplicate before scoring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DAB5BDF4-5470-48FB-B5B4-F9D958D34C19}"/>
              </a:ext>
            </a:extLst>
          </p:cNvPr>
          <p:cNvSpPr>
            <a:spLocks noGrp="1"/>
          </p:cNvSpPr>
          <p:nvPr/>
        </p:nvSpPr>
        <p:spPr>
          <a:xfrm>
            <a:off x="685800" y="4314825"/>
            <a:ext cx="2381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B768D15-7679-46E9-A514-214245EFCCF0}"/>
              </a:ext>
            </a:extLst>
          </p:cNvPr>
          <p:cNvSpPr>
            <a:spLocks noGrp="1"/>
          </p:cNvSpPr>
          <p:nvPr/>
        </p:nvSpPr>
        <p:spPr>
          <a:xfrm>
            <a:off x="781050" y="4391025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Invalid labels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DF3F218-98AB-42E8-8F32-B08A39EECAD1}"/>
              </a:ext>
            </a:extLst>
          </p:cNvPr>
          <p:cNvSpPr>
            <a:spLocks noGrp="1"/>
          </p:cNvSpPr>
          <p:nvPr/>
        </p:nvSpPr>
        <p:spPr>
          <a:xfrm>
            <a:off x="3067050" y="4314825"/>
            <a:ext cx="1047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FC4E1B8-BD03-499E-8BF0-F367E226A8A5}"/>
              </a:ext>
            </a:extLst>
          </p:cNvPr>
          <p:cNvSpPr>
            <a:spLocks noGrp="1"/>
          </p:cNvSpPr>
          <p:nvPr/>
        </p:nvSpPr>
        <p:spPr>
          <a:xfrm>
            <a:off x="3162300" y="4391025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2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7023518-8389-40A4-A7F6-34734539BEFF}"/>
              </a:ext>
            </a:extLst>
          </p:cNvPr>
          <p:cNvSpPr>
            <a:spLocks noGrp="1"/>
          </p:cNvSpPr>
          <p:nvPr/>
        </p:nvSpPr>
        <p:spPr>
          <a:xfrm>
            <a:off x="4114800" y="4314825"/>
            <a:ext cx="4000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258EC25-F729-4508-B509-08AABEB96755}"/>
              </a:ext>
            </a:extLst>
          </p:cNvPr>
          <p:cNvSpPr>
            <a:spLocks noGrp="1"/>
          </p:cNvSpPr>
          <p:nvPr/>
        </p:nvSpPr>
        <p:spPr>
          <a:xfrm>
            <a:off x="4210050" y="4391025"/>
            <a:ext cx="3810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Signals schema inconsistency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4722E774-EDE0-408F-9101-2397FA634C4C}"/>
              </a:ext>
            </a:extLst>
          </p:cNvPr>
          <p:cNvSpPr>
            <a:spLocks noGrp="1"/>
          </p:cNvSpPr>
          <p:nvPr/>
        </p:nvSpPr>
        <p:spPr>
          <a:xfrm>
            <a:off x="8115300" y="4314825"/>
            <a:ext cx="33909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BD974091-E25A-4E38-A6FE-F719FD05960D}"/>
              </a:ext>
            </a:extLst>
          </p:cNvPr>
          <p:cNvSpPr>
            <a:spLocks noGrp="1"/>
          </p:cNvSpPr>
          <p:nvPr/>
        </p:nvSpPr>
        <p:spPr>
          <a:xfrm>
            <a:off x="8210550" y="4391025"/>
            <a:ext cx="320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Normalize values at ingest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B45B4433-46F7-4BB9-9BBB-DFC1731DF315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DAE450BA-E375-4D2F-B8CB-B1283E3219E8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2986BD25-4E66-467B-BEBF-12D8AEE39BF5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Even tiny integrity gaps matter because security alerts can become automated containment decisions.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57BABEAA-DDDD-4138-B79D-255E67E09EB1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A425C414-68D1-4AAE-AAF1-5EEEA948237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D5A4B80C-5A49-4E3B-8D20-85253B8B953A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402859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1959EC-1279-48ED-8083-4811FC1EAC3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013D590-A596-4601-AD13-428DDCE2510F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D3DEDA-737C-4B7F-8D3F-AF5E4E9E0225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ECD81E3-254A-450E-BAE8-BA3CDF04DA54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EDA shows stable volume with visible failure spikes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02E681D-C285-4627-8708-E9644E15E525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6905625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389128"/>
            <a:ext cx="6638925" cy="1946394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451E107-CC99-496B-84D6-E26A6D7FCB6B}"/>
              </a:ext>
            </a:extLst>
          </p:cNvPr>
          <p:cNvSpPr>
            <a:spLocks noGrp="1"/>
          </p:cNvSpPr>
          <p:nvPr/>
        </p:nvSpPr>
        <p:spPr>
          <a:xfrm>
            <a:off x="8001000" y="1600200"/>
            <a:ext cx="3000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What would concern me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AC96058-EA6C-49A0-9503-DC76B19F6BC6}"/>
              </a:ext>
            </a:extLst>
          </p:cNvPr>
          <p:cNvSpPr>
            <a:spLocks noGrp="1"/>
          </p:cNvSpPr>
          <p:nvPr/>
        </p:nvSpPr>
        <p:spPr>
          <a:xfrm>
            <a:off x="8001000" y="2000250"/>
            <a:ext cx="3000375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Overall outcomes are mostly successful, but failure spikes are not evenly distributed.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Daily traffic is stable enough to make Feb 9 stand out.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Hourly activity gives a normal-use reference for off-hours investigation.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3A066BC9-710A-424A-BBCC-FBB762A17B79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447CC10-B6FE-4AF9-AC6C-19392B63104D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7892F5E-E2BE-4F93-B312-095E7DD02A7C}"/>
              </a:ext>
            </a:extLst>
          </p:cNvPr>
          <p:cNvSpPr>
            <a:spLocks noGrp="1"/>
          </p:cNvSpPr>
          <p:nvPr/>
        </p:nvSpPr>
        <p:spPr>
          <a:xfrm>
            <a:off x="914400" y="58007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EDA job is to define where normal behavior ends before calling something suspicious.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80E4E88-4C85-4611-A34D-2853B74CF7B6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4EE6398-65B4-4BFA-9EFA-2C66E817309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62DA9BA-18D8-40B6-A3AC-E1735E259FF3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977087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5D89E56-A2A3-438C-8AC3-26AC271EE3C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D78F780-67CE-42B0-A156-8E37816D6E39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F045512-DC1A-4AD5-AEB1-0692A2BA12F9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00128F8-2EA4-4D96-9DC9-1703610E4CAC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Feb 9 is the clearest dataset-level authentication anomaly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5C50708-A25F-49B0-94C1-0041FFEF97CC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7858125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55383" y="1752600"/>
            <a:ext cx="6718959" cy="3543300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3F63E42-7791-4CC7-BC0F-D621A1D1DA0F}"/>
              </a:ext>
            </a:extLst>
          </p:cNvPr>
          <p:cNvSpPr>
            <a:spLocks noGrp="1"/>
          </p:cNvSpPr>
          <p:nvPr/>
        </p:nvSpPr>
        <p:spPr>
          <a:xfrm>
            <a:off x="8953500" y="1762125"/>
            <a:ext cx="2286000" cy="981075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D9CACE8-19E8-43C4-9A10-FEFF4740CE76}"/>
              </a:ext>
            </a:extLst>
          </p:cNvPr>
          <p:cNvSpPr>
            <a:spLocks noGrp="1"/>
          </p:cNvSpPr>
          <p:nvPr/>
        </p:nvSpPr>
        <p:spPr>
          <a:xfrm>
            <a:off x="9144000" y="19335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Feb 9 attempts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67334B3-A648-4F04-817A-C4275DE8953B}"/>
              </a:ext>
            </a:extLst>
          </p:cNvPr>
          <p:cNvSpPr>
            <a:spLocks noGrp="1"/>
          </p:cNvSpPr>
          <p:nvPr/>
        </p:nvSpPr>
        <p:spPr>
          <a:xfrm>
            <a:off x="9144000" y="218122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259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E3992EC-D2F0-4980-BDA9-DEA48D003CB7}"/>
              </a:ext>
            </a:extLst>
          </p:cNvPr>
          <p:cNvSpPr>
            <a:spLocks noGrp="1"/>
          </p:cNvSpPr>
          <p:nvPr/>
        </p:nvSpPr>
        <p:spPr>
          <a:xfrm>
            <a:off x="9144000" y="25527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Normal days are much lower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B0615DA-5F1A-41BA-8E68-1B724D1989CC}"/>
              </a:ext>
            </a:extLst>
          </p:cNvPr>
          <p:cNvSpPr>
            <a:spLocks noGrp="1"/>
          </p:cNvSpPr>
          <p:nvPr/>
        </p:nvSpPr>
        <p:spPr>
          <a:xfrm>
            <a:off x="8953500" y="2905125"/>
            <a:ext cx="2286000" cy="981075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D80C715-D964-49E2-8FE1-3F2E6BF2DFDC}"/>
              </a:ext>
            </a:extLst>
          </p:cNvPr>
          <p:cNvSpPr>
            <a:spLocks noGrp="1"/>
          </p:cNvSpPr>
          <p:nvPr/>
        </p:nvSpPr>
        <p:spPr>
          <a:xfrm>
            <a:off x="9144000" y="30765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Feb 9 failures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8C6462D-8C48-430C-A172-5C9DF69D16B7}"/>
              </a:ext>
            </a:extLst>
          </p:cNvPr>
          <p:cNvSpPr>
            <a:spLocks noGrp="1"/>
          </p:cNvSpPr>
          <p:nvPr/>
        </p:nvSpPr>
        <p:spPr>
          <a:xfrm>
            <a:off x="9144000" y="332422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D92D20"/>
                </a:solidFill>
              </a:defRPr>
            </a:pPr>
            <a:r>
              <a:rPr sz="2250" b="1">
                <a:solidFill>
                  <a:srgbClr val="D92D20"/>
                </a:solidFill>
              </a:rPr>
              <a:t>96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6DE5EEA-0D7A-477B-82BF-2E57D443832F}"/>
              </a:ext>
            </a:extLst>
          </p:cNvPr>
          <p:cNvSpPr>
            <a:spLocks noGrp="1"/>
          </p:cNvSpPr>
          <p:nvPr/>
        </p:nvSpPr>
        <p:spPr>
          <a:xfrm>
            <a:off x="9144000" y="36957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Concentrated failure spike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0DF33B5-7ED8-4676-A51E-69C9EBC71F71}"/>
              </a:ext>
            </a:extLst>
          </p:cNvPr>
          <p:cNvSpPr>
            <a:spLocks noGrp="1"/>
          </p:cNvSpPr>
          <p:nvPr/>
        </p:nvSpPr>
        <p:spPr>
          <a:xfrm>
            <a:off x="8953500" y="4048125"/>
            <a:ext cx="2286000" cy="981075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725AA82-A9FB-4DC4-961D-9C5A305AA70A}"/>
              </a:ext>
            </a:extLst>
          </p:cNvPr>
          <p:cNvSpPr>
            <a:spLocks noGrp="1"/>
          </p:cNvSpPr>
          <p:nvPr/>
        </p:nvSpPr>
        <p:spPr>
          <a:xfrm>
            <a:off x="9144000" y="42195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Failure rate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B0AA010-7B01-49CC-81F9-54C2DEB5E1BA}"/>
              </a:ext>
            </a:extLst>
          </p:cNvPr>
          <p:cNvSpPr>
            <a:spLocks noGrp="1"/>
          </p:cNvSpPr>
          <p:nvPr/>
        </p:nvSpPr>
        <p:spPr>
          <a:xfrm>
            <a:off x="9144000" y="446722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A582D"/>
                </a:solidFill>
              </a:defRPr>
            </a:pPr>
            <a:r>
              <a:rPr sz="2250" b="1">
                <a:solidFill>
                  <a:srgbClr val="FA582D"/>
                </a:solidFill>
              </a:rPr>
              <a:t>37.1%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E0F483D-9D3F-4BFB-A313-AEC0C33BC13D}"/>
              </a:ext>
            </a:extLst>
          </p:cNvPr>
          <p:cNvSpPr>
            <a:spLocks noGrp="1"/>
          </p:cNvSpPr>
          <p:nvPr/>
        </p:nvSpPr>
        <p:spPr>
          <a:xfrm>
            <a:off x="9144000" y="48387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Versus baseline near single digits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85B850B-1575-4159-A7D5-8E89D607A56B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D13426A-50A3-456A-A410-49278B70AC9F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7C15FE9-27AC-49F9-A1BA-A5DC2EEA2A63}"/>
              </a:ext>
            </a:extLst>
          </p:cNvPr>
          <p:cNvSpPr>
            <a:spLocks noGrp="1"/>
          </p:cNvSpPr>
          <p:nvPr/>
        </p:nvSpPr>
        <p:spPr>
          <a:xfrm>
            <a:off x="914400" y="58388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spike creates the need to move from aggregate trend to user/IP-level investigation.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FDF57CF-32AE-44C3-85D0-A84E8971FC8A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F9C822D-FAE8-47C5-B28D-1AA27065942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AD74AB-41E7-419C-8A4D-D32B89F73A01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330403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Рисунок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A78B28-086A-43C8-97CF-8091A770E76B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91D912-FF75-491C-BD78-7B72B3524EEF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99FAB6B-F81F-4B2F-AEFE-34CD98B64809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10979D5-A6AC-4972-8C0B-348229C5D25D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Raw login rows become useful only after behavior is engineered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18548F1-B4E3-4E52-A580-CE2999865BDE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190750" cy="52387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475D8C2-AA38-429B-9F6E-3F6398542D3C}"/>
              </a:ext>
            </a:extLst>
          </p:cNvPr>
          <p:cNvSpPr>
            <a:spLocks noGrp="1"/>
          </p:cNvSpPr>
          <p:nvPr/>
        </p:nvSpPr>
        <p:spPr>
          <a:xfrm>
            <a:off x="781050" y="170497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E50372-354D-47B6-A29F-7EBF4C975C09}"/>
              </a:ext>
            </a:extLst>
          </p:cNvPr>
          <p:cNvSpPr>
            <a:spLocks noGrp="1"/>
          </p:cNvSpPr>
          <p:nvPr/>
        </p:nvSpPr>
        <p:spPr>
          <a:xfrm>
            <a:off x="2876550" y="1619250"/>
            <a:ext cx="3429000" cy="52387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BE2BB95-7972-48CE-87EE-3245E14D3927}"/>
              </a:ext>
            </a:extLst>
          </p:cNvPr>
          <p:cNvSpPr>
            <a:spLocks noGrp="1"/>
          </p:cNvSpPr>
          <p:nvPr/>
        </p:nvSpPr>
        <p:spPr>
          <a:xfrm>
            <a:off x="2971800" y="17049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C91FAB3-BD91-4E34-BFE1-CFF4EAD3B99B}"/>
              </a:ext>
            </a:extLst>
          </p:cNvPr>
          <p:cNvSpPr>
            <a:spLocks noGrp="1"/>
          </p:cNvSpPr>
          <p:nvPr/>
        </p:nvSpPr>
        <p:spPr>
          <a:xfrm>
            <a:off x="6305550" y="1619250"/>
            <a:ext cx="5200650" cy="52387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29E52A6-C389-4912-8BC7-945B1F28465A}"/>
              </a:ext>
            </a:extLst>
          </p:cNvPr>
          <p:cNvSpPr>
            <a:spLocks noGrp="1"/>
          </p:cNvSpPr>
          <p:nvPr/>
        </p:nvSpPr>
        <p:spPr>
          <a:xfrm>
            <a:off x="6400800" y="1704975"/>
            <a:ext cx="501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Analyst question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E57BE63-309B-4099-921B-D75D8BCD9327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2190750" cy="5238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B42691A-BAE7-4F55-852A-13A1B9511C5E}"/>
              </a:ext>
            </a:extLst>
          </p:cNvPr>
          <p:cNvSpPr>
            <a:spLocks noGrp="1"/>
          </p:cNvSpPr>
          <p:nvPr/>
        </p:nvSpPr>
        <p:spPr>
          <a:xfrm>
            <a:off x="781050" y="2219325"/>
            <a:ext cx="200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Failure rate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1BC9C25-11F4-4E4D-8DED-0FF453E5A412}"/>
              </a:ext>
            </a:extLst>
          </p:cNvPr>
          <p:cNvSpPr>
            <a:spLocks noGrp="1"/>
          </p:cNvSpPr>
          <p:nvPr/>
        </p:nvSpPr>
        <p:spPr>
          <a:xfrm>
            <a:off x="2876550" y="2143125"/>
            <a:ext cx="3429000" cy="5238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B77259E-3425-49B5-9EBD-66D42428E96E}"/>
              </a:ext>
            </a:extLst>
          </p:cNvPr>
          <p:cNvSpPr>
            <a:spLocks noGrp="1"/>
          </p:cNvSpPr>
          <p:nvPr/>
        </p:nvSpPr>
        <p:spPr>
          <a:xfrm>
            <a:off x="2971800" y="2219325"/>
            <a:ext cx="3238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Failures / attempts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E80DBE4-73BF-4CBD-B589-E3C35734D0A8}"/>
              </a:ext>
            </a:extLst>
          </p:cNvPr>
          <p:cNvSpPr>
            <a:spLocks noGrp="1"/>
          </p:cNvSpPr>
          <p:nvPr/>
        </p:nvSpPr>
        <p:spPr>
          <a:xfrm>
            <a:off x="6305550" y="2143125"/>
            <a:ext cx="5200650" cy="5238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952B931-5C1C-44F0-8AE2-04A7685988D0}"/>
              </a:ext>
            </a:extLst>
          </p:cNvPr>
          <p:cNvSpPr>
            <a:spLocks noGrp="1"/>
          </p:cNvSpPr>
          <p:nvPr/>
        </p:nvSpPr>
        <p:spPr>
          <a:xfrm>
            <a:off x="6400800" y="2219325"/>
            <a:ext cx="50101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Is the account being guessed?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D03CD06-2DE8-43CC-A6D5-1EB74B861DD7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21907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11DFDB7-A0E2-4B29-B9D6-C4BA132D5FE9}"/>
              </a:ext>
            </a:extLst>
          </p:cNvPr>
          <p:cNvSpPr>
            <a:spLocks noGrp="1"/>
          </p:cNvSpPr>
          <p:nvPr/>
        </p:nvSpPr>
        <p:spPr>
          <a:xfrm>
            <a:off x="781050" y="2743200"/>
            <a:ext cx="200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IP velocity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BD43107-A3C6-4F3D-AF0C-42B0F4E48729}"/>
              </a:ext>
            </a:extLst>
          </p:cNvPr>
          <p:cNvSpPr>
            <a:spLocks noGrp="1"/>
          </p:cNvSpPr>
          <p:nvPr/>
        </p:nvSpPr>
        <p:spPr>
          <a:xfrm>
            <a:off x="2876550" y="2667000"/>
            <a:ext cx="3429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10AE9FC-223F-42F4-9E62-355CADA18FDC}"/>
              </a:ext>
            </a:extLst>
          </p:cNvPr>
          <p:cNvSpPr>
            <a:spLocks noGrp="1"/>
          </p:cNvSpPr>
          <p:nvPr/>
        </p:nvSpPr>
        <p:spPr>
          <a:xfrm>
            <a:off x="2971800" y="2743200"/>
            <a:ext cx="3238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Unique IPs / attempts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C7FD1F8-1721-4EB3-9055-98C6E64F2219}"/>
              </a:ext>
            </a:extLst>
          </p:cNvPr>
          <p:cNvSpPr>
            <a:spLocks noGrp="1"/>
          </p:cNvSpPr>
          <p:nvPr/>
        </p:nvSpPr>
        <p:spPr>
          <a:xfrm>
            <a:off x="6305550" y="2667000"/>
            <a:ext cx="52006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43EEC8C-99E8-4F52-AD4F-230C92261E42}"/>
              </a:ext>
            </a:extLst>
          </p:cNvPr>
          <p:cNvSpPr>
            <a:spLocks noGrp="1"/>
          </p:cNvSpPr>
          <p:nvPr/>
        </p:nvSpPr>
        <p:spPr>
          <a:xfrm>
            <a:off x="6400800" y="2743200"/>
            <a:ext cx="50101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Is traffic rotating across infrastructure?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BBF9A03-3A40-4EE9-9F62-A4C2DE593F2A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2190750" cy="5238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3370BC7-E898-422B-A955-D333280A4922}"/>
              </a:ext>
            </a:extLst>
          </p:cNvPr>
          <p:cNvSpPr>
            <a:spLocks noGrp="1"/>
          </p:cNvSpPr>
          <p:nvPr/>
        </p:nvSpPr>
        <p:spPr>
          <a:xfrm>
            <a:off x="781050" y="3267075"/>
            <a:ext cx="200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Unique IP count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02952B5-F5FD-4613-B2AF-05FB0B3D0D38}"/>
              </a:ext>
            </a:extLst>
          </p:cNvPr>
          <p:cNvSpPr>
            <a:spLocks noGrp="1"/>
          </p:cNvSpPr>
          <p:nvPr/>
        </p:nvSpPr>
        <p:spPr>
          <a:xfrm>
            <a:off x="2876550" y="3190875"/>
            <a:ext cx="3429000" cy="5238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0C97E5C-F8FD-49B0-99AB-3DC778195F12}"/>
              </a:ext>
            </a:extLst>
          </p:cNvPr>
          <p:cNvSpPr>
            <a:spLocks noGrp="1"/>
          </p:cNvSpPr>
          <p:nvPr/>
        </p:nvSpPr>
        <p:spPr>
          <a:xfrm>
            <a:off x="2971800" y="3267075"/>
            <a:ext cx="3238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Distinct sources per user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C75A950-E147-45FE-9BFA-B0DAF78B8755}"/>
              </a:ext>
            </a:extLst>
          </p:cNvPr>
          <p:cNvSpPr>
            <a:spLocks noGrp="1"/>
          </p:cNvSpPr>
          <p:nvPr/>
        </p:nvSpPr>
        <p:spPr>
          <a:xfrm>
            <a:off x="6305550" y="3190875"/>
            <a:ext cx="5200650" cy="5238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C9AE555-BE86-4C14-B07E-C1C68E9E3D46}"/>
              </a:ext>
            </a:extLst>
          </p:cNvPr>
          <p:cNvSpPr>
            <a:spLocks noGrp="1"/>
          </p:cNvSpPr>
          <p:nvPr/>
        </p:nvSpPr>
        <p:spPr>
          <a:xfrm>
            <a:off x="6400800" y="3267075"/>
            <a:ext cx="50101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Is access distributed or shared?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90B7A62-32CA-4498-A661-E0E67DBA18D1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1907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230C6B0-DD02-4D7F-9962-5B9FEDA7D580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200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Attempt velocity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2382E65-4188-4460-A347-DE45503886A9}"/>
              </a:ext>
            </a:extLst>
          </p:cNvPr>
          <p:cNvSpPr>
            <a:spLocks noGrp="1"/>
          </p:cNvSpPr>
          <p:nvPr/>
        </p:nvSpPr>
        <p:spPr>
          <a:xfrm>
            <a:off x="2876550" y="3714750"/>
            <a:ext cx="3429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31538E2-C7B9-41FE-B950-B6A2928FB408}"/>
              </a:ext>
            </a:extLst>
          </p:cNvPr>
          <p:cNvSpPr>
            <a:spLocks noGrp="1"/>
          </p:cNvSpPr>
          <p:nvPr/>
        </p:nvSpPr>
        <p:spPr>
          <a:xfrm>
            <a:off x="2971800" y="3790950"/>
            <a:ext cx="3238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Attempts per time window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28EFC7D-8A7C-4164-9166-4073CD7F2C67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2006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6353AB0-CF7F-4124-91D7-8AFEA72D8F13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50101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Is activity humanly plausible?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EBF83ED-302E-4612-B5F0-2BD993B06296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2190750" cy="5238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3A8D3A6-3EC4-4681-A7FA-52C66A6AE41E}"/>
              </a:ext>
            </a:extLst>
          </p:cNvPr>
          <p:cNvSpPr>
            <a:spLocks noGrp="1"/>
          </p:cNvSpPr>
          <p:nvPr/>
        </p:nvSpPr>
        <p:spPr>
          <a:xfrm>
            <a:off x="781050" y="4314825"/>
            <a:ext cx="200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Off-hours flag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D18570ED-FDC4-4BBD-803A-6DEA7105D867}"/>
              </a:ext>
            </a:extLst>
          </p:cNvPr>
          <p:cNvSpPr>
            <a:spLocks noGrp="1"/>
          </p:cNvSpPr>
          <p:nvPr/>
        </p:nvSpPr>
        <p:spPr>
          <a:xfrm>
            <a:off x="2876550" y="4238625"/>
            <a:ext cx="3429000" cy="5238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E28EAFFE-5EEB-4F34-ADC0-EFF299123432}"/>
              </a:ext>
            </a:extLst>
          </p:cNvPr>
          <p:cNvSpPr>
            <a:spLocks noGrp="1"/>
          </p:cNvSpPr>
          <p:nvPr/>
        </p:nvSpPr>
        <p:spPr>
          <a:xfrm>
            <a:off x="2971800" y="4314825"/>
            <a:ext cx="3238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Login outside normal window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AE8EB09-D6EB-4477-A0A0-F0643A9DA42C}"/>
              </a:ext>
            </a:extLst>
          </p:cNvPr>
          <p:cNvSpPr>
            <a:spLocks noGrp="1"/>
          </p:cNvSpPr>
          <p:nvPr/>
        </p:nvSpPr>
        <p:spPr>
          <a:xfrm>
            <a:off x="6305550" y="4238625"/>
            <a:ext cx="5200650" cy="5238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DCF43F35-E82B-4609-A177-1068C2A7F50E}"/>
              </a:ext>
            </a:extLst>
          </p:cNvPr>
          <p:cNvSpPr>
            <a:spLocks noGrp="1"/>
          </p:cNvSpPr>
          <p:nvPr/>
        </p:nvSpPr>
        <p:spPr>
          <a:xfrm>
            <a:off x="6400800" y="4314825"/>
            <a:ext cx="50101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Is timing unusual for this user?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7AF2E9C4-A4E5-4D19-A764-2293DF0E4602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1907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37C73692-3D5C-4539-BD9C-2E524B39C739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200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Composite risk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C9490D1-88FF-4603-A9EF-BC537767B28A}"/>
              </a:ext>
            </a:extLst>
          </p:cNvPr>
          <p:cNvSpPr>
            <a:spLocks noGrp="1"/>
          </p:cNvSpPr>
          <p:nvPr/>
        </p:nvSpPr>
        <p:spPr>
          <a:xfrm>
            <a:off x="2876550" y="4762500"/>
            <a:ext cx="3429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C6EE72A-A76E-4AD2-9F93-BB48D1E268BF}"/>
              </a:ext>
            </a:extLst>
          </p:cNvPr>
          <p:cNvSpPr>
            <a:spLocks noGrp="1"/>
          </p:cNvSpPr>
          <p:nvPr/>
        </p:nvSpPr>
        <p:spPr>
          <a:xfrm>
            <a:off x="2971800" y="4838700"/>
            <a:ext cx="3238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Weighted rule score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8AB3F48B-6958-447A-8D5F-54027A1166DB}"/>
              </a:ext>
            </a:extLst>
          </p:cNvPr>
          <p:cNvSpPr>
            <a:spLocks noGrp="1"/>
          </p:cNvSpPr>
          <p:nvPr/>
        </p:nvSpPr>
        <p:spPr>
          <a:xfrm>
            <a:off x="6305550" y="4762500"/>
            <a:ext cx="52006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A6B10CFD-0698-4A3A-BEBE-997A08B94F02}"/>
              </a:ext>
            </a:extLst>
          </p:cNvPr>
          <p:cNvSpPr>
            <a:spLocks noGrp="1"/>
          </p:cNvSpPr>
          <p:nvPr/>
        </p:nvSpPr>
        <p:spPr>
          <a:xfrm>
            <a:off x="6400800" y="4838700"/>
            <a:ext cx="50101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Which cases should SOC review first?</a:t>
            </a: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460D1BAD-9C85-441B-9231-E9C94E8C0625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5760A161-55C7-4A71-AAAC-E2294F5B9227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5194C90B-835B-4F04-B4DA-ED06FC4B9B29}"/>
              </a:ext>
            </a:extLst>
          </p:cNvPr>
          <p:cNvSpPr>
            <a:spLocks noGrp="1"/>
          </p:cNvSpPr>
          <p:nvPr/>
        </p:nvSpPr>
        <p:spPr>
          <a:xfrm>
            <a:off x="914400" y="581977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Feature engineering is the bridge between a notebook and an explainable risk signal.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851F8D5B-7CF2-49E8-B89E-56B29865CAA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0FA3FE0B-08DA-42D8-A86D-B65F30C9881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61F63AC8-E140-4041-A927-7715FF558B98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48258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064D4C2-EC2B-48E1-ACE5-1FB3E1BD39F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27F1CA3-A919-4DD4-808D-F30DA1C2BECA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F90F7FC-7FEC-4722-ADE4-09A913D3C807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5997E09-EA99-4B7B-8318-C70A71FDA3BF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Failure rate separates user mistakes from attack pressure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451AE6-7E0C-42A7-9AD1-600493069A16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Definition: failed logins divided by total attempts for the same entity.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CB6346E-64E5-4363-91F9-E771DBDAF149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74940BD-E5CC-4B63-84B0-482F75941E4D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Business meaning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FD90306-F798-407D-96FB-491F0CE4E36D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A582D"/>
                </a:solidFill>
              </a:defRPr>
            </a:pPr>
            <a:r>
              <a:rPr sz="2000" b="1" dirty="0">
                <a:solidFill>
                  <a:srgbClr val="FA582D"/>
                </a:solidFill>
              </a:rPr>
              <a:t>Password guessing pressure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86397B0-44B3-4E5D-B007-865B65183612}"/>
              </a:ext>
            </a:extLst>
          </p:cNvPr>
          <p:cNvSpPr>
            <a:spLocks noGrp="1"/>
          </p:cNvSpPr>
          <p:nvPr/>
        </p:nvSpPr>
        <p:spPr>
          <a:xfrm>
            <a:off x="87630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Why it matters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25A5D328-8186-48E3-8766-C43C383D447E}"/>
              </a:ext>
            </a:extLst>
          </p:cNvPr>
          <p:cNvSpPr>
            <a:spLocks noGrp="1"/>
          </p:cNvSpPr>
          <p:nvPr/>
        </p:nvSpPr>
        <p:spPr>
          <a:xfrm>
            <a:off x="4429125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8A1E940-F37C-4A07-8026-42278C556346}"/>
              </a:ext>
            </a:extLst>
          </p:cNvPr>
          <p:cNvSpPr>
            <a:spLocks noGrp="1"/>
          </p:cNvSpPr>
          <p:nvPr/>
        </p:nvSpPr>
        <p:spPr>
          <a:xfrm>
            <a:off x="4619625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Formula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D7B7375-4538-4179-AD03-EDEC9D6B3082}"/>
              </a:ext>
            </a:extLst>
          </p:cNvPr>
          <p:cNvSpPr>
            <a:spLocks noGrp="1"/>
          </p:cNvSpPr>
          <p:nvPr/>
        </p:nvSpPr>
        <p:spPr>
          <a:xfrm>
            <a:off x="4619625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000" b="1" dirty="0">
                <a:solidFill>
                  <a:srgbClr val="000000"/>
                </a:solidFill>
              </a:rPr>
              <a:t>failures / attempts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2093511-09AD-4C88-96AF-14B9487A0769}"/>
              </a:ext>
            </a:extLst>
          </p:cNvPr>
          <p:cNvSpPr>
            <a:spLocks noGrp="1"/>
          </p:cNvSpPr>
          <p:nvPr/>
        </p:nvSpPr>
        <p:spPr>
          <a:xfrm>
            <a:off x="4619625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Notebook feature logic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97933EC-A55B-496F-9727-8CD755EC87A8}"/>
              </a:ext>
            </a:extLst>
          </p:cNvPr>
          <p:cNvSpPr>
            <a:spLocks noGrp="1"/>
          </p:cNvSpPr>
          <p:nvPr/>
        </p:nvSpPr>
        <p:spPr>
          <a:xfrm>
            <a:off x="8172450" y="2666999"/>
            <a:ext cx="3333750" cy="1781175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6D65960-A607-4B72-B9B2-19FBCE1C4A11}"/>
              </a:ext>
            </a:extLst>
          </p:cNvPr>
          <p:cNvSpPr>
            <a:spLocks noGrp="1"/>
          </p:cNvSpPr>
          <p:nvPr/>
        </p:nvSpPr>
        <p:spPr>
          <a:xfrm>
            <a:off x="836295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Production version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E99E703-BD23-4003-AB17-272572E133E8}"/>
              </a:ext>
            </a:extLst>
          </p:cNvPr>
          <p:cNvSpPr>
            <a:spLocks noGrp="1"/>
          </p:cNvSpPr>
          <p:nvPr/>
        </p:nvSpPr>
        <p:spPr>
          <a:xfrm>
            <a:off x="8362950" y="3082924"/>
            <a:ext cx="302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EA5A4"/>
                </a:solidFill>
              </a:defRPr>
            </a:pPr>
            <a:r>
              <a:rPr sz="2000" b="1" dirty="0">
                <a:solidFill>
                  <a:srgbClr val="0EA5A4"/>
                </a:solidFill>
              </a:rPr>
              <a:t>Track by user, IP, subnet, device, and rolling time window.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EB1DAA4-3753-4ACF-8848-B0481926EB73}"/>
              </a:ext>
            </a:extLst>
          </p:cNvPr>
          <p:cNvSpPr>
            <a:spLocks noGrp="1"/>
          </p:cNvSpPr>
          <p:nvPr/>
        </p:nvSpPr>
        <p:spPr>
          <a:xfrm>
            <a:off x="836295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Operational hardening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A7DEB74-2A96-41A2-9B3A-691F6C38E98F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DCD76E4-4B2F-41C1-8B64-FA4EAB2B5344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66675" cy="457200"/>
          </a:xfrm>
          <a:prstGeom prst="rect">
            <a:avLst/>
          </a:prstGeom>
          <a:solidFill>
            <a:srgbClr val="FFB020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F6B4951-9A5D-452C-ADEA-B76B2E0DBC20}"/>
              </a:ext>
            </a:extLst>
          </p:cNvPr>
          <p:cNvSpPr>
            <a:spLocks noGrp="1"/>
          </p:cNvSpPr>
          <p:nvPr/>
        </p:nvSpPr>
        <p:spPr>
          <a:xfrm>
            <a:off x="914400" y="55340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High failure rate is evidence, not proof; lockouts, password resets, and outages can mimic it.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DDA17EC-0D33-4C12-9C5A-159D32EE346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829D483-49A1-44A0-B6F3-C579F8735D7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9F75F61-CD62-43E4-A85A-8503DBE349D4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333308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BE3177EA-4AE8-9EC4-C11E-C8A0F31A26ED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A77E08A-8BAE-E75F-6D87-BA762468A86D}"/>
              </a:ext>
            </a:extLst>
          </p:cNvPr>
          <p:cNvSpPr>
            <a:spLocks noGrp="1"/>
          </p:cNvSpPr>
          <p:nvPr/>
        </p:nvSpPr>
        <p:spPr>
          <a:xfrm>
            <a:off x="87630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Why it matters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8D0FEFBC-12B2-1200-D8F0-DD8B859E248F}"/>
              </a:ext>
            </a:extLst>
          </p:cNvPr>
          <p:cNvSpPr>
            <a:spLocks noGrp="1"/>
          </p:cNvSpPr>
          <p:nvPr/>
        </p:nvSpPr>
        <p:spPr>
          <a:xfrm>
            <a:off x="4429125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C6CD94B-D4BD-A35D-C5D7-34227F1108AC}"/>
              </a:ext>
            </a:extLst>
          </p:cNvPr>
          <p:cNvSpPr>
            <a:spLocks noGrp="1"/>
          </p:cNvSpPr>
          <p:nvPr/>
        </p:nvSpPr>
        <p:spPr>
          <a:xfrm>
            <a:off x="4619625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Notebook feature logic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51EFF2EE-5D3D-1934-6165-EDADEED16117}"/>
              </a:ext>
            </a:extLst>
          </p:cNvPr>
          <p:cNvSpPr>
            <a:spLocks noGrp="1"/>
          </p:cNvSpPr>
          <p:nvPr/>
        </p:nvSpPr>
        <p:spPr>
          <a:xfrm>
            <a:off x="8172450" y="2666999"/>
            <a:ext cx="3333750" cy="1781175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667A7E-BFB4-483F-B02E-95728D08DBD5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8ED3FE7-FA4D-464E-B68E-4B799C344B47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89A5BDE-136A-4DBC-9FF0-030B4728F509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26772D2-4C55-4C41-80B6-23AAF54B26C1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IP velocity reveals distributed access patterns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4F83862-D7F2-4199-B52E-50032B69D05D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Definition: unique IP addresses divided by total attempts.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4B339E9-D87B-40AA-9CB6-477CD600B46B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Business meaning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1DE9003-D44B-43D9-84BF-3403164DBDAA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A582D"/>
                </a:solidFill>
              </a:defRPr>
            </a:pPr>
            <a:r>
              <a:rPr sz="2000" b="1" dirty="0">
                <a:solidFill>
                  <a:srgbClr val="FA582D"/>
                </a:solidFill>
              </a:rPr>
              <a:t>Infrastructure rotation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EFBB7B3-65FF-4DCF-A752-539C538C0A05}"/>
              </a:ext>
            </a:extLst>
          </p:cNvPr>
          <p:cNvSpPr>
            <a:spLocks noGrp="1"/>
          </p:cNvSpPr>
          <p:nvPr/>
        </p:nvSpPr>
        <p:spPr>
          <a:xfrm>
            <a:off x="4619625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Formula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6A29100-0116-4E20-832F-082DF3EFD3E6}"/>
              </a:ext>
            </a:extLst>
          </p:cNvPr>
          <p:cNvSpPr>
            <a:spLocks noGrp="1"/>
          </p:cNvSpPr>
          <p:nvPr/>
        </p:nvSpPr>
        <p:spPr>
          <a:xfrm>
            <a:off x="4619625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000" b="1" dirty="0" err="1">
                <a:solidFill>
                  <a:srgbClr val="000000"/>
                </a:solidFill>
              </a:rPr>
              <a:t>unique_ips</a:t>
            </a:r>
            <a:r>
              <a:rPr sz="2000" b="1" dirty="0">
                <a:solidFill>
                  <a:srgbClr val="000000"/>
                </a:solidFill>
              </a:rPr>
              <a:t> / attempts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EA23AA6-0E73-4C7C-B666-E1B2FD5B44C2}"/>
              </a:ext>
            </a:extLst>
          </p:cNvPr>
          <p:cNvSpPr>
            <a:spLocks noGrp="1"/>
          </p:cNvSpPr>
          <p:nvPr/>
        </p:nvSpPr>
        <p:spPr>
          <a:xfrm>
            <a:off x="836295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Production version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A3AE038-DCA0-4358-B767-01A7E256F562}"/>
              </a:ext>
            </a:extLst>
          </p:cNvPr>
          <p:cNvSpPr>
            <a:spLocks noGrp="1"/>
          </p:cNvSpPr>
          <p:nvPr/>
        </p:nvSpPr>
        <p:spPr>
          <a:xfrm>
            <a:off x="8362950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EA5A4"/>
                </a:solidFill>
              </a:defRPr>
            </a:pPr>
            <a:r>
              <a:rPr sz="2000" b="1" dirty="0">
                <a:solidFill>
                  <a:srgbClr val="0EA5A4"/>
                </a:solidFill>
              </a:rPr>
              <a:t>Compare against each user's historical baseline and ASN/geography.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A17B9931-C17D-4F34-9563-CEF5174948AE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D72046B-EAA7-40E7-85C7-8326E8DF50C9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66675" cy="457200"/>
          </a:xfrm>
          <a:prstGeom prst="rect">
            <a:avLst/>
          </a:prstGeom>
          <a:solidFill>
            <a:srgbClr val="FFB020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9E3F699-84C9-47BB-953D-F124FA34A302}"/>
              </a:ext>
            </a:extLst>
          </p:cNvPr>
          <p:cNvSpPr>
            <a:spLocks noGrp="1"/>
          </p:cNvSpPr>
          <p:nvPr/>
        </p:nvSpPr>
        <p:spPr>
          <a:xfrm>
            <a:off x="914400" y="55340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This dataset has high IP spread broadly, so the threshold needs calibration by population and user segment.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A56D3B7-44D7-4693-B3B5-9BA63787813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8585371-5950-4FC0-BAF2-A58C83B8903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F6BAA09-26AA-4A85-959B-41933773EAD3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3C0AB15-4713-1792-9001-91331AF17F3F}"/>
              </a:ext>
            </a:extLst>
          </p:cNvPr>
          <p:cNvSpPr>
            <a:spLocks noGrp="1"/>
          </p:cNvSpPr>
          <p:nvPr/>
        </p:nvSpPr>
        <p:spPr>
          <a:xfrm>
            <a:off x="836295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Operational hardening</a:t>
            </a:r>
          </a:p>
        </p:txBody>
      </p:sp>
    </p:spTree>
    <p:extLst>
      <p:ext uri="{BB962C8B-B14F-4D97-AF65-F5344CB8AC3E}">
        <p14:creationId xmlns:p14="http://schemas.microsoft.com/office/powerpoint/2010/main" val="2037812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3D7CB8C4-0543-45F8-08FE-9149FEC23191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4BB2D2E-45F7-973D-EFE3-AD543C11ECC3}"/>
              </a:ext>
            </a:extLst>
          </p:cNvPr>
          <p:cNvSpPr>
            <a:spLocks noGrp="1"/>
          </p:cNvSpPr>
          <p:nvPr/>
        </p:nvSpPr>
        <p:spPr>
          <a:xfrm>
            <a:off x="87630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Why it matters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19D6A552-784E-1560-54CE-839382AA51E5}"/>
              </a:ext>
            </a:extLst>
          </p:cNvPr>
          <p:cNvSpPr>
            <a:spLocks noGrp="1"/>
          </p:cNvSpPr>
          <p:nvPr/>
        </p:nvSpPr>
        <p:spPr>
          <a:xfrm>
            <a:off x="4429125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D4B78D0-4FCD-1A39-A6DE-966E8BE8CB9D}"/>
              </a:ext>
            </a:extLst>
          </p:cNvPr>
          <p:cNvSpPr>
            <a:spLocks noGrp="1"/>
          </p:cNvSpPr>
          <p:nvPr/>
        </p:nvSpPr>
        <p:spPr>
          <a:xfrm>
            <a:off x="4619625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Notebook feature logic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3BC4C7E-BD98-0657-39FF-E97AC6F4E26D}"/>
              </a:ext>
            </a:extLst>
          </p:cNvPr>
          <p:cNvSpPr>
            <a:spLocks noGrp="1"/>
          </p:cNvSpPr>
          <p:nvPr/>
        </p:nvSpPr>
        <p:spPr>
          <a:xfrm>
            <a:off x="8172450" y="2666999"/>
            <a:ext cx="3333750" cy="1781175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FA3339A-C418-3A04-C75A-991B78435ACD}"/>
              </a:ext>
            </a:extLst>
          </p:cNvPr>
          <p:cNvSpPr>
            <a:spLocks noGrp="1"/>
          </p:cNvSpPr>
          <p:nvPr/>
        </p:nvSpPr>
        <p:spPr>
          <a:xfrm>
            <a:off x="836295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Operational hardening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F7280B-E619-47A6-969F-E797E3C46F1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3EFC70-F508-40D7-87BF-AEAE1F96219E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30F53D5-DBAD-4334-9459-EBE212CB17C3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EF001C1-137A-481A-B347-4557110B0F17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Unique IP count identifies accounts with unusually wide source spread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FF53D6B-D5FB-48EE-A50E-0D84E68D1634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Definition: count of distinct source IPs by user.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CA09DA-62FA-4E79-8D07-A95AC5332F86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Business meaning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EB5519F-EA14-4387-AC01-0628C880B6E8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A582D"/>
                </a:solidFill>
              </a:defRPr>
            </a:pPr>
            <a:r>
              <a:rPr sz="2000" b="1" dirty="0">
                <a:solidFill>
                  <a:srgbClr val="FA582D"/>
                </a:solidFill>
              </a:rPr>
              <a:t>Account sharing or botnet activity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5D5C7DF-200A-4804-A0A9-F3E42E9623B5}"/>
              </a:ext>
            </a:extLst>
          </p:cNvPr>
          <p:cNvSpPr>
            <a:spLocks noGrp="1"/>
          </p:cNvSpPr>
          <p:nvPr/>
        </p:nvSpPr>
        <p:spPr>
          <a:xfrm>
            <a:off x="4619625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Formula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BD7FF90-7569-4145-AEB7-28DA3F4C31BC}"/>
              </a:ext>
            </a:extLst>
          </p:cNvPr>
          <p:cNvSpPr>
            <a:spLocks noGrp="1"/>
          </p:cNvSpPr>
          <p:nvPr/>
        </p:nvSpPr>
        <p:spPr>
          <a:xfrm>
            <a:off x="4619625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000" b="1" dirty="0" err="1">
                <a:solidFill>
                  <a:srgbClr val="000000"/>
                </a:solidFill>
              </a:rPr>
              <a:t>nunique</a:t>
            </a:r>
            <a:r>
              <a:rPr sz="2000" b="1" dirty="0">
                <a:solidFill>
                  <a:srgbClr val="000000"/>
                </a:solidFill>
              </a:rPr>
              <a:t>(</a:t>
            </a:r>
            <a:r>
              <a:rPr sz="2000" b="1" dirty="0" err="1">
                <a:solidFill>
                  <a:srgbClr val="000000"/>
                </a:solidFill>
              </a:rPr>
              <a:t>ip</a:t>
            </a:r>
            <a:r>
              <a:rPr sz="2000" b="1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1112981-067D-418B-9A74-1BC0A990935C}"/>
              </a:ext>
            </a:extLst>
          </p:cNvPr>
          <p:cNvSpPr>
            <a:spLocks noGrp="1"/>
          </p:cNvSpPr>
          <p:nvPr/>
        </p:nvSpPr>
        <p:spPr>
          <a:xfrm>
            <a:off x="836295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Production version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25B3823-2ED6-4368-9078-2E62AC467E4D}"/>
              </a:ext>
            </a:extLst>
          </p:cNvPr>
          <p:cNvSpPr>
            <a:spLocks noGrp="1"/>
          </p:cNvSpPr>
          <p:nvPr/>
        </p:nvSpPr>
        <p:spPr>
          <a:xfrm>
            <a:off x="8362950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EA5A4"/>
                </a:solidFill>
              </a:defRPr>
            </a:pPr>
            <a:r>
              <a:rPr sz="2000" b="1" dirty="0">
                <a:solidFill>
                  <a:srgbClr val="0EA5A4"/>
                </a:solidFill>
              </a:rPr>
              <a:t>Normalize by active days, device consistency, ASN, and geography.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ACA92D8E-9462-4F3B-9598-09D9FDDB2EDE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56F7F06-6625-4B99-BCD1-CC1DE043F448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66675" cy="457200"/>
          </a:xfrm>
          <a:prstGeom prst="rect">
            <a:avLst/>
          </a:prstGeom>
          <a:solidFill>
            <a:srgbClr val="FFB020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020B836-45DD-4154-B228-B3294940BADC}"/>
              </a:ext>
            </a:extLst>
          </p:cNvPr>
          <p:cNvSpPr>
            <a:spLocks noGrp="1"/>
          </p:cNvSpPr>
          <p:nvPr/>
        </p:nvSpPr>
        <p:spPr>
          <a:xfrm>
            <a:off x="914400" y="55340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Travel and VPN usage can inflate the count without being malicious.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CBB23F2-D397-4EC7-9A01-68B6B8CC72A4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C276231-B105-4957-87AA-D03F9D9F284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C46B857-A433-491B-9677-87BA1919B292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008127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3782663D-ACBB-DECD-189B-5D805FE2F901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F9F3909-D7DF-7C29-D45D-A3B2D70060E9}"/>
              </a:ext>
            </a:extLst>
          </p:cNvPr>
          <p:cNvSpPr>
            <a:spLocks noGrp="1"/>
          </p:cNvSpPr>
          <p:nvPr/>
        </p:nvSpPr>
        <p:spPr>
          <a:xfrm>
            <a:off x="87630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Why it matters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BCDF8F29-E11B-B619-5BA2-21CCE5EFD2AD}"/>
              </a:ext>
            </a:extLst>
          </p:cNvPr>
          <p:cNvSpPr>
            <a:spLocks noGrp="1"/>
          </p:cNvSpPr>
          <p:nvPr/>
        </p:nvSpPr>
        <p:spPr>
          <a:xfrm>
            <a:off x="4429125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D500E0D-8D3A-74FB-7C09-14D0C8B5C557}"/>
              </a:ext>
            </a:extLst>
          </p:cNvPr>
          <p:cNvSpPr>
            <a:spLocks noGrp="1"/>
          </p:cNvSpPr>
          <p:nvPr/>
        </p:nvSpPr>
        <p:spPr>
          <a:xfrm>
            <a:off x="4619625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Notebook feature logic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67E9BCAF-6081-3B96-C53A-2C318F582AE1}"/>
              </a:ext>
            </a:extLst>
          </p:cNvPr>
          <p:cNvSpPr>
            <a:spLocks noGrp="1"/>
          </p:cNvSpPr>
          <p:nvPr/>
        </p:nvSpPr>
        <p:spPr>
          <a:xfrm>
            <a:off x="8172450" y="2666999"/>
            <a:ext cx="3333750" cy="1781175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CACFE83-55DE-7BC2-2C2F-4CF9A0F447CF}"/>
              </a:ext>
            </a:extLst>
          </p:cNvPr>
          <p:cNvSpPr>
            <a:spLocks noGrp="1"/>
          </p:cNvSpPr>
          <p:nvPr/>
        </p:nvSpPr>
        <p:spPr>
          <a:xfrm>
            <a:off x="836295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Operational hardening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2D4179-1332-4540-9567-0580AD7C6331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DBFB66F-036D-4255-AE0A-4253DC6379AE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87DDA6-EF99-41B5-834C-E5BAF4A09772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2887511-2E07-4B3C-8AD9-472C9EF35ABA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Attempt velocity catches bursts no human can generate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DE85CBF-B76B-49ED-AEBE-DC591F6A386D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Definition: attempts per second, minute, or short time window.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D018F28-B3AF-4A39-A634-D5B7AD202EE2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Business meaning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2E1C690-D935-4BD5-9366-E04F3A3B7AB7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A582D"/>
                </a:solidFill>
              </a:defRPr>
            </a:pPr>
            <a:r>
              <a:rPr sz="2000" b="1" dirty="0">
                <a:solidFill>
                  <a:srgbClr val="FA582D"/>
                </a:solidFill>
              </a:rPr>
              <a:t>Automation and brute force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40FBE66-F548-4A0A-839B-4399ACC6D4FA}"/>
              </a:ext>
            </a:extLst>
          </p:cNvPr>
          <p:cNvSpPr>
            <a:spLocks noGrp="1"/>
          </p:cNvSpPr>
          <p:nvPr/>
        </p:nvSpPr>
        <p:spPr>
          <a:xfrm>
            <a:off x="4619625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Formula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32AD63C-C6FD-40C6-A9C1-BEB2F930A057}"/>
              </a:ext>
            </a:extLst>
          </p:cNvPr>
          <p:cNvSpPr>
            <a:spLocks noGrp="1"/>
          </p:cNvSpPr>
          <p:nvPr/>
        </p:nvSpPr>
        <p:spPr>
          <a:xfrm>
            <a:off x="4619625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000" b="1" dirty="0">
                <a:solidFill>
                  <a:srgbClr val="000000"/>
                </a:solidFill>
              </a:rPr>
              <a:t>count in time bucket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38FB38B-C351-49D2-8868-3A413D5062D2}"/>
              </a:ext>
            </a:extLst>
          </p:cNvPr>
          <p:cNvSpPr>
            <a:spLocks noGrp="1"/>
          </p:cNvSpPr>
          <p:nvPr/>
        </p:nvSpPr>
        <p:spPr>
          <a:xfrm>
            <a:off x="836295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 dirty="0">
                <a:solidFill>
                  <a:srgbClr val="6F6F6F"/>
                </a:solidFill>
              </a:rPr>
              <a:t>Production version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94ADDD4-A38D-4BA8-9A40-CC1363E10BE4}"/>
              </a:ext>
            </a:extLst>
          </p:cNvPr>
          <p:cNvSpPr>
            <a:spLocks noGrp="1"/>
          </p:cNvSpPr>
          <p:nvPr/>
        </p:nvSpPr>
        <p:spPr>
          <a:xfrm>
            <a:off x="8362950" y="3086100"/>
            <a:ext cx="304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EA5A4"/>
                </a:solidFill>
              </a:defRPr>
            </a:pPr>
            <a:r>
              <a:rPr sz="2000" b="1" dirty="0">
                <a:solidFill>
                  <a:srgbClr val="0EA5A4"/>
                </a:solidFill>
              </a:rPr>
              <a:t>Use per-user, per-IP, and per-subnet rate limits with idempotent event IDs.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266ED12A-CEB6-43C4-AFA3-6F3EC15C87B8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96AEEE5-FBF1-4401-BB90-B60F95F678B9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66675" cy="457200"/>
          </a:xfrm>
          <a:prstGeom prst="rect">
            <a:avLst/>
          </a:prstGeom>
          <a:solidFill>
            <a:srgbClr val="FFB020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F498934-AC8E-476A-AFF3-E84E538B2A68}"/>
              </a:ext>
            </a:extLst>
          </p:cNvPr>
          <p:cNvSpPr>
            <a:spLocks noGrp="1"/>
          </p:cNvSpPr>
          <p:nvPr/>
        </p:nvSpPr>
        <p:spPr>
          <a:xfrm>
            <a:off x="914400" y="55340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Clock precision and duplicate ingestion must be validated before containment.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444CB76-8182-4DF6-B6AF-B7A135491181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486F617-DBF4-4CFD-93DA-E60AEE1F19A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3AA32B9-6A08-4CC3-80C9-F5F7EA311ABB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380586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9019ED44-95A0-DCFF-DBFD-A3DA7AE436E2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1CF66CB-B9AF-1AA5-FE07-FD7E2531397C}"/>
              </a:ext>
            </a:extLst>
          </p:cNvPr>
          <p:cNvSpPr>
            <a:spLocks noGrp="1"/>
          </p:cNvSpPr>
          <p:nvPr/>
        </p:nvSpPr>
        <p:spPr>
          <a:xfrm>
            <a:off x="87630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Why it matters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2B5550E3-905F-7F24-3455-82DFE50383B7}"/>
              </a:ext>
            </a:extLst>
          </p:cNvPr>
          <p:cNvSpPr>
            <a:spLocks noGrp="1"/>
          </p:cNvSpPr>
          <p:nvPr/>
        </p:nvSpPr>
        <p:spPr>
          <a:xfrm>
            <a:off x="4429125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1B59A81-3AB1-328C-22EC-B14691619DA4}"/>
              </a:ext>
            </a:extLst>
          </p:cNvPr>
          <p:cNvSpPr>
            <a:spLocks noGrp="1"/>
          </p:cNvSpPr>
          <p:nvPr/>
        </p:nvSpPr>
        <p:spPr>
          <a:xfrm>
            <a:off x="4619625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Notebook feature logic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0F2593DD-00E0-0F06-473D-9A9B5F834D52}"/>
              </a:ext>
            </a:extLst>
          </p:cNvPr>
          <p:cNvSpPr>
            <a:spLocks noGrp="1"/>
          </p:cNvSpPr>
          <p:nvPr/>
        </p:nvSpPr>
        <p:spPr>
          <a:xfrm>
            <a:off x="8172450" y="2666999"/>
            <a:ext cx="3333750" cy="1781175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79F01C3-9D82-5305-AD67-D0B847F9000A}"/>
              </a:ext>
            </a:extLst>
          </p:cNvPr>
          <p:cNvSpPr>
            <a:spLocks noGrp="1"/>
          </p:cNvSpPr>
          <p:nvPr/>
        </p:nvSpPr>
        <p:spPr>
          <a:xfrm>
            <a:off x="836295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Operational hardening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D55B581-633A-48D0-92BE-99398498680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8C99C62-C854-4840-BF05-7936511811E1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3BB3D47-21E5-440A-8E15-D4DD65C41DA9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17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9CE3422-B0C8-4C58-A296-176072DAC970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Off-hours access is a weak signal until combined with novelty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DD3952F-7F5F-463D-A1F9-6D0D321A109E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Definition: login outside expected working window.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CEBD879-D199-46D0-8D10-1E1DE569740E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Business meaning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77986AA-8F30-4DE5-8532-831A43FCFAF0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A582D"/>
                </a:solidFill>
              </a:defRPr>
            </a:pPr>
            <a:r>
              <a:rPr sz="2000" b="1" dirty="0" err="1">
                <a:solidFill>
                  <a:srgbClr val="FA582D"/>
                </a:solidFill>
              </a:rPr>
              <a:t>Timezone</a:t>
            </a:r>
            <a:r>
              <a:rPr sz="2000" b="1" dirty="0">
                <a:solidFill>
                  <a:srgbClr val="FA582D"/>
                </a:solidFill>
              </a:rPr>
              <a:t> or compromise clue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54D0D82-BE28-4CB4-8BB6-991C5F4C85F1}"/>
              </a:ext>
            </a:extLst>
          </p:cNvPr>
          <p:cNvSpPr>
            <a:spLocks noGrp="1"/>
          </p:cNvSpPr>
          <p:nvPr/>
        </p:nvSpPr>
        <p:spPr>
          <a:xfrm>
            <a:off x="4619625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Formula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BDA80DA-E28F-4990-B541-67A9F1321391}"/>
              </a:ext>
            </a:extLst>
          </p:cNvPr>
          <p:cNvSpPr>
            <a:spLocks noGrp="1"/>
          </p:cNvSpPr>
          <p:nvPr/>
        </p:nvSpPr>
        <p:spPr>
          <a:xfrm>
            <a:off x="4619625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000" b="1">
                <a:solidFill>
                  <a:srgbClr val="000000"/>
                </a:solidFill>
              </a:rPr>
              <a:t>hour &lt; 6 or outside profile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D73D1D7-5E1B-413F-9914-AD3DC7B0E8E4}"/>
              </a:ext>
            </a:extLst>
          </p:cNvPr>
          <p:cNvSpPr>
            <a:spLocks noGrp="1"/>
          </p:cNvSpPr>
          <p:nvPr/>
        </p:nvSpPr>
        <p:spPr>
          <a:xfrm>
            <a:off x="836295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Production version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084E285-E789-41F1-92AC-F17D303F02E9}"/>
              </a:ext>
            </a:extLst>
          </p:cNvPr>
          <p:cNvSpPr>
            <a:spLocks noGrp="1"/>
          </p:cNvSpPr>
          <p:nvPr/>
        </p:nvSpPr>
        <p:spPr>
          <a:xfrm>
            <a:off x="8362950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EA5A4"/>
                </a:solidFill>
              </a:defRPr>
            </a:pPr>
            <a:r>
              <a:rPr sz="2000" b="1" dirty="0">
                <a:solidFill>
                  <a:srgbClr val="0EA5A4"/>
                </a:solidFill>
              </a:rPr>
              <a:t>Learn per-user temporal profiles and combine with new IP/device/MFA signals.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036C6FFD-66D8-48ED-BAC1-1FB52093471D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E0C1FAE-A786-4FBE-AD70-457D8154B108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66675" cy="457200"/>
          </a:xfrm>
          <a:prstGeom prst="rect">
            <a:avLst/>
          </a:prstGeom>
          <a:solidFill>
            <a:srgbClr val="FFB020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ADBE0E3-CDAE-425E-BA88-2A24F6FD24E4}"/>
              </a:ext>
            </a:extLst>
          </p:cNvPr>
          <p:cNvSpPr>
            <a:spLocks noGrp="1"/>
          </p:cNvSpPr>
          <p:nvPr/>
        </p:nvSpPr>
        <p:spPr>
          <a:xfrm>
            <a:off x="914400" y="55340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Remote teams, on-call work, and travel all create legitimate exceptions.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C78DBB5-3843-479F-8AE5-2E85D576F06B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35624D3-A67E-474F-89C3-83DA59DE032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1CE292D-6085-4F0D-AF00-EFEE9E8BA83A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730839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02660B56-BD58-DDF7-1453-9E1EE642A6BE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0D9C586-D4F5-61C6-A89D-04FB879EF0E8}"/>
              </a:ext>
            </a:extLst>
          </p:cNvPr>
          <p:cNvSpPr>
            <a:spLocks noGrp="1"/>
          </p:cNvSpPr>
          <p:nvPr/>
        </p:nvSpPr>
        <p:spPr>
          <a:xfrm>
            <a:off x="87630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Why it matters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6FE11E79-13CC-6F7F-E1AB-99966268721C}"/>
              </a:ext>
            </a:extLst>
          </p:cNvPr>
          <p:cNvSpPr>
            <a:spLocks noGrp="1"/>
          </p:cNvSpPr>
          <p:nvPr/>
        </p:nvSpPr>
        <p:spPr>
          <a:xfrm>
            <a:off x="4429125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36C7B4-724F-91CF-3DE3-C706AD17E543}"/>
              </a:ext>
            </a:extLst>
          </p:cNvPr>
          <p:cNvSpPr>
            <a:spLocks noGrp="1"/>
          </p:cNvSpPr>
          <p:nvPr/>
        </p:nvSpPr>
        <p:spPr>
          <a:xfrm>
            <a:off x="4619625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Notebook feature logic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FCD97CC2-E345-FA93-744B-BFB671D9E2AB}"/>
              </a:ext>
            </a:extLst>
          </p:cNvPr>
          <p:cNvSpPr>
            <a:spLocks noGrp="1"/>
          </p:cNvSpPr>
          <p:nvPr/>
        </p:nvSpPr>
        <p:spPr>
          <a:xfrm>
            <a:off x="8172450" y="2666999"/>
            <a:ext cx="3333750" cy="1781175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DFA3113-5B9D-C8A5-5EC6-2B0B0F6CF561}"/>
              </a:ext>
            </a:extLst>
          </p:cNvPr>
          <p:cNvSpPr>
            <a:spLocks noGrp="1"/>
          </p:cNvSpPr>
          <p:nvPr/>
        </p:nvSpPr>
        <p:spPr>
          <a:xfrm>
            <a:off x="836295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Operational hardening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7034C5D-973F-48E6-B6E1-F7325CA03D3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DD5247B-554E-4C81-A132-E1C7041A4E8B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302555D-9D02-49FF-9A6B-27C4BA2209EE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18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2B7466D-BDE0-4D68-9B1D-B597A8A11DBB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 daily baseline turns spikes into measurable deviations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6A80C9-2083-475C-86F8-7B84E7EC8796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Definition: normal daily attempts, failures, and failure rate.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C53FF83-B1FD-498A-BA44-D5CFB662F1BB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Business meaning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B89AAE-5134-4FE1-A659-E12BF4E7B921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A582D"/>
                </a:solidFill>
              </a:defRPr>
            </a:pPr>
            <a:r>
              <a:rPr sz="2250" b="1" dirty="0">
                <a:solidFill>
                  <a:srgbClr val="FA582D"/>
                </a:solidFill>
              </a:rPr>
              <a:t>System-level incident </a:t>
            </a:r>
            <a:r>
              <a:rPr sz="2000" b="1" dirty="0">
                <a:solidFill>
                  <a:srgbClr val="FA582D"/>
                </a:solidFill>
              </a:rPr>
              <a:t>detection</a:t>
            </a:r>
            <a:endParaRPr sz="2250" b="1" dirty="0">
              <a:solidFill>
                <a:srgbClr val="FA582D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8ABE7B0-26E5-4046-ACA5-03900875BD7A}"/>
              </a:ext>
            </a:extLst>
          </p:cNvPr>
          <p:cNvSpPr>
            <a:spLocks noGrp="1"/>
          </p:cNvSpPr>
          <p:nvPr/>
        </p:nvSpPr>
        <p:spPr>
          <a:xfrm>
            <a:off x="4619625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Formula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DBECEFD-709F-41E3-B45A-9A1A8295D535}"/>
              </a:ext>
            </a:extLst>
          </p:cNvPr>
          <p:cNvSpPr>
            <a:spLocks noGrp="1"/>
          </p:cNvSpPr>
          <p:nvPr/>
        </p:nvSpPr>
        <p:spPr>
          <a:xfrm>
            <a:off x="4619625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000" b="1" dirty="0">
                <a:solidFill>
                  <a:srgbClr val="000000"/>
                </a:solidFill>
              </a:rPr>
              <a:t>daily metric vs baseline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8F0329A-6FAB-453B-A53F-631C7C38C4E3}"/>
              </a:ext>
            </a:extLst>
          </p:cNvPr>
          <p:cNvSpPr>
            <a:spLocks noGrp="1"/>
          </p:cNvSpPr>
          <p:nvPr/>
        </p:nvSpPr>
        <p:spPr>
          <a:xfrm>
            <a:off x="836295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Production version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C692041-46B3-46A5-B6CF-D7438D5D1A1D}"/>
              </a:ext>
            </a:extLst>
          </p:cNvPr>
          <p:cNvSpPr>
            <a:spLocks noGrp="1"/>
          </p:cNvSpPr>
          <p:nvPr/>
        </p:nvSpPr>
        <p:spPr>
          <a:xfrm>
            <a:off x="8362950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EA5A4"/>
                </a:solidFill>
              </a:defRPr>
            </a:pPr>
            <a:r>
              <a:rPr sz="2000" b="1" dirty="0">
                <a:solidFill>
                  <a:srgbClr val="0EA5A4"/>
                </a:solidFill>
              </a:rPr>
              <a:t>Use rolling windows, seasonality, and deployment calendars.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17BF3DFF-CF78-4DC8-A146-1D5C443075B9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44F37AF-9278-4D7B-9C43-10579AE192EC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66675" cy="457200"/>
          </a:xfrm>
          <a:prstGeom prst="rect">
            <a:avLst/>
          </a:prstGeom>
          <a:solidFill>
            <a:srgbClr val="FFB020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390EDFA-C76D-4A11-BBA0-4439AA1D8F7D}"/>
              </a:ext>
            </a:extLst>
          </p:cNvPr>
          <p:cNvSpPr>
            <a:spLocks noGrp="1"/>
          </p:cNvSpPr>
          <p:nvPr/>
        </p:nvSpPr>
        <p:spPr>
          <a:xfrm>
            <a:off x="914400" y="55340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 static baseline breaks when seasonality, growth, or campaigns change behavior.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89F68AE-AD7A-44B7-A94C-379EBBEC68C8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25BF26F-4E58-4B9A-832D-E5320294F81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471566F-0E09-42C0-AA1D-250C953F6330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94872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04F2E26-45B3-0899-0E3A-197D28006516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650BE1F-B395-B3BB-4BC6-661F3230ACBB}"/>
              </a:ext>
            </a:extLst>
          </p:cNvPr>
          <p:cNvSpPr>
            <a:spLocks noGrp="1"/>
          </p:cNvSpPr>
          <p:nvPr/>
        </p:nvSpPr>
        <p:spPr>
          <a:xfrm>
            <a:off x="87630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Why it matters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28A57516-70F9-1333-E8F7-F096A51BB1F4}"/>
              </a:ext>
            </a:extLst>
          </p:cNvPr>
          <p:cNvSpPr>
            <a:spLocks noGrp="1"/>
          </p:cNvSpPr>
          <p:nvPr/>
        </p:nvSpPr>
        <p:spPr>
          <a:xfrm>
            <a:off x="4429125" y="2667000"/>
            <a:ext cx="3333750" cy="178117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5A1518E-B61A-E519-BAF8-278101D34E9E}"/>
              </a:ext>
            </a:extLst>
          </p:cNvPr>
          <p:cNvSpPr>
            <a:spLocks noGrp="1"/>
          </p:cNvSpPr>
          <p:nvPr/>
        </p:nvSpPr>
        <p:spPr>
          <a:xfrm>
            <a:off x="4619625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Notebook feature logic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75ED12C9-3188-B568-9528-31B4087D39B2}"/>
              </a:ext>
            </a:extLst>
          </p:cNvPr>
          <p:cNvSpPr>
            <a:spLocks noGrp="1"/>
          </p:cNvSpPr>
          <p:nvPr/>
        </p:nvSpPr>
        <p:spPr>
          <a:xfrm>
            <a:off x="8172450" y="2666999"/>
            <a:ext cx="3333750" cy="1781175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87B21DE-AB1F-7A65-93B2-63DC12C53939}"/>
              </a:ext>
            </a:extLst>
          </p:cNvPr>
          <p:cNvSpPr>
            <a:spLocks noGrp="1"/>
          </p:cNvSpPr>
          <p:nvPr/>
        </p:nvSpPr>
        <p:spPr>
          <a:xfrm>
            <a:off x="8362950" y="40862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 dirty="0">
                <a:solidFill>
                  <a:srgbClr val="6F6F6F"/>
                </a:solidFill>
              </a:rPr>
              <a:t>Operational hardening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D3FE61A-0174-48B0-821C-736F0114FF41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4BEDFAE-46E6-459A-9A0B-F13669EBA3AC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A25755-D1A5-4895-9538-A0C2AB0CEA4D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19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0701AD9-343E-48F5-A17B-00F50C81AA54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Composite risk should prioritize review, not replace judgment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57047F2-C6EF-4004-88D5-6B66B34A7E45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Definition: interpretable weighted combination of behavioral signals.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853182E-5C38-41E0-9BD2-7FD8DA0DDC2B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Business meaning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1B250EF-A131-47CE-A35B-0CC005EA5414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A582D"/>
                </a:solidFill>
              </a:defRPr>
            </a:pPr>
            <a:r>
              <a:rPr sz="2000" b="1">
                <a:solidFill>
                  <a:srgbClr val="FA582D"/>
                </a:solidFill>
              </a:rPr>
              <a:t>SOC queue ranking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37A1C06-8DF6-4A60-8083-04469DA30381}"/>
              </a:ext>
            </a:extLst>
          </p:cNvPr>
          <p:cNvSpPr>
            <a:spLocks noGrp="1"/>
          </p:cNvSpPr>
          <p:nvPr/>
        </p:nvSpPr>
        <p:spPr>
          <a:xfrm>
            <a:off x="4619625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Formula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BDCAB06-611F-4160-A0B4-7C9401AE0DA3}"/>
              </a:ext>
            </a:extLst>
          </p:cNvPr>
          <p:cNvSpPr>
            <a:spLocks noGrp="1"/>
          </p:cNvSpPr>
          <p:nvPr/>
        </p:nvSpPr>
        <p:spPr>
          <a:xfrm>
            <a:off x="4619625" y="30861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000" b="1">
                <a:solidFill>
                  <a:srgbClr val="000000"/>
                </a:solidFill>
              </a:rPr>
              <a:t>rule score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6A8347-E6EA-4D55-95B9-0F7632E091BB}"/>
              </a:ext>
            </a:extLst>
          </p:cNvPr>
          <p:cNvSpPr>
            <a:spLocks noGrp="1"/>
          </p:cNvSpPr>
          <p:nvPr/>
        </p:nvSpPr>
        <p:spPr>
          <a:xfrm>
            <a:off x="8362950" y="28384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Production version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2F3AEAC-8465-4967-A985-D33D684472FB}"/>
              </a:ext>
            </a:extLst>
          </p:cNvPr>
          <p:cNvSpPr>
            <a:spLocks noGrp="1"/>
          </p:cNvSpPr>
          <p:nvPr/>
        </p:nvSpPr>
        <p:spPr>
          <a:xfrm>
            <a:off x="8362950" y="3086100"/>
            <a:ext cx="3073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EA5A4"/>
                </a:solidFill>
              </a:defRPr>
            </a:pPr>
            <a:r>
              <a:rPr sz="2000" b="1" dirty="0">
                <a:solidFill>
                  <a:srgbClr val="0EA5A4"/>
                </a:solidFill>
              </a:rPr>
              <a:t>Calibrate with analyst labels, alert outcomes, and false-positive monitoring.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119AB1A7-B425-4E97-8126-34DFDB24D142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8C44A25-67DA-46EA-A55B-442F0040321F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66675" cy="457200"/>
          </a:xfrm>
          <a:prstGeom prst="rect">
            <a:avLst/>
          </a:prstGeom>
          <a:solidFill>
            <a:srgbClr val="FFB020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03E946B-C1F8-40A7-A733-F9C1DDC4C520}"/>
              </a:ext>
            </a:extLst>
          </p:cNvPr>
          <p:cNvSpPr>
            <a:spLocks noGrp="1"/>
          </p:cNvSpPr>
          <p:nvPr/>
        </p:nvSpPr>
        <p:spPr>
          <a:xfrm>
            <a:off x="914400" y="55340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Weights can encode bias and stale assumptions if feedback is not captured.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A89FA84-FFC8-447A-BF5B-5B0C617AD7F8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13E7F24-96A0-4C41-8397-B19680F0676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8CE0444-207D-47BD-BF4A-01DD5CC13B08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454754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Рисунок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ED91AB0-02CB-442F-BABB-DB89DA1814A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A983560-8747-4DC7-BE97-567E93BB7E51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F15536-2168-43B0-9F48-3F4973DEADD8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20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805D71-EB3E-4030-8FCA-4AC5099FAED6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anomalies map to a threat kill chain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D243FF5-0CB6-4E7F-A1B7-5E1FA634F6FF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398814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FF4C6C5-AD99-4C7C-A79E-0648CCA21FA7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117021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Recon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4812189-7C63-49B1-A8D5-D00438DE96DF}"/>
              </a:ext>
            </a:extLst>
          </p:cNvPr>
          <p:cNvSpPr>
            <a:spLocks noGrp="1"/>
          </p:cNvSpPr>
          <p:nvPr/>
        </p:nvSpPr>
        <p:spPr>
          <a:xfrm>
            <a:off x="2103664" y="1828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8A4A5C3-618D-4107-BF99-1293DB53D4DF}"/>
              </a:ext>
            </a:extLst>
          </p:cNvPr>
          <p:cNvSpPr>
            <a:spLocks noGrp="1"/>
          </p:cNvSpPr>
          <p:nvPr/>
        </p:nvSpPr>
        <p:spPr>
          <a:xfrm>
            <a:off x="2256064" y="1619250"/>
            <a:ext cx="1398814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FFA66D8-470A-44ED-B5A7-75708134533E}"/>
              </a:ext>
            </a:extLst>
          </p:cNvPr>
          <p:cNvSpPr>
            <a:spLocks noGrp="1"/>
          </p:cNvSpPr>
          <p:nvPr/>
        </p:nvSpPr>
        <p:spPr>
          <a:xfrm>
            <a:off x="2370364" y="1790700"/>
            <a:ext cx="117021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Password spray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988F01B-3F39-4DE2-843D-0263A56F1829}"/>
              </a:ext>
            </a:extLst>
          </p:cNvPr>
          <p:cNvSpPr>
            <a:spLocks noGrp="1"/>
          </p:cNvSpPr>
          <p:nvPr/>
        </p:nvSpPr>
        <p:spPr>
          <a:xfrm>
            <a:off x="3673929" y="1828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208B3B2-2041-4438-A8A5-9DED393EC470}"/>
              </a:ext>
            </a:extLst>
          </p:cNvPr>
          <p:cNvSpPr>
            <a:spLocks noGrp="1"/>
          </p:cNvSpPr>
          <p:nvPr/>
        </p:nvSpPr>
        <p:spPr>
          <a:xfrm>
            <a:off x="3826329" y="1619250"/>
            <a:ext cx="1398814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52431FC-D2E0-4942-BDA6-BE023CE32373}"/>
              </a:ext>
            </a:extLst>
          </p:cNvPr>
          <p:cNvSpPr>
            <a:spLocks noGrp="1"/>
          </p:cNvSpPr>
          <p:nvPr/>
        </p:nvSpPr>
        <p:spPr>
          <a:xfrm>
            <a:off x="3940629" y="1790700"/>
            <a:ext cx="117021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Credential stuffing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64B68BD-1BC6-4216-BFD8-6BBD6558CC2B}"/>
              </a:ext>
            </a:extLst>
          </p:cNvPr>
          <p:cNvSpPr>
            <a:spLocks noGrp="1"/>
          </p:cNvSpPr>
          <p:nvPr/>
        </p:nvSpPr>
        <p:spPr>
          <a:xfrm>
            <a:off x="5244193" y="1828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F5F2FE9-E8C9-4253-A7E3-27DA33A0D685}"/>
              </a:ext>
            </a:extLst>
          </p:cNvPr>
          <p:cNvSpPr>
            <a:spLocks noGrp="1"/>
          </p:cNvSpPr>
          <p:nvPr/>
        </p:nvSpPr>
        <p:spPr>
          <a:xfrm>
            <a:off x="5396593" y="1619250"/>
            <a:ext cx="1398814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77FF733-61D0-4F95-A77A-30216BC1A1CF}"/>
              </a:ext>
            </a:extLst>
          </p:cNvPr>
          <p:cNvSpPr>
            <a:spLocks noGrp="1"/>
          </p:cNvSpPr>
          <p:nvPr/>
        </p:nvSpPr>
        <p:spPr>
          <a:xfrm>
            <a:off x="5510893" y="1790700"/>
            <a:ext cx="117021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Successful login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66AA819-9264-4753-BEC0-A675495A4EBC}"/>
              </a:ext>
            </a:extLst>
          </p:cNvPr>
          <p:cNvSpPr>
            <a:spLocks noGrp="1"/>
          </p:cNvSpPr>
          <p:nvPr/>
        </p:nvSpPr>
        <p:spPr>
          <a:xfrm>
            <a:off x="6814457" y="1828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36088A11-040B-46FF-919E-3D51752E952C}"/>
              </a:ext>
            </a:extLst>
          </p:cNvPr>
          <p:cNvSpPr>
            <a:spLocks noGrp="1"/>
          </p:cNvSpPr>
          <p:nvPr/>
        </p:nvSpPr>
        <p:spPr>
          <a:xfrm>
            <a:off x="6966857" y="1619250"/>
            <a:ext cx="1398814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96E26BB-7232-448C-9898-2FEB4052472A}"/>
              </a:ext>
            </a:extLst>
          </p:cNvPr>
          <p:cNvSpPr>
            <a:spLocks noGrp="1"/>
          </p:cNvSpPr>
          <p:nvPr/>
        </p:nvSpPr>
        <p:spPr>
          <a:xfrm>
            <a:off x="7081157" y="1790700"/>
            <a:ext cx="117021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Persistence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F0C347E-C262-4635-BA79-C6606CC6D66B}"/>
              </a:ext>
            </a:extLst>
          </p:cNvPr>
          <p:cNvSpPr>
            <a:spLocks noGrp="1"/>
          </p:cNvSpPr>
          <p:nvPr/>
        </p:nvSpPr>
        <p:spPr>
          <a:xfrm>
            <a:off x="8384721" y="1828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168B5B2-2510-4BC4-BB4B-5C56529659A6}"/>
              </a:ext>
            </a:extLst>
          </p:cNvPr>
          <p:cNvSpPr>
            <a:spLocks noGrp="1"/>
          </p:cNvSpPr>
          <p:nvPr/>
        </p:nvSpPr>
        <p:spPr>
          <a:xfrm>
            <a:off x="8537121" y="1619250"/>
            <a:ext cx="1398814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AF15D8E-6BEB-4857-8170-FCAB39F6A0D1}"/>
              </a:ext>
            </a:extLst>
          </p:cNvPr>
          <p:cNvSpPr>
            <a:spLocks noGrp="1"/>
          </p:cNvSpPr>
          <p:nvPr/>
        </p:nvSpPr>
        <p:spPr>
          <a:xfrm>
            <a:off x="8651421" y="1790700"/>
            <a:ext cx="117021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Privilege escalation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0790377-EC09-4ACE-94DC-270790138D83}"/>
              </a:ext>
            </a:extLst>
          </p:cNvPr>
          <p:cNvSpPr>
            <a:spLocks noGrp="1"/>
          </p:cNvSpPr>
          <p:nvPr/>
        </p:nvSpPr>
        <p:spPr>
          <a:xfrm>
            <a:off x="9954986" y="1828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D60D9611-7263-4B67-B21A-81FD563F090E}"/>
              </a:ext>
            </a:extLst>
          </p:cNvPr>
          <p:cNvSpPr>
            <a:spLocks noGrp="1"/>
          </p:cNvSpPr>
          <p:nvPr/>
        </p:nvSpPr>
        <p:spPr>
          <a:xfrm>
            <a:off x="10107386" y="1619250"/>
            <a:ext cx="1398814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D50A4B7-A15E-4622-B87F-D863C13EDDAF}"/>
              </a:ext>
            </a:extLst>
          </p:cNvPr>
          <p:cNvSpPr>
            <a:spLocks noGrp="1"/>
          </p:cNvSpPr>
          <p:nvPr/>
        </p:nvSpPr>
        <p:spPr>
          <a:xfrm>
            <a:off x="10221686" y="1790700"/>
            <a:ext cx="117021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Data exfiltration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0000E72-ED4C-49C6-9808-2A4E45B35D8B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2381250" cy="4191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78D1EF8-4054-48E9-92F0-54D7ABC494E9}"/>
              </a:ext>
            </a:extLst>
          </p:cNvPr>
          <p:cNvSpPr>
            <a:spLocks noGrp="1"/>
          </p:cNvSpPr>
          <p:nvPr/>
        </p:nvSpPr>
        <p:spPr>
          <a:xfrm>
            <a:off x="781050" y="351472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8A34358-E17F-4E29-BC7E-6FBE9405C49F}"/>
              </a:ext>
            </a:extLst>
          </p:cNvPr>
          <p:cNvSpPr>
            <a:spLocks noGrp="1"/>
          </p:cNvSpPr>
          <p:nvPr/>
        </p:nvSpPr>
        <p:spPr>
          <a:xfrm>
            <a:off x="3067050" y="3429000"/>
            <a:ext cx="3905250" cy="4191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073D1FC-0F06-462E-9984-D53805948DB4}"/>
              </a:ext>
            </a:extLst>
          </p:cNvPr>
          <p:cNvSpPr>
            <a:spLocks noGrp="1"/>
          </p:cNvSpPr>
          <p:nvPr/>
        </p:nvSpPr>
        <p:spPr>
          <a:xfrm>
            <a:off x="3162300" y="3514725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Observed anomaly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8E9FA93-0C85-40FA-8F93-2907D2AC37A1}"/>
              </a:ext>
            </a:extLst>
          </p:cNvPr>
          <p:cNvSpPr>
            <a:spLocks noGrp="1"/>
          </p:cNvSpPr>
          <p:nvPr/>
        </p:nvSpPr>
        <p:spPr>
          <a:xfrm>
            <a:off x="6972300" y="3429000"/>
            <a:ext cx="4533900" cy="4191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3CA7FBF-274B-48AE-AC0D-A0A53F2562E8}"/>
              </a:ext>
            </a:extLst>
          </p:cNvPr>
          <p:cNvSpPr>
            <a:spLocks noGrp="1"/>
          </p:cNvSpPr>
          <p:nvPr/>
        </p:nvSpPr>
        <p:spPr>
          <a:xfrm>
            <a:off x="7067550" y="3514725"/>
            <a:ext cx="434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075D73B-0233-48FD-AB46-5629D5EED69F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2381250" cy="4191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DD00CC0-61B2-4235-9410-9B524664EF76}"/>
              </a:ext>
            </a:extLst>
          </p:cNvPr>
          <p:cNvSpPr>
            <a:spLocks noGrp="1"/>
          </p:cNvSpPr>
          <p:nvPr/>
        </p:nvSpPr>
        <p:spPr>
          <a:xfrm>
            <a:off x="781050" y="39243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Password spray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1F1A045-36D5-4041-9676-2F242DEFC9F4}"/>
              </a:ext>
            </a:extLst>
          </p:cNvPr>
          <p:cNvSpPr>
            <a:spLocks noGrp="1"/>
          </p:cNvSpPr>
          <p:nvPr/>
        </p:nvSpPr>
        <p:spPr>
          <a:xfrm>
            <a:off x="3067050" y="3848100"/>
            <a:ext cx="3905250" cy="4191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5FC04B7-6AE0-48E5-8AD2-3939A524FC05}"/>
              </a:ext>
            </a:extLst>
          </p:cNvPr>
          <p:cNvSpPr>
            <a:spLocks noGrp="1"/>
          </p:cNvSpPr>
          <p:nvPr/>
        </p:nvSpPr>
        <p:spPr>
          <a:xfrm>
            <a:off x="3162300" y="39243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20 users from one IP at one second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102338F-C283-496B-9F83-9466A3AAC481}"/>
              </a:ext>
            </a:extLst>
          </p:cNvPr>
          <p:cNvSpPr>
            <a:spLocks noGrp="1"/>
          </p:cNvSpPr>
          <p:nvPr/>
        </p:nvSpPr>
        <p:spPr>
          <a:xfrm>
            <a:off x="6972300" y="3848100"/>
            <a:ext cx="4533900" cy="4191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AF318B0A-48BE-4DBA-8F6E-54876D46FAC5}"/>
              </a:ext>
            </a:extLst>
          </p:cNvPr>
          <p:cNvSpPr>
            <a:spLocks noGrp="1"/>
          </p:cNvSpPr>
          <p:nvPr/>
        </p:nvSpPr>
        <p:spPr>
          <a:xfrm>
            <a:off x="7067550" y="3924300"/>
            <a:ext cx="4343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Single source testing many accounts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618E363A-E5F4-4359-B70A-7A0AE869EDEB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2381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A5FA774-7C5F-415A-AA95-7F924387A6CF}"/>
              </a:ext>
            </a:extLst>
          </p:cNvPr>
          <p:cNvSpPr>
            <a:spLocks noGrp="1"/>
          </p:cNvSpPr>
          <p:nvPr/>
        </p:nvSpPr>
        <p:spPr>
          <a:xfrm>
            <a:off x="781050" y="43434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Credential stuffing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E8646BCC-6C3D-4B50-BA15-996136D1BDD1}"/>
              </a:ext>
            </a:extLst>
          </p:cNvPr>
          <p:cNvSpPr>
            <a:spLocks noGrp="1"/>
          </p:cNvSpPr>
          <p:nvPr/>
        </p:nvSpPr>
        <p:spPr>
          <a:xfrm>
            <a:off x="3067050" y="4267200"/>
            <a:ext cx="3905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8DECFD9-7A32-4141-9C01-4F5BA031F061}"/>
              </a:ext>
            </a:extLst>
          </p:cNvPr>
          <p:cNvSpPr>
            <a:spLocks noGrp="1"/>
          </p:cNvSpPr>
          <p:nvPr/>
        </p:nvSpPr>
        <p:spPr>
          <a:xfrm>
            <a:off x="3162300" y="43434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user_097 burst and user_003 probe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B1132C40-206D-460E-9AA2-D0921A3A2A6F}"/>
              </a:ext>
            </a:extLst>
          </p:cNvPr>
          <p:cNvSpPr>
            <a:spLocks noGrp="1"/>
          </p:cNvSpPr>
          <p:nvPr/>
        </p:nvSpPr>
        <p:spPr>
          <a:xfrm>
            <a:off x="6972300" y="4267200"/>
            <a:ext cx="45339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4483A7DC-72CF-4C3E-A366-030D62B0695A}"/>
              </a:ext>
            </a:extLst>
          </p:cNvPr>
          <p:cNvSpPr>
            <a:spLocks noGrp="1"/>
          </p:cNvSpPr>
          <p:nvPr/>
        </p:nvSpPr>
        <p:spPr>
          <a:xfrm>
            <a:off x="7067550" y="4343400"/>
            <a:ext cx="4343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Automated guessing against known accounts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753493F9-856A-405B-8E5A-D232A50797D0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2381250" cy="4191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672AAB3B-FDF0-4E3A-A208-52D567FD4A21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Successful login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249E8DE3-700B-4AEA-BA2A-A4AAD3A75DE3}"/>
              </a:ext>
            </a:extLst>
          </p:cNvPr>
          <p:cNvSpPr>
            <a:spLocks noGrp="1"/>
          </p:cNvSpPr>
          <p:nvPr/>
        </p:nvSpPr>
        <p:spPr>
          <a:xfrm>
            <a:off x="3067050" y="4686300"/>
            <a:ext cx="3905250" cy="4191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3831C75A-5758-4198-AF23-97DE166E4608}"/>
              </a:ext>
            </a:extLst>
          </p:cNvPr>
          <p:cNvSpPr>
            <a:spLocks noGrp="1"/>
          </p:cNvSpPr>
          <p:nvPr/>
        </p:nvSpPr>
        <p:spPr>
          <a:xfrm>
            <a:off x="3162300" y="47625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13 successes in shared-IP event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38BDA833-91F8-4EBA-A732-F5DCB8F56352}"/>
              </a:ext>
            </a:extLst>
          </p:cNvPr>
          <p:cNvSpPr>
            <a:spLocks noGrp="1"/>
          </p:cNvSpPr>
          <p:nvPr/>
        </p:nvSpPr>
        <p:spPr>
          <a:xfrm>
            <a:off x="6972300" y="4686300"/>
            <a:ext cx="4533900" cy="4191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08030BD1-3783-4711-B392-8F48AE012BA7}"/>
              </a:ext>
            </a:extLst>
          </p:cNvPr>
          <p:cNvSpPr>
            <a:spLocks noGrp="1"/>
          </p:cNvSpPr>
          <p:nvPr/>
        </p:nvSpPr>
        <p:spPr>
          <a:xfrm>
            <a:off x="7067550" y="4762500"/>
            <a:ext cx="4343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Potential account compromise, not just attempts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4B24A8F7-BA8E-4F99-8FCB-D427E4DC1B7E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2381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5A86F224-18F2-4C2F-BE22-3D0614C8B516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Persistence / misuse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D8F038F-1FA3-4A8B-A8F0-EE6BE5174A1A}"/>
              </a:ext>
            </a:extLst>
          </p:cNvPr>
          <p:cNvSpPr>
            <a:spLocks noGrp="1"/>
          </p:cNvSpPr>
          <p:nvPr/>
        </p:nvSpPr>
        <p:spPr>
          <a:xfrm>
            <a:off x="3067050" y="5105400"/>
            <a:ext cx="3905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F106C249-639A-4C86-BA19-F99711A6F4AB}"/>
              </a:ext>
            </a:extLst>
          </p:cNvPr>
          <p:cNvSpPr>
            <a:spLocks noGrp="1"/>
          </p:cNvSpPr>
          <p:nvPr/>
        </p:nvSpPr>
        <p:spPr>
          <a:xfrm>
            <a:off x="3162300" y="51816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Off-hours access with high IP spread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DB21ADCD-4426-44C2-AF6C-BE74BEC6CF65}"/>
              </a:ext>
            </a:extLst>
          </p:cNvPr>
          <p:cNvSpPr>
            <a:spLocks noGrp="1"/>
          </p:cNvSpPr>
          <p:nvPr/>
        </p:nvSpPr>
        <p:spPr>
          <a:xfrm>
            <a:off x="6972300" y="5105400"/>
            <a:ext cx="45339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7D4E03A8-9016-4773-8D76-ADE40BADD7E7}"/>
              </a:ext>
            </a:extLst>
          </p:cNvPr>
          <p:cNvSpPr>
            <a:spLocks noGrp="1"/>
          </p:cNvSpPr>
          <p:nvPr/>
        </p:nvSpPr>
        <p:spPr>
          <a:xfrm>
            <a:off x="7067550" y="5181600"/>
            <a:ext cx="4343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Possible post-compromise access pattern</a:t>
            </a:r>
          </a:p>
        </p:txBody>
      </p: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3B13EFFD-C920-41B8-877D-1C9DBEE0D836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40007B69-A266-4AFF-ADB5-9227D870883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0E8D3ACD-D19F-4949-BC16-3179D75894E5}"/>
              </a:ext>
            </a:extLst>
          </p:cNvPr>
          <p:cNvSpPr>
            <a:spLocks noGrp="1"/>
          </p:cNvSpPr>
          <p:nvPr/>
        </p:nvSpPr>
        <p:spPr>
          <a:xfrm>
            <a:off x="914400" y="58007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Mapping anomalies to attack stages shows what to contain first and what telemetry is missing next.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FB2914DA-E1D2-40BA-8423-F1315706181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1C5CA3F1-BDF4-4D0B-BEC3-5AB5E2EDCBB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94F0D55D-7A5F-41B5-B8F2-105386A47000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298383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B1777F4-FC32-4A29-801C-0DA7E230C34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67C6460-BD81-44D9-9654-92EB35559D82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A0C5FC-5F91-45A6-8A60-6E5533A3658C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21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7D7E304-3FB7-4311-9A85-57057407BEB0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Anomaly 1: user_097 shows an automated brute-force burst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6DF678B-BFE1-48B8-A582-9E939891AA7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C80FA6E-BFCF-46B3-9716-FB84BEB7CE7C}"/>
              </a:ext>
            </a:extLst>
          </p:cNvPr>
          <p:cNvSpPr>
            <a:spLocks noGrp="1"/>
          </p:cNvSpPr>
          <p:nvPr/>
        </p:nvSpPr>
        <p:spPr>
          <a:xfrm>
            <a:off x="809625" y="1431925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A582D"/>
                </a:solidFill>
              </a:defRPr>
            </a:pPr>
            <a:r>
              <a:rPr sz="900" b="1" dirty="0">
                <a:solidFill>
                  <a:srgbClr val="FA582D"/>
                </a:solidFill>
              </a:rPr>
              <a:t>CONFIDENCE 95%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DF80588-6544-4599-8B15-43B871C6F485}"/>
              </a:ext>
            </a:extLst>
          </p:cNvPr>
          <p:cNvSpPr>
            <a:spLocks noGrp="1"/>
          </p:cNvSpPr>
          <p:nvPr/>
        </p:nvSpPr>
        <p:spPr>
          <a:xfrm>
            <a:off x="2238375" y="139065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C30FFBA-9BC9-41CA-A29A-9CEAB73DD7DD}"/>
              </a:ext>
            </a:extLst>
          </p:cNvPr>
          <p:cNvSpPr>
            <a:spLocks noGrp="1"/>
          </p:cNvSpPr>
          <p:nvPr/>
        </p:nvSpPr>
        <p:spPr>
          <a:xfrm>
            <a:off x="2362200" y="1431925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A582D"/>
                </a:solidFill>
              </a:defRPr>
            </a:pPr>
            <a:r>
              <a:rPr sz="900" b="1">
                <a:solidFill>
                  <a:srgbClr val="FA582D"/>
                </a:solidFill>
              </a:rPr>
              <a:t>CRITICAL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24F1B06-F1D0-429C-8E3F-7C6A8EA5E3DC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6667500" cy="347662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7104" y="1895475"/>
            <a:ext cx="6024893" cy="3209925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237B349-2E2F-4628-BD9E-8D48046E57B3}"/>
              </a:ext>
            </a:extLst>
          </p:cNvPr>
          <p:cNvSpPr>
            <a:spLocks noGrp="1"/>
          </p:cNvSpPr>
          <p:nvPr/>
        </p:nvSpPr>
        <p:spPr>
          <a:xfrm>
            <a:off x="7734300" y="1752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Evidence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0C5D684-E6B2-46D9-B8B3-1E58F0D80F1B}"/>
              </a:ext>
            </a:extLst>
          </p:cNvPr>
          <p:cNvSpPr>
            <a:spLocks noGrp="1"/>
          </p:cNvSpPr>
          <p:nvPr/>
        </p:nvSpPr>
        <p:spPr>
          <a:xfrm>
            <a:off x="7734300" y="2095500"/>
            <a:ext cx="3429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- 48 attempts at 2024-02-09 18:24:00 from 103.56.23.138.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- 97 failures across 194 logins for a 50.0% failure rate.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The timing pattern is not physically plausible for a human user.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32D8703-9C2A-49FF-AF41-5E885B2FDC50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Alternative explanations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F26A39A-9965-4207-8191-BDCA72E78E7B}"/>
              </a:ext>
            </a:extLst>
          </p:cNvPr>
          <p:cNvSpPr>
            <a:spLocks noGrp="1"/>
          </p:cNvSpPr>
          <p:nvPr/>
        </p:nvSpPr>
        <p:spPr>
          <a:xfrm>
            <a:off x="7734300" y="361950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Duplicated logs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Replay artifact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F2788C2-0BD2-4438-9E28-4138A203C1EB}"/>
              </a:ext>
            </a:extLst>
          </p:cNvPr>
          <p:cNvSpPr>
            <a:spLocks noGrp="1"/>
          </p:cNvSpPr>
          <p:nvPr/>
        </p:nvSpPr>
        <p:spPr>
          <a:xfrm>
            <a:off x="7734300" y="442912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Remaining uncertainty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308FC89-7EA1-4F3C-B637-367F07CE0A36}"/>
              </a:ext>
            </a:extLst>
          </p:cNvPr>
          <p:cNvSpPr>
            <a:spLocks noGrp="1"/>
          </p:cNvSpPr>
          <p:nvPr/>
        </p:nvSpPr>
        <p:spPr>
          <a:xfrm>
            <a:off x="7734300" y="47625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No event ID for dedupe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No ASN or infrastructure metadata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292ED61-71C7-45A1-8A5A-3F162313742E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6318892-9EF5-4FA8-B3DC-A14A4E155B62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66675" cy="457200"/>
          </a:xfrm>
          <a:prstGeom prst="rect">
            <a:avLst/>
          </a:prstGeom>
          <a:solidFill>
            <a:srgbClr val="D92D20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9D5B9A2-990C-48BA-B8F2-0A61EF161AC7}"/>
              </a:ext>
            </a:extLst>
          </p:cNvPr>
          <p:cNvSpPr>
            <a:spLocks noGrp="1"/>
          </p:cNvSpPr>
          <p:nvPr/>
        </p:nvSpPr>
        <p:spPr>
          <a:xfrm>
            <a:off x="914400" y="574357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Immediate response: force reset for user_097, block or rate-limit the source IP, and inspect nearby successful sessions.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30BA6C6-68ED-4680-AB35-6134A514E55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B983EF7-C035-42FB-B009-0CEBC94DDFF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75C14C4-F743-4350-BF8F-C8E2B05D01F1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438256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53716A3-8AB4-43B2-839E-6266136A81B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F6D1B2-6149-4D5A-8F19-B4085964F1AB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5D80451-0106-4D0F-8264-53C4EC5DCD48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22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8C8025-B773-43CE-824B-03530CDBC11B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Anomaly 2: user_003 was probed on a machine schedule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1D076FC-347D-46FF-9606-05B5BDF0746E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934F0CB-8B1D-40C4-8445-193F72C82851}"/>
              </a:ext>
            </a:extLst>
          </p:cNvPr>
          <p:cNvSpPr>
            <a:spLocks noGrp="1"/>
          </p:cNvSpPr>
          <p:nvPr/>
        </p:nvSpPr>
        <p:spPr>
          <a:xfrm>
            <a:off x="809625" y="1438275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A582D"/>
                </a:solidFill>
              </a:defRPr>
            </a:pPr>
            <a:r>
              <a:rPr sz="900" b="1" dirty="0">
                <a:solidFill>
                  <a:srgbClr val="FA582D"/>
                </a:solidFill>
              </a:rPr>
              <a:t>CONFIDENCE 90%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EA1005E-3A04-4228-A516-5FDE84FF8E1A}"/>
              </a:ext>
            </a:extLst>
          </p:cNvPr>
          <p:cNvSpPr>
            <a:spLocks noGrp="1"/>
          </p:cNvSpPr>
          <p:nvPr/>
        </p:nvSpPr>
        <p:spPr>
          <a:xfrm>
            <a:off x="2238375" y="139065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4A26B6F-D199-4835-9C78-2BD7C7C30EB6}"/>
              </a:ext>
            </a:extLst>
          </p:cNvPr>
          <p:cNvSpPr>
            <a:spLocks noGrp="1"/>
          </p:cNvSpPr>
          <p:nvPr/>
        </p:nvSpPr>
        <p:spPr>
          <a:xfrm>
            <a:off x="2362200" y="1438275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A582D"/>
                </a:solidFill>
              </a:defRPr>
            </a:pPr>
            <a:r>
              <a:rPr sz="900" b="1">
                <a:solidFill>
                  <a:srgbClr val="FA582D"/>
                </a:solidFill>
              </a:rPr>
              <a:t>CRITICAL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ADCCB19-7905-4B10-9137-DDF0B2E59A8F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6667500" cy="347662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517579"/>
            <a:ext cx="6400800" cy="1965717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E012E45-236E-4930-868B-A58015FF21F0}"/>
              </a:ext>
            </a:extLst>
          </p:cNvPr>
          <p:cNvSpPr>
            <a:spLocks noGrp="1"/>
          </p:cNvSpPr>
          <p:nvPr/>
        </p:nvSpPr>
        <p:spPr>
          <a:xfrm>
            <a:off x="7734300" y="1752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Evidence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CF92F5B-E84C-4837-93CE-F23024C0F828}"/>
              </a:ext>
            </a:extLst>
          </p:cNvPr>
          <p:cNvSpPr>
            <a:spLocks noGrp="1"/>
          </p:cNvSpPr>
          <p:nvPr/>
        </p:nvSpPr>
        <p:spPr>
          <a:xfrm>
            <a:off x="7734300" y="2095500"/>
            <a:ext cx="3429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- 33 attempts from 142.147.67.230 at exactly 20:00.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- 32 failures followed by 1 success.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- 93 unique IPs make account-level exposure unusually broad.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2511856-55CD-4B16-8CDB-EE8D085ECEE3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Alternative explanations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45243E4-B73D-4340-B5E1-16BE0837A1BB}"/>
              </a:ext>
            </a:extLst>
          </p:cNvPr>
          <p:cNvSpPr>
            <a:spLocks noGrp="1"/>
          </p:cNvSpPr>
          <p:nvPr/>
        </p:nvSpPr>
        <p:spPr>
          <a:xfrm>
            <a:off x="7734300" y="361950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Scheduled service account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Synthetic test artifact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1A090F6-2105-4B45-AB97-E569524E7612}"/>
              </a:ext>
            </a:extLst>
          </p:cNvPr>
          <p:cNvSpPr>
            <a:spLocks noGrp="1"/>
          </p:cNvSpPr>
          <p:nvPr/>
        </p:nvSpPr>
        <p:spPr>
          <a:xfrm>
            <a:off x="7734300" y="442912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Remaining uncertainty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265B65F-2832-4F69-B922-36467F6A206D}"/>
              </a:ext>
            </a:extLst>
          </p:cNvPr>
          <p:cNvSpPr>
            <a:spLocks noGrp="1"/>
          </p:cNvSpPr>
          <p:nvPr/>
        </p:nvSpPr>
        <p:spPr>
          <a:xfrm>
            <a:off x="7734300" y="47625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No account owner context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No geo, ASN, or user-agent data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9FF07A6-2B0A-4B00-9FFB-F7734B79C148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AAACF44-E252-4E73-9547-B4F8F5F1D167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66675" cy="457200"/>
          </a:xfrm>
          <a:prstGeom prst="rect">
            <a:avLst/>
          </a:prstGeom>
          <a:solidFill>
            <a:srgbClr val="D92D20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46E84DA-1811-47A2-90F1-0D1319821143}"/>
              </a:ext>
            </a:extLst>
          </p:cNvPr>
          <p:cNvSpPr>
            <a:spLocks noGrp="1"/>
          </p:cNvSpPr>
          <p:nvPr/>
        </p:nvSpPr>
        <p:spPr>
          <a:xfrm>
            <a:off x="914400" y="574357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Immediate response: block 142.147.67.230, rotate credentials, and check whether the final success changed account state.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CA77B54-4BEB-4D7A-B9D9-5BA0FF1A4AD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BCE6836-B201-4959-9B77-4B40ABC1DD9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81D134F-0A50-44AE-9639-C698F110028B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2130327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FAE8896-F3F2-4D86-A76C-D4533D15E48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BE66FB4-9D92-4872-9485-3C18F280FB66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1EEC4E1-5A8D-4A37-A24E-10B1FB11C2B6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23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139948-B1F0-4A73-9708-40925C493B67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Anomaly 3: one IP touched 20 users at the exact same second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802DBF3-2518-41B2-A5EA-1CD9783EBA7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A5895DC-5C20-4EF3-A34E-0182CC0E292D}"/>
              </a:ext>
            </a:extLst>
          </p:cNvPr>
          <p:cNvSpPr>
            <a:spLocks noGrp="1"/>
          </p:cNvSpPr>
          <p:nvPr/>
        </p:nvSpPr>
        <p:spPr>
          <a:xfrm>
            <a:off x="809625" y="1438275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A582D"/>
                </a:solidFill>
              </a:defRPr>
            </a:pPr>
            <a:r>
              <a:rPr sz="900" b="1" dirty="0">
                <a:solidFill>
                  <a:srgbClr val="FA582D"/>
                </a:solidFill>
              </a:rPr>
              <a:t>CONFIDENCE 92%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F590C55-99FA-483A-8065-97B63C7535AD}"/>
              </a:ext>
            </a:extLst>
          </p:cNvPr>
          <p:cNvSpPr>
            <a:spLocks noGrp="1"/>
          </p:cNvSpPr>
          <p:nvPr/>
        </p:nvSpPr>
        <p:spPr>
          <a:xfrm>
            <a:off x="2238375" y="139065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B60BFEB-F5D8-42AE-96B8-8A99477C1FD2}"/>
              </a:ext>
            </a:extLst>
          </p:cNvPr>
          <p:cNvSpPr>
            <a:spLocks noGrp="1"/>
          </p:cNvSpPr>
          <p:nvPr/>
        </p:nvSpPr>
        <p:spPr>
          <a:xfrm>
            <a:off x="2362200" y="1438275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A582D"/>
                </a:solidFill>
              </a:defRPr>
            </a:pPr>
            <a:r>
              <a:rPr sz="900" b="1">
                <a:solidFill>
                  <a:srgbClr val="FA582D"/>
                </a:solidFill>
              </a:rPr>
              <a:t>CRITICAL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DF3A577-C590-45CB-A206-858A5FD37C29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6667500" cy="347662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379325"/>
            <a:ext cx="6400800" cy="2242226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F04E4C8-8DE4-4B6E-8A22-116FD62407E1}"/>
              </a:ext>
            </a:extLst>
          </p:cNvPr>
          <p:cNvSpPr>
            <a:spLocks noGrp="1"/>
          </p:cNvSpPr>
          <p:nvPr/>
        </p:nvSpPr>
        <p:spPr>
          <a:xfrm>
            <a:off x="7734300" y="1752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Evidence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9752BD5-1236-4D50-B669-0AB820349568}"/>
              </a:ext>
            </a:extLst>
          </p:cNvPr>
          <p:cNvSpPr>
            <a:spLocks noGrp="1"/>
          </p:cNvSpPr>
          <p:nvPr/>
        </p:nvSpPr>
        <p:spPr>
          <a:xfrm>
            <a:off x="7734300" y="2095500"/>
            <a:ext cx="3429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- 20 users from 45.139.113.61 at 2024-03-14 12:05:00.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- 7 failures and 13 successes in the same timestamp group.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The pattern fits spray, replay, proxy, or controller behavior.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650BC31-0B04-4C1A-8BE1-0A69D1A0A921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Alternative explanations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70A9996-A442-45CB-89A7-14B39B91B23E}"/>
              </a:ext>
            </a:extLst>
          </p:cNvPr>
          <p:cNvSpPr>
            <a:spLocks noGrp="1"/>
          </p:cNvSpPr>
          <p:nvPr/>
        </p:nvSpPr>
        <p:spPr>
          <a:xfrm>
            <a:off x="7734300" y="361950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Corporate NAT or VPN exit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Load-test replay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1214289-0DE4-4587-8866-833F17282D85}"/>
              </a:ext>
            </a:extLst>
          </p:cNvPr>
          <p:cNvSpPr>
            <a:spLocks noGrp="1"/>
          </p:cNvSpPr>
          <p:nvPr/>
        </p:nvSpPr>
        <p:spPr>
          <a:xfrm>
            <a:off x="7734300" y="442912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Remaining uncertainty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FA0D493-7B1D-44A3-9BBA-2DE4D462812F}"/>
              </a:ext>
            </a:extLst>
          </p:cNvPr>
          <p:cNvSpPr>
            <a:spLocks noGrp="1"/>
          </p:cNvSpPr>
          <p:nvPr/>
        </p:nvSpPr>
        <p:spPr>
          <a:xfrm>
            <a:off x="7734300" y="47625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No ASN reputation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No session IDs after login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A5008B-ABBB-4A0C-9A50-BA5D9256309E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EA054F8-7F07-4A1F-AEC2-98F312C08005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66675" cy="457200"/>
          </a:xfrm>
          <a:prstGeom prst="rect">
            <a:avLst/>
          </a:prstGeom>
          <a:solidFill>
            <a:srgbClr val="D92D20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D1CBE24-3CD5-4B41-A70B-93D863D71B70}"/>
              </a:ext>
            </a:extLst>
          </p:cNvPr>
          <p:cNvSpPr>
            <a:spLocks noGrp="1"/>
          </p:cNvSpPr>
          <p:nvPr/>
        </p:nvSpPr>
        <p:spPr>
          <a:xfrm>
            <a:off x="914400" y="574357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Immediate response: block the IP, enumerate affected users, and review all successful sessions from that source.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3D40967-3AD3-4492-83D0-A71022BB03D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EDB435E-31CC-4A7B-930F-A0C55CCE7A9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B030FBD-14B2-422E-BBA0-E7ED0A776ED1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719132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37148F4-C530-4082-A11F-CAE4A0B8A80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9F1CB9-FC48-435B-A585-B2E892A6ADFA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C0688D-7289-4DD4-BA9C-CFA346F45D2C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24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60A06B7-F154-4FF0-BAEA-5659D1F59996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Anomaly 4: IP velocity is useful but the threshold needs calibration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DE77760-638F-4657-B848-8B6A4173B0B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D200418-09EE-457C-92F0-7647E596FF3C}"/>
              </a:ext>
            </a:extLst>
          </p:cNvPr>
          <p:cNvSpPr>
            <a:spLocks noGrp="1"/>
          </p:cNvSpPr>
          <p:nvPr/>
        </p:nvSpPr>
        <p:spPr>
          <a:xfrm>
            <a:off x="809625" y="1438275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A582D"/>
                </a:solidFill>
              </a:defRPr>
            </a:pPr>
            <a:r>
              <a:rPr sz="900" b="1" dirty="0">
                <a:solidFill>
                  <a:srgbClr val="FA582D"/>
                </a:solidFill>
              </a:rPr>
              <a:t>CONFIDENCE 70%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5BA37EE-2D01-4604-959A-8B2A5DA8BF42}"/>
              </a:ext>
            </a:extLst>
          </p:cNvPr>
          <p:cNvSpPr>
            <a:spLocks noGrp="1"/>
          </p:cNvSpPr>
          <p:nvPr/>
        </p:nvSpPr>
        <p:spPr>
          <a:xfrm>
            <a:off x="2238375" y="139065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C65787-45DF-4B6B-A213-89A7E21B2FC4}"/>
              </a:ext>
            </a:extLst>
          </p:cNvPr>
          <p:cNvSpPr>
            <a:spLocks noGrp="1"/>
          </p:cNvSpPr>
          <p:nvPr/>
        </p:nvSpPr>
        <p:spPr>
          <a:xfrm>
            <a:off x="2362200" y="1438275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A582D"/>
                </a:solidFill>
              </a:defRPr>
            </a:pPr>
            <a:r>
              <a:rPr sz="900" b="1">
                <a:solidFill>
                  <a:srgbClr val="FA582D"/>
                </a:solidFill>
              </a:rPr>
              <a:t>HIGH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A264994-23F0-4550-89DC-78A7FE06BD7B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6667500" cy="347662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375677"/>
            <a:ext cx="6400800" cy="2249521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4A514D7-31F6-424E-A833-D9F7E32AEB88}"/>
              </a:ext>
            </a:extLst>
          </p:cNvPr>
          <p:cNvSpPr>
            <a:spLocks noGrp="1"/>
          </p:cNvSpPr>
          <p:nvPr/>
        </p:nvSpPr>
        <p:spPr>
          <a:xfrm>
            <a:off x="7734300" y="1752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Evidence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3E30BF3-5795-4B9B-9AC2-A68DCE9CD607}"/>
              </a:ext>
            </a:extLst>
          </p:cNvPr>
          <p:cNvSpPr>
            <a:spLocks noGrp="1"/>
          </p:cNvSpPr>
          <p:nvPr/>
        </p:nvSpPr>
        <p:spPr>
          <a:xfrm>
            <a:off x="7734300" y="2095500"/>
            <a:ext cx="3429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The notebook rule flags the population broadly, which is a signal that the threshold is too naive for this dataset.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user_003 still stands out with 93 unique IPs across 134 sessions.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The right production version compares users to their own historical baselines.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1D1CC6E-28C8-4B03-B5D9-84BFEE203989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Alternative explanations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8424058-22E7-4923-BC8E-948CAD13F70B}"/>
              </a:ext>
            </a:extLst>
          </p:cNvPr>
          <p:cNvSpPr>
            <a:spLocks noGrp="1"/>
          </p:cNvSpPr>
          <p:nvPr/>
        </p:nvSpPr>
        <p:spPr>
          <a:xfrm>
            <a:off x="7734300" y="361950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VPN-heavy user population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Synthetic IP distribution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33C09F1-0E18-4E3C-B474-23C673435818}"/>
              </a:ext>
            </a:extLst>
          </p:cNvPr>
          <p:cNvSpPr>
            <a:spLocks noGrp="1"/>
          </p:cNvSpPr>
          <p:nvPr/>
        </p:nvSpPr>
        <p:spPr>
          <a:xfrm>
            <a:off x="7734300" y="442912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Remaining uncertainty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E3F1415-9234-4E78-B4CC-777CB5FCF84E}"/>
              </a:ext>
            </a:extLst>
          </p:cNvPr>
          <p:cNvSpPr>
            <a:spLocks noGrp="1"/>
          </p:cNvSpPr>
          <p:nvPr/>
        </p:nvSpPr>
        <p:spPr>
          <a:xfrm>
            <a:off x="7734300" y="47625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Threshold not calibrated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No geo, ASN, or historical profile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37A58B70-8145-421F-8B87-FC78B7781DA2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4B6A9F8-2AF8-449B-BA65-C063C939F070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66675" cy="457200"/>
          </a:xfrm>
          <a:prstGeom prst="rect">
            <a:avLst/>
          </a:prstGeom>
          <a:solidFill>
            <a:srgbClr val="D92D20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9708405-3052-414C-A087-1789A7719A8E}"/>
              </a:ext>
            </a:extLst>
          </p:cNvPr>
          <p:cNvSpPr>
            <a:spLocks noGrp="1"/>
          </p:cNvSpPr>
          <p:nvPr/>
        </p:nvSpPr>
        <p:spPr>
          <a:xfrm>
            <a:off x="914400" y="574357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Action: keep IP velocity as a feature, but calibrate it with geography, ASN, device stability, and analyst feedback.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4D15FDE-5B2B-4FD0-BEA2-5F52B4A246C1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44D1C27-9BD7-4377-8AC6-6EDA05DA4AC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3714B6F-E45F-4F97-98D2-B721BDE6E721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236237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9DA058D-1C65-49B9-8F22-BB5AB563026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FF758C4-ABCD-4358-9CA8-FB7C4FCBEE27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34131B-460E-423F-9340-E548225CECE4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25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AC08970-5C85-4901-8881-936D25855E21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Anomaly 5: off-hours access becomes material when paired with other risk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1D98A3F-F347-4127-BE40-C2D1CDC99ADE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585567E-DEE4-43F5-A650-1C56C5ABB9BC}"/>
              </a:ext>
            </a:extLst>
          </p:cNvPr>
          <p:cNvSpPr>
            <a:spLocks noGrp="1"/>
          </p:cNvSpPr>
          <p:nvPr/>
        </p:nvSpPr>
        <p:spPr>
          <a:xfrm>
            <a:off x="809625" y="1431925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A582D"/>
                </a:solidFill>
              </a:defRPr>
            </a:pPr>
            <a:r>
              <a:rPr sz="900" b="1" dirty="0">
                <a:solidFill>
                  <a:srgbClr val="FA582D"/>
                </a:solidFill>
              </a:rPr>
              <a:t>CONFIDENCE 65%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7946F327-F44F-47EB-AC64-7B209ACF06A4}"/>
              </a:ext>
            </a:extLst>
          </p:cNvPr>
          <p:cNvSpPr>
            <a:spLocks noGrp="1"/>
          </p:cNvSpPr>
          <p:nvPr/>
        </p:nvSpPr>
        <p:spPr>
          <a:xfrm>
            <a:off x="2238375" y="139065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0517551-C333-49B9-909C-9AB0D161FCCE}"/>
              </a:ext>
            </a:extLst>
          </p:cNvPr>
          <p:cNvSpPr>
            <a:spLocks noGrp="1"/>
          </p:cNvSpPr>
          <p:nvPr/>
        </p:nvSpPr>
        <p:spPr>
          <a:xfrm>
            <a:off x="2362200" y="1431925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A582D"/>
                </a:solidFill>
              </a:defRPr>
            </a:pPr>
            <a:r>
              <a:rPr sz="900" b="1">
                <a:solidFill>
                  <a:srgbClr val="FA582D"/>
                </a:solidFill>
              </a:rPr>
              <a:t>MEDIUM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CBE682A-86A7-44CB-9507-6CC3871CA92B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6667500" cy="347662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320562"/>
            <a:ext cx="6400800" cy="2359752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D809E30-470A-49FF-8C42-8D3DF71DDB4D}"/>
              </a:ext>
            </a:extLst>
          </p:cNvPr>
          <p:cNvSpPr>
            <a:spLocks noGrp="1"/>
          </p:cNvSpPr>
          <p:nvPr/>
        </p:nvSpPr>
        <p:spPr>
          <a:xfrm>
            <a:off x="7734300" y="1752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Evidence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8BCAED5-7C03-4D2C-909B-96C3EBDFFB80}"/>
              </a:ext>
            </a:extLst>
          </p:cNvPr>
          <p:cNvSpPr>
            <a:spLocks noGrp="1"/>
          </p:cNvSpPr>
          <p:nvPr/>
        </p:nvSpPr>
        <p:spPr>
          <a:xfrm>
            <a:off x="7734300" y="2095500"/>
            <a:ext cx="3429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- 5 total midnight-to-05:00 logins appear in the dataset.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user_009 contributes 4 of them.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user_009 also shows 89 unique IPs, making timing more concerning.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F23B68-F4D9-4D16-A524-0AF176A53466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Alternative explanations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8F25C4C-FDBC-4FF8-9E2C-ECE899F41259}"/>
              </a:ext>
            </a:extLst>
          </p:cNvPr>
          <p:cNvSpPr>
            <a:spLocks noGrp="1"/>
          </p:cNvSpPr>
          <p:nvPr/>
        </p:nvSpPr>
        <p:spPr>
          <a:xfrm>
            <a:off x="7734300" y="361950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Legitimate timezone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On-call or travel access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B411E1A-0399-4C5E-951F-460EA7EDDD46}"/>
              </a:ext>
            </a:extLst>
          </p:cNvPr>
          <p:cNvSpPr>
            <a:spLocks noGrp="1"/>
          </p:cNvSpPr>
          <p:nvPr/>
        </p:nvSpPr>
        <p:spPr>
          <a:xfrm>
            <a:off x="7734300" y="442912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Remaining uncertainty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5627F7A-A80E-4DBA-9D1F-20069DD0BC38}"/>
              </a:ext>
            </a:extLst>
          </p:cNvPr>
          <p:cNvSpPr>
            <a:spLocks noGrp="1"/>
          </p:cNvSpPr>
          <p:nvPr/>
        </p:nvSpPr>
        <p:spPr>
          <a:xfrm>
            <a:off x="7734300" y="47625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No user work schedule</a:t>
            </a:r>
          </a:p>
          <a:p>
            <a:pPr algn="l">
              <a:defRPr sz="1163" b="0">
                <a:solidFill>
                  <a:srgbClr val="2A2A2A"/>
                </a:solidFill>
              </a:defRPr>
            </a:pPr>
            <a:r>
              <a:rPr sz="1163" b="0">
                <a:solidFill>
                  <a:srgbClr val="2A2A2A"/>
                </a:solidFill>
              </a:rPr>
              <a:t>- No timezone or geo data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917B060-A5C9-419E-B407-14CFB1EE2366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5995E91-0AA9-467D-A2BB-1661BBADA1F4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66675" cy="457200"/>
          </a:xfrm>
          <a:prstGeom prst="rect">
            <a:avLst/>
          </a:prstGeom>
          <a:solidFill>
            <a:srgbClr val="FFB020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4D162C0-08B6-4069-B0CD-9AEE2FCAA606}"/>
              </a:ext>
            </a:extLst>
          </p:cNvPr>
          <p:cNvSpPr>
            <a:spLocks noGrp="1"/>
          </p:cNvSpPr>
          <p:nvPr/>
        </p:nvSpPr>
        <p:spPr>
          <a:xfrm>
            <a:off x="914400" y="574357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Action: treat off-hours as a multiplier, not a standalone block condition; require novelty and user profile context.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898C4A7-D607-42C9-A0B9-CEEECC85E30B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A28F3CF-5DAB-41B4-8F5F-0A6F8D54ED2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84D8C1D-6D78-4594-91A1-47AB9AFF49DE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763889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Рисунок 5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559F8D0-2011-4118-9C8F-06AAE8957EB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5762C2-F20F-48E7-9DC7-690647E92558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82F1CBB-2C69-453C-B099-9874FCC26AD6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26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A77C297-8BE4-43FF-86C3-159D301BFFB1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investigation should rank cases by evidence and actionability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FC2AEA7-BB91-455F-8D97-EC570C9BC01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2476500" cy="5905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A34385A-A1D9-459E-A309-FC2E57B9C497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Anomaly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E0CFE60-735C-48B4-8023-1D1E8A6CD0A2}"/>
              </a:ext>
            </a:extLst>
          </p:cNvPr>
          <p:cNvSpPr>
            <a:spLocks noGrp="1"/>
          </p:cNvSpPr>
          <p:nvPr/>
        </p:nvSpPr>
        <p:spPr>
          <a:xfrm>
            <a:off x="3162300" y="1381125"/>
            <a:ext cx="1238250" cy="5905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3ACB3E1-10FB-4E79-ABF2-2B53B4DBCB57}"/>
              </a:ext>
            </a:extLst>
          </p:cNvPr>
          <p:cNvSpPr>
            <a:spLocks noGrp="1"/>
          </p:cNvSpPr>
          <p:nvPr/>
        </p:nvSpPr>
        <p:spPr>
          <a:xfrm>
            <a:off x="3257550" y="14668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0694E97-5B6D-4024-A1ED-E512E6643373}"/>
              </a:ext>
            </a:extLst>
          </p:cNvPr>
          <p:cNvSpPr>
            <a:spLocks noGrp="1"/>
          </p:cNvSpPr>
          <p:nvPr/>
        </p:nvSpPr>
        <p:spPr>
          <a:xfrm>
            <a:off x="4400550" y="1381125"/>
            <a:ext cx="1809750" cy="5905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56848EF-9A47-4EFE-97D9-0C94765089FC}"/>
              </a:ext>
            </a:extLst>
          </p:cNvPr>
          <p:cNvSpPr>
            <a:spLocks noGrp="1"/>
          </p:cNvSpPr>
          <p:nvPr/>
        </p:nvSpPr>
        <p:spPr>
          <a:xfrm>
            <a:off x="4495800" y="14668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Entity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CEE2336-D467-4B22-A028-EC932D966CCB}"/>
              </a:ext>
            </a:extLst>
          </p:cNvPr>
          <p:cNvSpPr>
            <a:spLocks noGrp="1"/>
          </p:cNvSpPr>
          <p:nvPr/>
        </p:nvSpPr>
        <p:spPr>
          <a:xfrm>
            <a:off x="6210300" y="1381125"/>
            <a:ext cx="5295900" cy="5905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E42E9FD-4027-4832-844B-CE522485A226}"/>
              </a:ext>
            </a:extLst>
          </p:cNvPr>
          <p:cNvSpPr>
            <a:spLocks noGrp="1"/>
          </p:cNvSpPr>
          <p:nvPr/>
        </p:nvSpPr>
        <p:spPr>
          <a:xfrm>
            <a:off x="6305550" y="1466850"/>
            <a:ext cx="510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365A783-65EB-49EF-9790-D7616BD1EAD5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247650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2F6684E-3495-4D3E-816B-5DBB10D2B8E6}"/>
              </a:ext>
            </a:extLst>
          </p:cNvPr>
          <p:cNvSpPr>
            <a:spLocks noGrp="1"/>
          </p:cNvSpPr>
          <p:nvPr/>
        </p:nvSpPr>
        <p:spPr>
          <a:xfrm>
            <a:off x="781050" y="2047875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Brute-force burst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5D8E1A4-5A76-4285-9468-D6EF3133EE58}"/>
              </a:ext>
            </a:extLst>
          </p:cNvPr>
          <p:cNvSpPr>
            <a:spLocks noGrp="1"/>
          </p:cNvSpPr>
          <p:nvPr/>
        </p:nvSpPr>
        <p:spPr>
          <a:xfrm>
            <a:off x="3162300" y="1971675"/>
            <a:ext cx="123825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C4CBF27-B0C1-4F3B-A9C5-3F6784E43BD6}"/>
              </a:ext>
            </a:extLst>
          </p:cNvPr>
          <p:cNvSpPr>
            <a:spLocks noGrp="1"/>
          </p:cNvSpPr>
          <p:nvPr/>
        </p:nvSpPr>
        <p:spPr>
          <a:xfrm>
            <a:off x="3257550" y="2047875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95%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E1607D5-2CA7-4600-B5AA-BAB84783596A}"/>
              </a:ext>
            </a:extLst>
          </p:cNvPr>
          <p:cNvSpPr>
            <a:spLocks noGrp="1"/>
          </p:cNvSpPr>
          <p:nvPr/>
        </p:nvSpPr>
        <p:spPr>
          <a:xfrm>
            <a:off x="4400550" y="1971675"/>
            <a:ext cx="180975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7F34AC0-4BE3-470F-A70C-6E16670AC4A9}"/>
              </a:ext>
            </a:extLst>
          </p:cNvPr>
          <p:cNvSpPr>
            <a:spLocks noGrp="1"/>
          </p:cNvSpPr>
          <p:nvPr/>
        </p:nvSpPr>
        <p:spPr>
          <a:xfrm>
            <a:off x="4495800" y="204787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user_097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3496D60-00B4-4A71-ACFF-E0531117397C}"/>
              </a:ext>
            </a:extLst>
          </p:cNvPr>
          <p:cNvSpPr>
            <a:spLocks noGrp="1"/>
          </p:cNvSpPr>
          <p:nvPr/>
        </p:nvSpPr>
        <p:spPr>
          <a:xfrm>
            <a:off x="6210300" y="1971675"/>
            <a:ext cx="529590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80CF9FC-232E-4571-AF41-A676633F1DBF}"/>
              </a:ext>
            </a:extLst>
          </p:cNvPr>
          <p:cNvSpPr>
            <a:spLocks noGrp="1"/>
          </p:cNvSpPr>
          <p:nvPr/>
        </p:nvSpPr>
        <p:spPr>
          <a:xfrm>
            <a:off x="6305550" y="2047875"/>
            <a:ext cx="510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48 attempts at one second; 50.0% failure rate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49FE78C-53ED-48B5-A99D-ECC574DEEB6D}"/>
              </a:ext>
            </a:extLst>
          </p:cNvPr>
          <p:cNvSpPr>
            <a:spLocks noGrp="1"/>
          </p:cNvSpPr>
          <p:nvPr/>
        </p:nvSpPr>
        <p:spPr>
          <a:xfrm>
            <a:off x="685800" y="2562225"/>
            <a:ext cx="2476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8154D2A-7FEA-4370-8054-0C9C99B57767}"/>
              </a:ext>
            </a:extLst>
          </p:cNvPr>
          <p:cNvSpPr>
            <a:spLocks noGrp="1"/>
          </p:cNvSpPr>
          <p:nvPr/>
        </p:nvSpPr>
        <p:spPr>
          <a:xfrm>
            <a:off x="781050" y="2638425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Nightly probe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71C6F1E-8D4E-4CD2-9319-1EB0E71FD164}"/>
              </a:ext>
            </a:extLst>
          </p:cNvPr>
          <p:cNvSpPr>
            <a:spLocks noGrp="1"/>
          </p:cNvSpPr>
          <p:nvPr/>
        </p:nvSpPr>
        <p:spPr>
          <a:xfrm>
            <a:off x="3162300" y="2562225"/>
            <a:ext cx="1238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251BB7C-09A9-41D4-B5F2-42E4749A1253}"/>
              </a:ext>
            </a:extLst>
          </p:cNvPr>
          <p:cNvSpPr>
            <a:spLocks noGrp="1"/>
          </p:cNvSpPr>
          <p:nvPr/>
        </p:nvSpPr>
        <p:spPr>
          <a:xfrm>
            <a:off x="3257550" y="2638425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90%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8AC0276-6A95-4D16-AC30-45B96D1B583F}"/>
              </a:ext>
            </a:extLst>
          </p:cNvPr>
          <p:cNvSpPr>
            <a:spLocks noGrp="1"/>
          </p:cNvSpPr>
          <p:nvPr/>
        </p:nvSpPr>
        <p:spPr>
          <a:xfrm>
            <a:off x="4400550" y="256222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663D9DC-B1B5-45F2-8F23-6F0E70DBC9B8}"/>
              </a:ext>
            </a:extLst>
          </p:cNvPr>
          <p:cNvSpPr>
            <a:spLocks noGrp="1"/>
          </p:cNvSpPr>
          <p:nvPr/>
        </p:nvSpPr>
        <p:spPr>
          <a:xfrm>
            <a:off x="4495800" y="263842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user_003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7D2BBD2-661C-4F42-84FA-C0721D453E83}"/>
              </a:ext>
            </a:extLst>
          </p:cNvPr>
          <p:cNvSpPr>
            <a:spLocks noGrp="1"/>
          </p:cNvSpPr>
          <p:nvPr/>
        </p:nvSpPr>
        <p:spPr>
          <a:xfrm>
            <a:off x="6210300" y="2562225"/>
            <a:ext cx="52959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FC877AE-DB55-4CFC-86DE-B24EDC32606D}"/>
              </a:ext>
            </a:extLst>
          </p:cNvPr>
          <p:cNvSpPr>
            <a:spLocks noGrp="1"/>
          </p:cNvSpPr>
          <p:nvPr/>
        </p:nvSpPr>
        <p:spPr>
          <a:xfrm>
            <a:off x="6305550" y="2638425"/>
            <a:ext cx="510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33 exact 20:00 attempts from one IP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CA05416-5473-41E6-A1BE-F81C0ED2CDE3}"/>
              </a:ext>
            </a:extLst>
          </p:cNvPr>
          <p:cNvSpPr>
            <a:spLocks noGrp="1"/>
          </p:cNvSpPr>
          <p:nvPr/>
        </p:nvSpPr>
        <p:spPr>
          <a:xfrm>
            <a:off x="685800" y="3152775"/>
            <a:ext cx="247650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54D3E66-852C-459C-A5E6-D3A065343AEC}"/>
              </a:ext>
            </a:extLst>
          </p:cNvPr>
          <p:cNvSpPr>
            <a:spLocks noGrp="1"/>
          </p:cNvSpPr>
          <p:nvPr/>
        </p:nvSpPr>
        <p:spPr>
          <a:xfrm>
            <a:off x="781050" y="3228975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Shared IP spray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35DE5246-1D98-4764-BAFE-56631F48CC95}"/>
              </a:ext>
            </a:extLst>
          </p:cNvPr>
          <p:cNvSpPr>
            <a:spLocks noGrp="1"/>
          </p:cNvSpPr>
          <p:nvPr/>
        </p:nvSpPr>
        <p:spPr>
          <a:xfrm>
            <a:off x="3162300" y="3152775"/>
            <a:ext cx="123825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FB676B7-6DC3-48CE-BE41-06A7BDA8AF6D}"/>
              </a:ext>
            </a:extLst>
          </p:cNvPr>
          <p:cNvSpPr>
            <a:spLocks noGrp="1"/>
          </p:cNvSpPr>
          <p:nvPr/>
        </p:nvSpPr>
        <p:spPr>
          <a:xfrm>
            <a:off x="3257550" y="3228975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92%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8AABEE81-AA29-40E9-99C2-D2523B4BD4E6}"/>
              </a:ext>
            </a:extLst>
          </p:cNvPr>
          <p:cNvSpPr>
            <a:spLocks noGrp="1"/>
          </p:cNvSpPr>
          <p:nvPr/>
        </p:nvSpPr>
        <p:spPr>
          <a:xfrm>
            <a:off x="4400550" y="3152775"/>
            <a:ext cx="180975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BC91623-09D9-426C-9302-E4E1597961F6}"/>
              </a:ext>
            </a:extLst>
          </p:cNvPr>
          <p:cNvSpPr>
            <a:spLocks noGrp="1"/>
          </p:cNvSpPr>
          <p:nvPr/>
        </p:nvSpPr>
        <p:spPr>
          <a:xfrm>
            <a:off x="4495800" y="322897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45.139.113.61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6697A40-1595-420D-AAA0-40138BB53FB4}"/>
              </a:ext>
            </a:extLst>
          </p:cNvPr>
          <p:cNvSpPr>
            <a:spLocks noGrp="1"/>
          </p:cNvSpPr>
          <p:nvPr/>
        </p:nvSpPr>
        <p:spPr>
          <a:xfrm>
            <a:off x="6210300" y="3152775"/>
            <a:ext cx="529590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CE3BB54-C5DC-4401-845A-6CA962D83C37}"/>
              </a:ext>
            </a:extLst>
          </p:cNvPr>
          <p:cNvSpPr>
            <a:spLocks noGrp="1"/>
          </p:cNvSpPr>
          <p:nvPr/>
        </p:nvSpPr>
        <p:spPr>
          <a:xfrm>
            <a:off x="6305550" y="3228975"/>
            <a:ext cx="510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20 users at same timestamp; 7 failures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27F6C68-D7D0-43D6-8E87-1297E753B028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2476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7FF7933B-B015-468F-84E3-6373CF0CA5AB}"/>
              </a:ext>
            </a:extLst>
          </p:cNvPr>
          <p:cNvSpPr>
            <a:spLocks noGrp="1"/>
          </p:cNvSpPr>
          <p:nvPr/>
        </p:nvSpPr>
        <p:spPr>
          <a:xfrm>
            <a:off x="781050" y="3819525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IP velocity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51BC668D-B0D6-48D8-AC4A-B057FC43CBE1}"/>
              </a:ext>
            </a:extLst>
          </p:cNvPr>
          <p:cNvSpPr>
            <a:spLocks noGrp="1"/>
          </p:cNvSpPr>
          <p:nvPr/>
        </p:nvSpPr>
        <p:spPr>
          <a:xfrm>
            <a:off x="3162300" y="3743325"/>
            <a:ext cx="1238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AF11858-2C3E-4424-99E5-07B8463BBB82}"/>
              </a:ext>
            </a:extLst>
          </p:cNvPr>
          <p:cNvSpPr>
            <a:spLocks noGrp="1"/>
          </p:cNvSpPr>
          <p:nvPr/>
        </p:nvSpPr>
        <p:spPr>
          <a:xfrm>
            <a:off x="3257550" y="3819525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70%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7E1A32A2-CFAF-45C3-8908-7925E399F1DE}"/>
              </a:ext>
            </a:extLst>
          </p:cNvPr>
          <p:cNvSpPr>
            <a:spLocks noGrp="1"/>
          </p:cNvSpPr>
          <p:nvPr/>
        </p:nvSpPr>
        <p:spPr>
          <a:xfrm>
            <a:off x="4400550" y="374332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B45A8FE2-B779-4E38-AEF0-CE4EE65A57AC}"/>
              </a:ext>
            </a:extLst>
          </p:cNvPr>
          <p:cNvSpPr>
            <a:spLocks noGrp="1"/>
          </p:cNvSpPr>
          <p:nvPr/>
        </p:nvSpPr>
        <p:spPr>
          <a:xfrm>
            <a:off x="4495800" y="381952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100 users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BF0D3D0-1BAD-4130-844C-2C99FF0A6092}"/>
              </a:ext>
            </a:extLst>
          </p:cNvPr>
          <p:cNvSpPr>
            <a:spLocks noGrp="1"/>
          </p:cNvSpPr>
          <p:nvPr/>
        </p:nvSpPr>
        <p:spPr>
          <a:xfrm>
            <a:off x="6210300" y="3743325"/>
            <a:ext cx="52959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DCB07BCF-C62C-499A-95E7-BD2BB55F378F}"/>
              </a:ext>
            </a:extLst>
          </p:cNvPr>
          <p:cNvSpPr>
            <a:spLocks noGrp="1"/>
          </p:cNvSpPr>
          <p:nvPr/>
        </p:nvSpPr>
        <p:spPr>
          <a:xfrm>
            <a:off x="6305550" y="3819525"/>
            <a:ext cx="510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Threshold flags broad behavior; needs calibration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78AFAD6-E76D-485C-9E2C-7D78D51B1DA1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247650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913BF6A-4677-49DF-81BD-380E46991848}"/>
              </a:ext>
            </a:extLst>
          </p:cNvPr>
          <p:cNvSpPr>
            <a:spLocks noGrp="1"/>
          </p:cNvSpPr>
          <p:nvPr/>
        </p:nvSpPr>
        <p:spPr>
          <a:xfrm>
            <a:off x="781050" y="4410075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Off-hours access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291E06A4-39BB-45E1-8888-51C70B7AAC7A}"/>
              </a:ext>
            </a:extLst>
          </p:cNvPr>
          <p:cNvSpPr>
            <a:spLocks noGrp="1"/>
          </p:cNvSpPr>
          <p:nvPr/>
        </p:nvSpPr>
        <p:spPr>
          <a:xfrm>
            <a:off x="3162300" y="4333875"/>
            <a:ext cx="123825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CFB714C3-EDC8-4202-9D79-3CED1B0BB93A}"/>
              </a:ext>
            </a:extLst>
          </p:cNvPr>
          <p:cNvSpPr>
            <a:spLocks noGrp="1"/>
          </p:cNvSpPr>
          <p:nvPr/>
        </p:nvSpPr>
        <p:spPr>
          <a:xfrm>
            <a:off x="3257550" y="4410075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65%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835CD6DB-122A-4E06-ABA3-4B4F9460D6FB}"/>
              </a:ext>
            </a:extLst>
          </p:cNvPr>
          <p:cNvSpPr>
            <a:spLocks noGrp="1"/>
          </p:cNvSpPr>
          <p:nvPr/>
        </p:nvSpPr>
        <p:spPr>
          <a:xfrm>
            <a:off x="4400550" y="4333875"/>
            <a:ext cx="180975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0F4AF55E-9F58-41E5-AA96-16A7368BB6ED}"/>
              </a:ext>
            </a:extLst>
          </p:cNvPr>
          <p:cNvSpPr>
            <a:spLocks noGrp="1"/>
          </p:cNvSpPr>
          <p:nvPr/>
        </p:nvSpPr>
        <p:spPr>
          <a:xfrm>
            <a:off x="4495800" y="441007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user_009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B3BBB2F4-A5AA-4C09-93D2-D66BE929C59A}"/>
              </a:ext>
            </a:extLst>
          </p:cNvPr>
          <p:cNvSpPr>
            <a:spLocks noGrp="1"/>
          </p:cNvSpPr>
          <p:nvPr/>
        </p:nvSpPr>
        <p:spPr>
          <a:xfrm>
            <a:off x="6210300" y="4333875"/>
            <a:ext cx="529590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CAA4A015-0266-42C7-B870-22BAB1FB6EB6}"/>
              </a:ext>
            </a:extLst>
          </p:cNvPr>
          <p:cNvSpPr>
            <a:spLocks noGrp="1"/>
          </p:cNvSpPr>
          <p:nvPr/>
        </p:nvSpPr>
        <p:spPr>
          <a:xfrm>
            <a:off x="6305550" y="4410075"/>
            <a:ext cx="510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4 midnight-to-05:00 logins plus high IP spread</a:t>
            </a: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C418939B-0AB2-47F1-9756-EE7385C25B63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BA262B5D-2FFC-4EF7-9A7A-15E3404FC192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5DA92327-FD7E-4D49-ACF1-4A1A4CAB6C0F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SOC queue should start with automated bursts and mass shared-IP events because they are high-confidence and easy to contain.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1BE3E4C4-DF2F-4217-AD30-F12245C412FC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46A8C169-27ED-4E06-84D3-569053F6A01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F02E505E-0EE8-4757-B5DB-9D094C4F57B6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777568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Рисунок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C2914CD-5665-4C71-84F6-68F7EE5CA3D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A91D241-943C-42F4-B186-57E7043AB24F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80738C1-D480-46B4-B21B-DE24BBECCF7B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27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AC8CEA9-CD9C-40C6-95AA-005DC9144E9E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These findings are evidence, not courtroom proof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36CC598-89B0-4C16-9F96-88D1AAB83C4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2000250" cy="60007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A2A2B7D-DD7A-46D3-B366-4451F6C6B1CE}"/>
              </a:ext>
            </a:extLst>
          </p:cNvPr>
          <p:cNvSpPr>
            <a:spLocks noGrp="1"/>
          </p:cNvSpPr>
          <p:nvPr/>
        </p:nvSpPr>
        <p:spPr>
          <a:xfrm>
            <a:off x="781050" y="15144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Risk to manage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93E9676-90BF-4E70-8255-55BAABB7CE5D}"/>
              </a:ext>
            </a:extLst>
          </p:cNvPr>
          <p:cNvSpPr>
            <a:spLocks noGrp="1"/>
          </p:cNvSpPr>
          <p:nvPr/>
        </p:nvSpPr>
        <p:spPr>
          <a:xfrm>
            <a:off x="2686050" y="1428750"/>
            <a:ext cx="4191000" cy="60007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5872263-4DC2-45ED-8961-953F4F8BE782}"/>
              </a:ext>
            </a:extLst>
          </p:cNvPr>
          <p:cNvSpPr>
            <a:spLocks noGrp="1"/>
          </p:cNvSpPr>
          <p:nvPr/>
        </p:nvSpPr>
        <p:spPr>
          <a:xfrm>
            <a:off x="2781300" y="1514475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How it appears here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2022DBB-F285-4D52-8D7D-9A0A2C871CA3}"/>
              </a:ext>
            </a:extLst>
          </p:cNvPr>
          <p:cNvSpPr>
            <a:spLocks noGrp="1"/>
          </p:cNvSpPr>
          <p:nvPr/>
        </p:nvSpPr>
        <p:spPr>
          <a:xfrm>
            <a:off x="6877050" y="1428750"/>
            <a:ext cx="4629150" cy="60007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B59131A-FA87-4981-84CB-6E544647A431}"/>
              </a:ext>
            </a:extLst>
          </p:cNvPr>
          <p:cNvSpPr>
            <a:spLocks noGrp="1"/>
          </p:cNvSpPr>
          <p:nvPr/>
        </p:nvSpPr>
        <p:spPr>
          <a:xfrm>
            <a:off x="6972300" y="1514475"/>
            <a:ext cx="443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Mitigation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5B1A506-0D1A-46E8-A25D-9B1A5205B357}"/>
              </a:ext>
            </a:extLst>
          </p:cNvPr>
          <p:cNvSpPr>
            <a:spLocks noGrp="1"/>
          </p:cNvSpPr>
          <p:nvPr/>
        </p:nvSpPr>
        <p:spPr>
          <a:xfrm>
            <a:off x="685800" y="2028825"/>
            <a:ext cx="2000250" cy="6000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577381F-137D-4B7B-BF1F-C13B0D0D011B}"/>
              </a:ext>
            </a:extLst>
          </p:cNvPr>
          <p:cNvSpPr>
            <a:spLocks noGrp="1"/>
          </p:cNvSpPr>
          <p:nvPr/>
        </p:nvSpPr>
        <p:spPr>
          <a:xfrm>
            <a:off x="781050" y="2105025"/>
            <a:ext cx="1809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False positives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7CB63FC-F5A2-4F6F-A7B8-EEB26BBFCA3B}"/>
              </a:ext>
            </a:extLst>
          </p:cNvPr>
          <p:cNvSpPr>
            <a:spLocks noGrp="1"/>
          </p:cNvSpPr>
          <p:nvPr/>
        </p:nvSpPr>
        <p:spPr>
          <a:xfrm>
            <a:off x="2686050" y="2028825"/>
            <a:ext cx="4191000" cy="6000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67F405F-EC23-4D4D-947E-6565716FA5E7}"/>
              </a:ext>
            </a:extLst>
          </p:cNvPr>
          <p:cNvSpPr>
            <a:spLocks noGrp="1"/>
          </p:cNvSpPr>
          <p:nvPr/>
        </p:nvSpPr>
        <p:spPr>
          <a:xfrm>
            <a:off x="2781300" y="2105025"/>
            <a:ext cx="40005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VPNs, travel, failed password memory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971489B-6C76-48FE-9F5D-50A915AAAA77}"/>
              </a:ext>
            </a:extLst>
          </p:cNvPr>
          <p:cNvSpPr>
            <a:spLocks noGrp="1"/>
          </p:cNvSpPr>
          <p:nvPr/>
        </p:nvSpPr>
        <p:spPr>
          <a:xfrm>
            <a:off x="6877050" y="2028825"/>
            <a:ext cx="4629150" cy="6000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8E1DF61-F8A6-4B74-9090-9C8243C4E190}"/>
              </a:ext>
            </a:extLst>
          </p:cNvPr>
          <p:cNvSpPr>
            <a:spLocks noGrp="1"/>
          </p:cNvSpPr>
          <p:nvPr/>
        </p:nvSpPr>
        <p:spPr>
          <a:xfrm>
            <a:off x="6972300" y="2105025"/>
            <a:ext cx="4438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Use combinations of signals and analyst review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78F4D97-8F12-45F3-96B3-B0D24FC60489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2000250" cy="6000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9F286C6-69A0-47CF-93E8-48B8695C4C04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1809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False negatives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526F780-F633-488E-B62B-908988FC8074}"/>
              </a:ext>
            </a:extLst>
          </p:cNvPr>
          <p:cNvSpPr>
            <a:spLocks noGrp="1"/>
          </p:cNvSpPr>
          <p:nvPr/>
        </p:nvSpPr>
        <p:spPr>
          <a:xfrm>
            <a:off x="2686050" y="2628900"/>
            <a:ext cx="4191000" cy="6000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9A68E17-1BA8-47B5-A439-58E576085A34}"/>
              </a:ext>
            </a:extLst>
          </p:cNvPr>
          <p:cNvSpPr>
            <a:spLocks noGrp="1"/>
          </p:cNvSpPr>
          <p:nvPr/>
        </p:nvSpPr>
        <p:spPr>
          <a:xfrm>
            <a:off x="2781300" y="2705100"/>
            <a:ext cx="40005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Low-and-slow attacks below thresholds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4D9149E-CE72-46AC-BDEC-CE64948EDE27}"/>
              </a:ext>
            </a:extLst>
          </p:cNvPr>
          <p:cNvSpPr>
            <a:spLocks noGrp="1"/>
          </p:cNvSpPr>
          <p:nvPr/>
        </p:nvSpPr>
        <p:spPr>
          <a:xfrm>
            <a:off x="6877050" y="2628900"/>
            <a:ext cx="4629150" cy="6000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D0B5F34-B777-46F7-9A8F-D73412078FF3}"/>
              </a:ext>
            </a:extLst>
          </p:cNvPr>
          <p:cNvSpPr>
            <a:spLocks noGrp="1"/>
          </p:cNvSpPr>
          <p:nvPr/>
        </p:nvSpPr>
        <p:spPr>
          <a:xfrm>
            <a:off x="6972300" y="2705100"/>
            <a:ext cx="4438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Monitor sequences and rolling baselines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FC53092-AB30-41BF-9528-B25CBF293ADB}"/>
              </a:ext>
            </a:extLst>
          </p:cNvPr>
          <p:cNvSpPr>
            <a:spLocks noGrp="1"/>
          </p:cNvSpPr>
          <p:nvPr/>
        </p:nvSpPr>
        <p:spPr>
          <a:xfrm>
            <a:off x="685800" y="3228975"/>
            <a:ext cx="2000250" cy="6000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854CBD6-DBAF-4F3D-BFB1-4589F7E1AFD0}"/>
              </a:ext>
            </a:extLst>
          </p:cNvPr>
          <p:cNvSpPr>
            <a:spLocks noGrp="1"/>
          </p:cNvSpPr>
          <p:nvPr/>
        </p:nvSpPr>
        <p:spPr>
          <a:xfrm>
            <a:off x="781050" y="3305175"/>
            <a:ext cx="1809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Sampling bias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7913730-C8DB-45B9-9BD0-C3B85E9DCFCF}"/>
              </a:ext>
            </a:extLst>
          </p:cNvPr>
          <p:cNvSpPr>
            <a:spLocks noGrp="1"/>
          </p:cNvSpPr>
          <p:nvPr/>
        </p:nvSpPr>
        <p:spPr>
          <a:xfrm>
            <a:off x="2686050" y="3228975"/>
            <a:ext cx="4191000" cy="6000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7928B51-AB59-47D2-ACC2-31888D8DE4A9}"/>
              </a:ext>
            </a:extLst>
          </p:cNvPr>
          <p:cNvSpPr>
            <a:spLocks noGrp="1"/>
          </p:cNvSpPr>
          <p:nvPr/>
        </p:nvSpPr>
        <p:spPr>
          <a:xfrm>
            <a:off x="2781300" y="3305175"/>
            <a:ext cx="40005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Only three months and no labels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E9107E5-AFD1-4695-80CC-AB5C1AC69370}"/>
              </a:ext>
            </a:extLst>
          </p:cNvPr>
          <p:cNvSpPr>
            <a:spLocks noGrp="1"/>
          </p:cNvSpPr>
          <p:nvPr/>
        </p:nvSpPr>
        <p:spPr>
          <a:xfrm>
            <a:off x="6877050" y="3228975"/>
            <a:ext cx="4629150" cy="6000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29FE6C4-8B25-4C25-BF8F-9FDC603BD866}"/>
              </a:ext>
            </a:extLst>
          </p:cNvPr>
          <p:cNvSpPr>
            <a:spLocks noGrp="1"/>
          </p:cNvSpPr>
          <p:nvPr/>
        </p:nvSpPr>
        <p:spPr>
          <a:xfrm>
            <a:off x="6972300" y="3305175"/>
            <a:ext cx="4438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Backtest on longer historical periods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08A2A4B-F33D-46B8-86FB-E77CFC31F115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2000250" cy="6000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14AE8ED-46A4-4C6D-80C9-886A8BAC4DEB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1809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Threshold bias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B913B94-108C-4AC7-995B-DA605DF2CC1B}"/>
              </a:ext>
            </a:extLst>
          </p:cNvPr>
          <p:cNvSpPr>
            <a:spLocks noGrp="1"/>
          </p:cNvSpPr>
          <p:nvPr/>
        </p:nvSpPr>
        <p:spPr>
          <a:xfrm>
            <a:off x="2686050" y="3829050"/>
            <a:ext cx="4191000" cy="6000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32E2FFC-1596-4F2C-9C98-EDFE8EC1C7E0}"/>
              </a:ext>
            </a:extLst>
          </p:cNvPr>
          <p:cNvSpPr>
            <a:spLocks noGrp="1"/>
          </p:cNvSpPr>
          <p:nvPr/>
        </p:nvSpPr>
        <p:spPr>
          <a:xfrm>
            <a:off x="2781300" y="3905250"/>
            <a:ext cx="40005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IP velocity flags too broadly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51D5FE7-1A74-4A6A-B2F4-774347367E91}"/>
              </a:ext>
            </a:extLst>
          </p:cNvPr>
          <p:cNvSpPr>
            <a:spLocks noGrp="1"/>
          </p:cNvSpPr>
          <p:nvPr/>
        </p:nvSpPr>
        <p:spPr>
          <a:xfrm>
            <a:off x="6877050" y="3829050"/>
            <a:ext cx="4629150" cy="6000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FBE2A0F-04D7-4D96-AC33-DAC6A721EC7E}"/>
              </a:ext>
            </a:extLst>
          </p:cNvPr>
          <p:cNvSpPr>
            <a:spLocks noGrp="1"/>
          </p:cNvSpPr>
          <p:nvPr/>
        </p:nvSpPr>
        <p:spPr>
          <a:xfrm>
            <a:off x="6972300" y="3905250"/>
            <a:ext cx="4438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Calibrate per user segment and feedback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714D111-26E7-4753-A159-48F162B97E11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2000250" cy="6000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668DF3B-D498-4BAC-9A15-8890FA3739F6}"/>
              </a:ext>
            </a:extLst>
          </p:cNvPr>
          <p:cNvSpPr>
            <a:spLocks noGrp="1"/>
          </p:cNvSpPr>
          <p:nvPr/>
        </p:nvSpPr>
        <p:spPr>
          <a:xfrm>
            <a:off x="781050" y="4505325"/>
            <a:ext cx="1809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Missing context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37EF785C-E113-44DB-8F96-E514E93BB907}"/>
              </a:ext>
            </a:extLst>
          </p:cNvPr>
          <p:cNvSpPr>
            <a:spLocks noGrp="1"/>
          </p:cNvSpPr>
          <p:nvPr/>
        </p:nvSpPr>
        <p:spPr>
          <a:xfrm>
            <a:off x="2686050" y="4429125"/>
            <a:ext cx="4191000" cy="6000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BF6F37C8-94A0-44F7-9C63-53D26662243F}"/>
              </a:ext>
            </a:extLst>
          </p:cNvPr>
          <p:cNvSpPr>
            <a:spLocks noGrp="1"/>
          </p:cNvSpPr>
          <p:nvPr/>
        </p:nvSpPr>
        <p:spPr>
          <a:xfrm>
            <a:off x="2781300" y="4505325"/>
            <a:ext cx="40005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No geo, ASN, MFA, user agent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91DF7590-72DB-49CB-9779-505BDEBAC4FB}"/>
              </a:ext>
            </a:extLst>
          </p:cNvPr>
          <p:cNvSpPr>
            <a:spLocks noGrp="1"/>
          </p:cNvSpPr>
          <p:nvPr/>
        </p:nvSpPr>
        <p:spPr>
          <a:xfrm>
            <a:off x="6877050" y="4429125"/>
            <a:ext cx="4629150" cy="60007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F4572C6F-AC6F-46C6-921A-A728DC21B47C}"/>
              </a:ext>
            </a:extLst>
          </p:cNvPr>
          <p:cNvSpPr>
            <a:spLocks noGrp="1"/>
          </p:cNvSpPr>
          <p:nvPr/>
        </p:nvSpPr>
        <p:spPr>
          <a:xfrm>
            <a:off x="6972300" y="4505325"/>
            <a:ext cx="4438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Enrich events before automation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18220C92-FD5D-45C9-BF91-3BA946FAAEA7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84CEC15-9B4B-4F53-8255-D2F8FFD27B87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D4D6310D-DE15-4C4F-A7CF-166BD34E803C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correct claim is 'high-confidence suspicious behavior requiring investigation,' not confirmed malicious activity.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CC44F971-2C26-42CD-A313-4A04C2A5A2DA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CE1DAB4-E714-4759-AEEC-569C1B215C0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F35CE49-1C84-4A92-AD60-41E979392751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629480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Рисунок 8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CFDAC09-D368-464F-A785-008CAB2AD04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A99871F-1556-4AF1-8B7E-FA4CDD8325D6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CC7D9CE-6413-475C-905A-A960C5F591B1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28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E0E788C-F641-491A-8FF5-A299F03780E4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Heuristics are the right first model for this unlabeled dataset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095949B-CB0F-4EB0-AAFA-31CCA4D19CD1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219075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A2E09BE-D3AA-46BA-979A-939110C9456B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31AA53E-F826-476E-BE4C-616A3B0EADF6}"/>
              </a:ext>
            </a:extLst>
          </p:cNvPr>
          <p:cNvSpPr>
            <a:spLocks noGrp="1"/>
          </p:cNvSpPr>
          <p:nvPr/>
        </p:nvSpPr>
        <p:spPr>
          <a:xfrm>
            <a:off x="2876550" y="1381125"/>
            <a:ext cx="180975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230049-E7F7-4AF9-8B18-769687EF89CB}"/>
              </a:ext>
            </a:extLst>
          </p:cNvPr>
          <p:cNvSpPr>
            <a:spLocks noGrp="1"/>
          </p:cNvSpPr>
          <p:nvPr/>
        </p:nvSpPr>
        <p:spPr>
          <a:xfrm>
            <a:off x="2971800" y="14668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Interpretability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8FAA2E-EF28-4F68-80F3-394B9FA84237}"/>
              </a:ext>
            </a:extLst>
          </p:cNvPr>
          <p:cNvSpPr>
            <a:spLocks noGrp="1"/>
          </p:cNvSpPr>
          <p:nvPr/>
        </p:nvSpPr>
        <p:spPr>
          <a:xfrm>
            <a:off x="4686300" y="1381125"/>
            <a:ext cx="171450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37CA0B5-EDF6-4F1A-8812-7418F99B0A17}"/>
              </a:ext>
            </a:extLst>
          </p:cNvPr>
          <p:cNvSpPr>
            <a:spLocks noGrp="1"/>
          </p:cNvSpPr>
          <p:nvPr/>
        </p:nvSpPr>
        <p:spPr>
          <a:xfrm>
            <a:off x="4781550" y="14668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Data need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15A6D67-FA47-43C5-8771-1382BCC3CA53}"/>
              </a:ext>
            </a:extLst>
          </p:cNvPr>
          <p:cNvSpPr>
            <a:spLocks noGrp="1"/>
          </p:cNvSpPr>
          <p:nvPr/>
        </p:nvSpPr>
        <p:spPr>
          <a:xfrm>
            <a:off x="6400800" y="1381125"/>
            <a:ext cx="171450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0244ABE-A4EE-4314-AFBE-F6E713A76788}"/>
              </a:ext>
            </a:extLst>
          </p:cNvPr>
          <p:cNvSpPr>
            <a:spLocks noGrp="1"/>
          </p:cNvSpPr>
          <p:nvPr/>
        </p:nvSpPr>
        <p:spPr>
          <a:xfrm>
            <a:off x="6496050" y="14668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Maintenance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6281A1C-F214-4712-A608-21B98A40654B}"/>
              </a:ext>
            </a:extLst>
          </p:cNvPr>
          <p:cNvSpPr>
            <a:spLocks noGrp="1"/>
          </p:cNvSpPr>
          <p:nvPr/>
        </p:nvSpPr>
        <p:spPr>
          <a:xfrm>
            <a:off x="8115300" y="1381125"/>
            <a:ext cx="339090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EC90598-69CE-4AD6-B5B4-28C2741B6510}"/>
              </a:ext>
            </a:extLst>
          </p:cNvPr>
          <p:cNvSpPr>
            <a:spLocks noGrp="1"/>
          </p:cNvSpPr>
          <p:nvPr/>
        </p:nvSpPr>
        <p:spPr>
          <a:xfrm>
            <a:off x="8210550" y="1466850"/>
            <a:ext cx="320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Fit here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8D681C9-0037-4B86-A728-1295BE5DD48A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21907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12F9168-5C78-4540-8527-31D76F2E171A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Heuristics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51D4638-3237-4AA9-ACD9-6925B6012C41}"/>
              </a:ext>
            </a:extLst>
          </p:cNvPr>
          <p:cNvSpPr>
            <a:spLocks noGrp="1"/>
          </p:cNvSpPr>
          <p:nvPr/>
        </p:nvSpPr>
        <p:spPr>
          <a:xfrm>
            <a:off x="2876550" y="1933575"/>
            <a:ext cx="18097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E0B47AB-C7C3-4B03-89DD-EBE49B5BCC37}"/>
              </a:ext>
            </a:extLst>
          </p:cNvPr>
          <p:cNvSpPr>
            <a:spLocks noGrp="1"/>
          </p:cNvSpPr>
          <p:nvPr/>
        </p:nvSpPr>
        <p:spPr>
          <a:xfrm>
            <a:off x="2971800" y="2009775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High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94D3E04-11A3-4F8A-934F-81D0D18F2281}"/>
              </a:ext>
            </a:extLst>
          </p:cNvPr>
          <p:cNvSpPr>
            <a:spLocks noGrp="1"/>
          </p:cNvSpPr>
          <p:nvPr/>
        </p:nvSpPr>
        <p:spPr>
          <a:xfrm>
            <a:off x="4686300" y="1933575"/>
            <a:ext cx="17145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2349A51-D3CD-4C05-8233-46A49AE29177}"/>
              </a:ext>
            </a:extLst>
          </p:cNvPr>
          <p:cNvSpPr>
            <a:spLocks noGrp="1"/>
          </p:cNvSpPr>
          <p:nvPr/>
        </p:nvSpPr>
        <p:spPr>
          <a:xfrm>
            <a:off x="4781550" y="200977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Low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A29D5A5-6B9D-4B60-B541-2003E6C3A17D}"/>
              </a:ext>
            </a:extLst>
          </p:cNvPr>
          <p:cNvSpPr>
            <a:spLocks noGrp="1"/>
          </p:cNvSpPr>
          <p:nvPr/>
        </p:nvSpPr>
        <p:spPr>
          <a:xfrm>
            <a:off x="6400800" y="1933575"/>
            <a:ext cx="17145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54DB8EC-3FBE-4981-A35B-5D6D9BEECD6B}"/>
              </a:ext>
            </a:extLst>
          </p:cNvPr>
          <p:cNvSpPr>
            <a:spLocks noGrp="1"/>
          </p:cNvSpPr>
          <p:nvPr/>
        </p:nvSpPr>
        <p:spPr>
          <a:xfrm>
            <a:off x="6496050" y="200977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Low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CCC025A-E63C-4E3D-BE9D-D848FB9DE06F}"/>
              </a:ext>
            </a:extLst>
          </p:cNvPr>
          <p:cNvSpPr>
            <a:spLocks noGrp="1"/>
          </p:cNvSpPr>
          <p:nvPr/>
        </p:nvSpPr>
        <p:spPr>
          <a:xfrm>
            <a:off x="8115300" y="1933575"/>
            <a:ext cx="33909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D4F001C-4560-4CF9-9511-0E122549A530}"/>
              </a:ext>
            </a:extLst>
          </p:cNvPr>
          <p:cNvSpPr>
            <a:spLocks noGrp="1"/>
          </p:cNvSpPr>
          <p:nvPr/>
        </p:nvSpPr>
        <p:spPr>
          <a:xfrm>
            <a:off x="8210550" y="2009775"/>
            <a:ext cx="320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Best starting point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5C5BDBB-9325-4D16-8724-F1D7154DE84B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FB422FA-37A3-49C8-8E5F-83E567ABC8AA}"/>
              </a:ext>
            </a:extLst>
          </p:cNvPr>
          <p:cNvSpPr>
            <a:spLocks noGrp="1"/>
          </p:cNvSpPr>
          <p:nvPr/>
        </p:nvSpPr>
        <p:spPr>
          <a:xfrm>
            <a:off x="781050" y="2562225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Isolation Forest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09F191D-78CA-4435-BBF9-90F30C4F69F5}"/>
              </a:ext>
            </a:extLst>
          </p:cNvPr>
          <p:cNvSpPr>
            <a:spLocks noGrp="1"/>
          </p:cNvSpPr>
          <p:nvPr/>
        </p:nvSpPr>
        <p:spPr>
          <a:xfrm>
            <a:off x="2876550" y="2486025"/>
            <a:ext cx="1809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D546F6E-F135-420D-9C38-542A28D088B7}"/>
              </a:ext>
            </a:extLst>
          </p:cNvPr>
          <p:cNvSpPr>
            <a:spLocks noGrp="1"/>
          </p:cNvSpPr>
          <p:nvPr/>
        </p:nvSpPr>
        <p:spPr>
          <a:xfrm>
            <a:off x="2971800" y="2562225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Medium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7C2BAB3-4133-46BB-AE9E-C649CC8E606D}"/>
              </a:ext>
            </a:extLst>
          </p:cNvPr>
          <p:cNvSpPr>
            <a:spLocks noGrp="1"/>
          </p:cNvSpPr>
          <p:nvPr/>
        </p:nvSpPr>
        <p:spPr>
          <a:xfrm>
            <a:off x="4686300" y="2486025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615A78D-D331-4D1B-A807-9C60E64C5D0A}"/>
              </a:ext>
            </a:extLst>
          </p:cNvPr>
          <p:cNvSpPr>
            <a:spLocks noGrp="1"/>
          </p:cNvSpPr>
          <p:nvPr/>
        </p:nvSpPr>
        <p:spPr>
          <a:xfrm>
            <a:off x="4781550" y="256222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Medium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327DB5B-5954-4A1D-852C-4911858E8169}"/>
              </a:ext>
            </a:extLst>
          </p:cNvPr>
          <p:cNvSpPr>
            <a:spLocks noGrp="1"/>
          </p:cNvSpPr>
          <p:nvPr/>
        </p:nvSpPr>
        <p:spPr>
          <a:xfrm>
            <a:off x="6400800" y="2486025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294EF50-5FC0-446E-A68B-6A4C916312B1}"/>
              </a:ext>
            </a:extLst>
          </p:cNvPr>
          <p:cNvSpPr>
            <a:spLocks noGrp="1"/>
          </p:cNvSpPr>
          <p:nvPr/>
        </p:nvSpPr>
        <p:spPr>
          <a:xfrm>
            <a:off x="6496050" y="256222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Medium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438B2ADA-7F8F-42F6-8E5B-6A4C29AF7028}"/>
              </a:ext>
            </a:extLst>
          </p:cNvPr>
          <p:cNvSpPr>
            <a:spLocks noGrp="1"/>
          </p:cNvSpPr>
          <p:nvPr/>
        </p:nvSpPr>
        <p:spPr>
          <a:xfrm>
            <a:off x="8115300" y="2486025"/>
            <a:ext cx="33909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EFE7A3D-C1EE-4AD6-93C1-875201DA770E}"/>
              </a:ext>
            </a:extLst>
          </p:cNvPr>
          <p:cNvSpPr>
            <a:spLocks noGrp="1"/>
          </p:cNvSpPr>
          <p:nvPr/>
        </p:nvSpPr>
        <p:spPr>
          <a:xfrm>
            <a:off x="8210550" y="2562225"/>
            <a:ext cx="320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Possible after baselines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721793E-1B36-42FD-8F66-F94E80D0312D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21907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47D6E14A-A9C5-48CC-B57F-1407B891D4A6}"/>
              </a:ext>
            </a:extLst>
          </p:cNvPr>
          <p:cNvSpPr>
            <a:spLocks noGrp="1"/>
          </p:cNvSpPr>
          <p:nvPr/>
        </p:nvSpPr>
        <p:spPr>
          <a:xfrm>
            <a:off x="781050" y="3114675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LOF / DBSCAN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124FFB5-F41C-4D8B-893C-46C2CB2A4046}"/>
              </a:ext>
            </a:extLst>
          </p:cNvPr>
          <p:cNvSpPr>
            <a:spLocks noGrp="1"/>
          </p:cNvSpPr>
          <p:nvPr/>
        </p:nvSpPr>
        <p:spPr>
          <a:xfrm>
            <a:off x="2876550" y="3038475"/>
            <a:ext cx="18097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E98592D-769A-4590-8EF1-30FF8527B442}"/>
              </a:ext>
            </a:extLst>
          </p:cNvPr>
          <p:cNvSpPr>
            <a:spLocks noGrp="1"/>
          </p:cNvSpPr>
          <p:nvPr/>
        </p:nvSpPr>
        <p:spPr>
          <a:xfrm>
            <a:off x="2971800" y="3114675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Medium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3A82E62-6222-4BF1-9E02-E24485A95A15}"/>
              </a:ext>
            </a:extLst>
          </p:cNvPr>
          <p:cNvSpPr>
            <a:spLocks noGrp="1"/>
          </p:cNvSpPr>
          <p:nvPr/>
        </p:nvSpPr>
        <p:spPr>
          <a:xfrm>
            <a:off x="4686300" y="3038475"/>
            <a:ext cx="17145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5B361A42-850B-47DE-9794-EAE9A1FE83F0}"/>
              </a:ext>
            </a:extLst>
          </p:cNvPr>
          <p:cNvSpPr>
            <a:spLocks noGrp="1"/>
          </p:cNvSpPr>
          <p:nvPr/>
        </p:nvSpPr>
        <p:spPr>
          <a:xfrm>
            <a:off x="4781550" y="311467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Medium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7A800D06-F052-4C57-907D-F1B301C14350}"/>
              </a:ext>
            </a:extLst>
          </p:cNvPr>
          <p:cNvSpPr>
            <a:spLocks noGrp="1"/>
          </p:cNvSpPr>
          <p:nvPr/>
        </p:nvSpPr>
        <p:spPr>
          <a:xfrm>
            <a:off x="6400800" y="3038475"/>
            <a:ext cx="17145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2A073E00-C47A-4753-B4EB-5A4887676F4A}"/>
              </a:ext>
            </a:extLst>
          </p:cNvPr>
          <p:cNvSpPr>
            <a:spLocks noGrp="1"/>
          </p:cNvSpPr>
          <p:nvPr/>
        </p:nvSpPr>
        <p:spPr>
          <a:xfrm>
            <a:off x="6496050" y="311467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Medium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D00C2D58-0F7B-4660-A763-8C427B3C673C}"/>
              </a:ext>
            </a:extLst>
          </p:cNvPr>
          <p:cNvSpPr>
            <a:spLocks noGrp="1"/>
          </p:cNvSpPr>
          <p:nvPr/>
        </p:nvSpPr>
        <p:spPr>
          <a:xfrm>
            <a:off x="8115300" y="3038475"/>
            <a:ext cx="33909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B62E11C4-8FFA-4474-9130-CCAD97C7E75E}"/>
              </a:ext>
            </a:extLst>
          </p:cNvPr>
          <p:cNvSpPr>
            <a:spLocks noGrp="1"/>
          </p:cNvSpPr>
          <p:nvPr/>
        </p:nvSpPr>
        <p:spPr>
          <a:xfrm>
            <a:off x="8210550" y="3114675"/>
            <a:ext cx="320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Useful for clusters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2477B056-702A-47E3-A95F-932A1892984A}"/>
              </a:ext>
            </a:extLst>
          </p:cNvPr>
          <p:cNvSpPr>
            <a:spLocks noGrp="1"/>
          </p:cNvSpPr>
          <p:nvPr/>
        </p:nvSpPr>
        <p:spPr>
          <a:xfrm>
            <a:off x="685800" y="3590925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2FF3C957-BA1E-4A3C-945D-10BC58121FD3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Random Forest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3D6387AF-B87E-4376-9E2B-3C005FB2FDEC}"/>
              </a:ext>
            </a:extLst>
          </p:cNvPr>
          <p:cNvSpPr>
            <a:spLocks noGrp="1"/>
          </p:cNvSpPr>
          <p:nvPr/>
        </p:nvSpPr>
        <p:spPr>
          <a:xfrm>
            <a:off x="2876550" y="3590925"/>
            <a:ext cx="1809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64915F98-DD14-4FCB-B7C8-006A4BDCB8AF}"/>
              </a:ext>
            </a:extLst>
          </p:cNvPr>
          <p:cNvSpPr>
            <a:spLocks noGrp="1"/>
          </p:cNvSpPr>
          <p:nvPr/>
        </p:nvSpPr>
        <p:spPr>
          <a:xfrm>
            <a:off x="2971800" y="3667125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Medium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83DBA0D5-0768-491C-8794-6EB7BAE36FCB}"/>
              </a:ext>
            </a:extLst>
          </p:cNvPr>
          <p:cNvSpPr>
            <a:spLocks noGrp="1"/>
          </p:cNvSpPr>
          <p:nvPr/>
        </p:nvSpPr>
        <p:spPr>
          <a:xfrm>
            <a:off x="4686300" y="3590925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A1148EC1-F3D0-4436-B9CB-347A0FD8FE50}"/>
              </a:ext>
            </a:extLst>
          </p:cNvPr>
          <p:cNvSpPr>
            <a:spLocks noGrp="1"/>
          </p:cNvSpPr>
          <p:nvPr/>
        </p:nvSpPr>
        <p:spPr>
          <a:xfrm>
            <a:off x="4781550" y="366712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High labels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0749B5A7-304A-45FF-AEB9-208ED1803B00}"/>
              </a:ext>
            </a:extLst>
          </p:cNvPr>
          <p:cNvSpPr>
            <a:spLocks noGrp="1"/>
          </p:cNvSpPr>
          <p:nvPr/>
        </p:nvSpPr>
        <p:spPr>
          <a:xfrm>
            <a:off x="6400800" y="3590925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3DD7B7E0-F21C-4AD5-A85C-C1208D565D28}"/>
              </a:ext>
            </a:extLst>
          </p:cNvPr>
          <p:cNvSpPr>
            <a:spLocks noGrp="1"/>
          </p:cNvSpPr>
          <p:nvPr/>
        </p:nvSpPr>
        <p:spPr>
          <a:xfrm>
            <a:off x="6496050" y="366712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Medium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13D482F8-0903-449B-AE4F-258D0D0DF735}"/>
              </a:ext>
            </a:extLst>
          </p:cNvPr>
          <p:cNvSpPr>
            <a:spLocks noGrp="1"/>
          </p:cNvSpPr>
          <p:nvPr/>
        </p:nvSpPr>
        <p:spPr>
          <a:xfrm>
            <a:off x="8115300" y="3590925"/>
            <a:ext cx="33909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230826D1-8703-47BA-890C-9DF3E7B1CEA4}"/>
              </a:ext>
            </a:extLst>
          </p:cNvPr>
          <p:cNvSpPr>
            <a:spLocks noGrp="1"/>
          </p:cNvSpPr>
          <p:nvPr/>
        </p:nvSpPr>
        <p:spPr>
          <a:xfrm>
            <a:off x="8210550" y="3667125"/>
            <a:ext cx="320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Needs outcomes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E2AC9BF0-59A6-45CE-BC9C-D161C350B8CC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21907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314DD6CF-6755-41FF-811E-AA1E663A688B}"/>
              </a:ext>
            </a:extLst>
          </p:cNvPr>
          <p:cNvSpPr>
            <a:spLocks noGrp="1"/>
          </p:cNvSpPr>
          <p:nvPr/>
        </p:nvSpPr>
        <p:spPr>
          <a:xfrm>
            <a:off x="781050" y="4219575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Sequence models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B1A8319C-F3D2-4F57-912C-B5E09D6374A2}"/>
              </a:ext>
            </a:extLst>
          </p:cNvPr>
          <p:cNvSpPr>
            <a:spLocks noGrp="1"/>
          </p:cNvSpPr>
          <p:nvPr/>
        </p:nvSpPr>
        <p:spPr>
          <a:xfrm>
            <a:off x="2876550" y="4143375"/>
            <a:ext cx="18097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6D1A139B-6125-4AE6-B36F-338EA01FCDE2}"/>
              </a:ext>
            </a:extLst>
          </p:cNvPr>
          <p:cNvSpPr>
            <a:spLocks noGrp="1"/>
          </p:cNvSpPr>
          <p:nvPr/>
        </p:nvSpPr>
        <p:spPr>
          <a:xfrm>
            <a:off x="2971800" y="4219575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Low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83033C81-3AE1-4CAF-A88E-3F15FAA2D607}"/>
              </a:ext>
            </a:extLst>
          </p:cNvPr>
          <p:cNvSpPr>
            <a:spLocks noGrp="1"/>
          </p:cNvSpPr>
          <p:nvPr/>
        </p:nvSpPr>
        <p:spPr>
          <a:xfrm>
            <a:off x="4686300" y="4143375"/>
            <a:ext cx="17145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98EEA566-A9A5-4A5A-9145-7430362B53BE}"/>
              </a:ext>
            </a:extLst>
          </p:cNvPr>
          <p:cNvSpPr>
            <a:spLocks noGrp="1"/>
          </p:cNvSpPr>
          <p:nvPr/>
        </p:nvSpPr>
        <p:spPr>
          <a:xfrm>
            <a:off x="4781550" y="421957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High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D9F6DC85-F3AE-4CDC-B631-65C0DE1887D3}"/>
              </a:ext>
            </a:extLst>
          </p:cNvPr>
          <p:cNvSpPr>
            <a:spLocks noGrp="1"/>
          </p:cNvSpPr>
          <p:nvPr/>
        </p:nvSpPr>
        <p:spPr>
          <a:xfrm>
            <a:off x="6400800" y="4143375"/>
            <a:ext cx="17145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72EEEB23-3940-4990-9609-F58CA3C621E4}"/>
              </a:ext>
            </a:extLst>
          </p:cNvPr>
          <p:cNvSpPr>
            <a:spLocks noGrp="1"/>
          </p:cNvSpPr>
          <p:nvPr/>
        </p:nvSpPr>
        <p:spPr>
          <a:xfrm>
            <a:off x="6496050" y="421957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High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065B755B-1118-422F-AE12-134422283AB4}"/>
              </a:ext>
            </a:extLst>
          </p:cNvPr>
          <p:cNvSpPr>
            <a:spLocks noGrp="1"/>
          </p:cNvSpPr>
          <p:nvPr/>
        </p:nvSpPr>
        <p:spPr>
          <a:xfrm>
            <a:off x="8115300" y="4143375"/>
            <a:ext cx="33909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7B837982-1F8C-4286-A268-1D515CFAD416}"/>
              </a:ext>
            </a:extLst>
          </p:cNvPr>
          <p:cNvSpPr>
            <a:spLocks noGrp="1"/>
          </p:cNvSpPr>
          <p:nvPr/>
        </p:nvSpPr>
        <p:spPr>
          <a:xfrm>
            <a:off x="8210550" y="4219575"/>
            <a:ext cx="320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Future stage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7DD07944-509B-4DA8-9961-95BE0C5B4921}"/>
              </a:ext>
            </a:extLst>
          </p:cNvPr>
          <p:cNvSpPr>
            <a:spLocks noGrp="1"/>
          </p:cNvSpPr>
          <p:nvPr/>
        </p:nvSpPr>
        <p:spPr>
          <a:xfrm>
            <a:off x="685800" y="4695825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BB06C412-88FA-4274-B2BC-C1613F729217}"/>
              </a:ext>
            </a:extLst>
          </p:cNvPr>
          <p:cNvSpPr>
            <a:spLocks noGrp="1"/>
          </p:cNvSpPr>
          <p:nvPr/>
        </p:nvSpPr>
        <p:spPr>
          <a:xfrm>
            <a:off x="781050" y="4772025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Deep learning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231EA985-614C-4F6E-8FE3-F89A94DE0751}"/>
              </a:ext>
            </a:extLst>
          </p:cNvPr>
          <p:cNvSpPr>
            <a:spLocks noGrp="1"/>
          </p:cNvSpPr>
          <p:nvPr/>
        </p:nvSpPr>
        <p:spPr>
          <a:xfrm>
            <a:off x="2876550" y="4695825"/>
            <a:ext cx="1809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09F5C62A-FF37-4165-8993-DFFDA83A057B}"/>
              </a:ext>
            </a:extLst>
          </p:cNvPr>
          <p:cNvSpPr>
            <a:spLocks noGrp="1"/>
          </p:cNvSpPr>
          <p:nvPr/>
        </p:nvSpPr>
        <p:spPr>
          <a:xfrm>
            <a:off x="2971800" y="4772025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Low</a:t>
            </a: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B91F6365-E633-4F66-9546-4217266A5F81}"/>
              </a:ext>
            </a:extLst>
          </p:cNvPr>
          <p:cNvSpPr>
            <a:spLocks noGrp="1"/>
          </p:cNvSpPr>
          <p:nvPr/>
        </p:nvSpPr>
        <p:spPr>
          <a:xfrm>
            <a:off x="4686300" y="4695825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067D0F5A-FF69-4764-9895-BEAA72897562}"/>
              </a:ext>
            </a:extLst>
          </p:cNvPr>
          <p:cNvSpPr>
            <a:spLocks noGrp="1"/>
          </p:cNvSpPr>
          <p:nvPr/>
        </p:nvSpPr>
        <p:spPr>
          <a:xfrm>
            <a:off x="4781550" y="477202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Very high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9A32E2AD-3E07-4C75-8262-9A22C27C8F4C}"/>
              </a:ext>
            </a:extLst>
          </p:cNvPr>
          <p:cNvSpPr>
            <a:spLocks noGrp="1"/>
          </p:cNvSpPr>
          <p:nvPr/>
        </p:nvSpPr>
        <p:spPr>
          <a:xfrm>
            <a:off x="6400800" y="4695825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2822BDAE-3908-42D2-96BE-115F9308CCB2}"/>
              </a:ext>
            </a:extLst>
          </p:cNvPr>
          <p:cNvSpPr>
            <a:spLocks noGrp="1"/>
          </p:cNvSpPr>
          <p:nvPr/>
        </p:nvSpPr>
        <p:spPr>
          <a:xfrm>
            <a:off x="6496050" y="477202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High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61D4E514-3AB9-4705-B92D-3A746134735D}"/>
              </a:ext>
            </a:extLst>
          </p:cNvPr>
          <p:cNvSpPr>
            <a:spLocks noGrp="1"/>
          </p:cNvSpPr>
          <p:nvPr/>
        </p:nvSpPr>
        <p:spPr>
          <a:xfrm>
            <a:off x="8115300" y="4695825"/>
            <a:ext cx="33909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D10334FF-602F-4A38-BE74-F7634CE2C5FC}"/>
              </a:ext>
            </a:extLst>
          </p:cNvPr>
          <p:cNvSpPr>
            <a:spLocks noGrp="1"/>
          </p:cNvSpPr>
          <p:nvPr/>
        </p:nvSpPr>
        <p:spPr>
          <a:xfrm>
            <a:off x="8210550" y="4772025"/>
            <a:ext cx="320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Not justified now</a:t>
            </a:r>
          </a:p>
        </p:txBody>
      </p:sp>
      <p:sp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A5745CB5-696C-482B-8950-0CCB0C8ECB49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A2A86CC3-93E2-4A1E-BEA0-BE4D7D539479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3189B3E2-BB57-4DEE-A6FE-B96CDD84BFF1}"/>
              </a:ext>
            </a:extLst>
          </p:cNvPr>
          <p:cNvSpPr>
            <a:spLocks noGrp="1"/>
          </p:cNvSpPr>
          <p:nvPr/>
        </p:nvSpPr>
        <p:spPr>
          <a:xfrm>
            <a:off x="914400" y="58007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Explainability matters because security operations must defend every alert and containment action.</a:t>
            </a: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6B1A43FD-62C2-48A2-8801-8E3558AACD94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0A4763C9-2757-409C-AB08-83FDCCD852E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580ECD1A-4EE3-4C38-A017-7C16C15EFD85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6509795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Рисунок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326EFEB-0690-4955-A7B0-E4B17CDB1665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9F14AED-C512-4370-BB92-2944E9FF75FF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A644FDB-94B5-47D2-9A1F-694F7DBC2303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29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BF2E0B-E5D0-4E9A-98D6-9A71F629D5A3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Explainability is what makes detection operational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953EBD-B284-47A4-A8E6-3F8696F58EC4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2476500" cy="5905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4257A9E-FAD0-42EB-8807-012466EF2EC7}"/>
              </a:ext>
            </a:extLst>
          </p:cNvPr>
          <p:cNvSpPr>
            <a:spLocks noGrp="1"/>
          </p:cNvSpPr>
          <p:nvPr/>
        </p:nvSpPr>
        <p:spPr>
          <a:xfrm>
            <a:off x="781050" y="1562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A522DB9-EB55-4A32-86F7-AE1394F04AFB}"/>
              </a:ext>
            </a:extLst>
          </p:cNvPr>
          <p:cNvSpPr>
            <a:spLocks noGrp="1"/>
          </p:cNvSpPr>
          <p:nvPr/>
        </p:nvSpPr>
        <p:spPr>
          <a:xfrm>
            <a:off x="3162300" y="1476375"/>
            <a:ext cx="4286250" cy="5905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3C93675-EE5B-4A80-AB90-A1C2856C533F}"/>
              </a:ext>
            </a:extLst>
          </p:cNvPr>
          <p:cNvSpPr>
            <a:spLocks noGrp="1"/>
          </p:cNvSpPr>
          <p:nvPr/>
        </p:nvSpPr>
        <p:spPr>
          <a:xfrm>
            <a:off x="3257550" y="156210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Security impact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C00345D-8483-41D8-A751-723A712FC096}"/>
              </a:ext>
            </a:extLst>
          </p:cNvPr>
          <p:cNvSpPr>
            <a:spLocks noGrp="1"/>
          </p:cNvSpPr>
          <p:nvPr/>
        </p:nvSpPr>
        <p:spPr>
          <a:xfrm>
            <a:off x="7448550" y="1476375"/>
            <a:ext cx="4057650" cy="5905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F48B9C2-155F-4E86-834D-51C0C83CC8EF}"/>
              </a:ext>
            </a:extLst>
          </p:cNvPr>
          <p:cNvSpPr>
            <a:spLocks noGrp="1"/>
          </p:cNvSpPr>
          <p:nvPr/>
        </p:nvSpPr>
        <p:spPr>
          <a:xfrm>
            <a:off x="7543800" y="1562100"/>
            <a:ext cx="3867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How heuristics help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7F2171C-8827-45A1-AFD7-5D862302DF32}"/>
              </a:ext>
            </a:extLst>
          </p:cNvPr>
          <p:cNvSpPr>
            <a:spLocks noGrp="1"/>
          </p:cNvSpPr>
          <p:nvPr/>
        </p:nvSpPr>
        <p:spPr>
          <a:xfrm>
            <a:off x="685800" y="2066925"/>
            <a:ext cx="247650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C23D8E5-F0C3-4982-BB1C-F4FA56357FFE}"/>
              </a:ext>
            </a:extLst>
          </p:cNvPr>
          <p:cNvSpPr>
            <a:spLocks noGrp="1"/>
          </p:cNvSpPr>
          <p:nvPr/>
        </p:nvSpPr>
        <p:spPr>
          <a:xfrm>
            <a:off x="781050" y="2143125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Analyst trust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6E1E2E6-2823-4C80-AD13-4CDBD7CA1245}"/>
              </a:ext>
            </a:extLst>
          </p:cNvPr>
          <p:cNvSpPr>
            <a:spLocks noGrp="1"/>
          </p:cNvSpPr>
          <p:nvPr/>
        </p:nvSpPr>
        <p:spPr>
          <a:xfrm>
            <a:off x="3162300" y="2066925"/>
            <a:ext cx="428625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149AA93-9FAE-4139-AD2B-0359AB4C838E}"/>
              </a:ext>
            </a:extLst>
          </p:cNvPr>
          <p:cNvSpPr>
            <a:spLocks noGrp="1"/>
          </p:cNvSpPr>
          <p:nvPr/>
        </p:nvSpPr>
        <p:spPr>
          <a:xfrm>
            <a:off x="3257550" y="2143125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SOC teams need to understand why a case fired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E69ECB7-9FE0-4EE4-9654-F0AA6CF764FB}"/>
              </a:ext>
            </a:extLst>
          </p:cNvPr>
          <p:cNvSpPr>
            <a:spLocks noGrp="1"/>
          </p:cNvSpPr>
          <p:nvPr/>
        </p:nvSpPr>
        <p:spPr>
          <a:xfrm>
            <a:off x="7448550" y="2066925"/>
            <a:ext cx="405765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B172CD2-A361-4A9E-ABFF-25EBA4A12883}"/>
              </a:ext>
            </a:extLst>
          </p:cNvPr>
          <p:cNvSpPr>
            <a:spLocks noGrp="1"/>
          </p:cNvSpPr>
          <p:nvPr/>
        </p:nvSpPr>
        <p:spPr>
          <a:xfrm>
            <a:off x="7543800" y="2143125"/>
            <a:ext cx="3867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Rules expose the exact signal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BD9BAD9-7ACA-439F-875F-3475720E3E5D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2476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CCB7739-6789-48E6-B6E9-441B67F339CF}"/>
              </a:ext>
            </a:extLst>
          </p:cNvPr>
          <p:cNvSpPr>
            <a:spLocks noGrp="1"/>
          </p:cNvSpPr>
          <p:nvPr/>
        </p:nvSpPr>
        <p:spPr>
          <a:xfrm>
            <a:off x="781050" y="2733675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SOC acceptance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79E767A-46CE-4BD4-A8F4-56F1DE05AFC4}"/>
              </a:ext>
            </a:extLst>
          </p:cNvPr>
          <p:cNvSpPr>
            <a:spLocks noGrp="1"/>
          </p:cNvSpPr>
          <p:nvPr/>
        </p:nvSpPr>
        <p:spPr>
          <a:xfrm>
            <a:off x="3162300" y="2657475"/>
            <a:ext cx="4286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01D53AE-304D-4582-B6F4-DFF6905043D5}"/>
              </a:ext>
            </a:extLst>
          </p:cNvPr>
          <p:cNvSpPr>
            <a:spLocks noGrp="1"/>
          </p:cNvSpPr>
          <p:nvPr/>
        </p:nvSpPr>
        <p:spPr>
          <a:xfrm>
            <a:off x="3257550" y="2733675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Opaque scores are harder to act on quickly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C3522B6-B4EF-4BA4-8A8B-55001BF90A06}"/>
              </a:ext>
            </a:extLst>
          </p:cNvPr>
          <p:cNvSpPr>
            <a:spLocks noGrp="1"/>
          </p:cNvSpPr>
          <p:nvPr/>
        </p:nvSpPr>
        <p:spPr>
          <a:xfrm>
            <a:off x="7448550" y="2657475"/>
            <a:ext cx="40576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478785D-0CB2-4E22-BCD8-6DDF13AE57E2}"/>
              </a:ext>
            </a:extLst>
          </p:cNvPr>
          <p:cNvSpPr>
            <a:spLocks noGrp="1"/>
          </p:cNvSpPr>
          <p:nvPr/>
        </p:nvSpPr>
        <p:spPr>
          <a:xfrm>
            <a:off x="7543800" y="2733675"/>
            <a:ext cx="3867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Evidence is readable in the queue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934258-C2D7-4D29-BE08-A2055A4E6FE6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247650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E1A6D4C-B12B-459B-B88B-2FEB58078ED7}"/>
              </a:ext>
            </a:extLst>
          </p:cNvPr>
          <p:cNvSpPr>
            <a:spLocks noGrp="1"/>
          </p:cNvSpPr>
          <p:nvPr/>
        </p:nvSpPr>
        <p:spPr>
          <a:xfrm>
            <a:off x="781050" y="3324225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Legal defensibility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7B33CA6-A3CE-4838-8E14-D81039F4A1B8}"/>
              </a:ext>
            </a:extLst>
          </p:cNvPr>
          <p:cNvSpPr>
            <a:spLocks noGrp="1"/>
          </p:cNvSpPr>
          <p:nvPr/>
        </p:nvSpPr>
        <p:spPr>
          <a:xfrm>
            <a:off x="3162300" y="3248025"/>
            <a:ext cx="428625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AC50DD5-1A70-44B2-B0C2-1D6520892799}"/>
              </a:ext>
            </a:extLst>
          </p:cNvPr>
          <p:cNvSpPr>
            <a:spLocks noGrp="1"/>
          </p:cNvSpPr>
          <p:nvPr/>
        </p:nvSpPr>
        <p:spPr>
          <a:xfrm>
            <a:off x="3257550" y="3324225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Containment decisions may need audit trails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C084382-AC3F-4DF5-9397-698D6CB6141C}"/>
              </a:ext>
            </a:extLst>
          </p:cNvPr>
          <p:cNvSpPr>
            <a:spLocks noGrp="1"/>
          </p:cNvSpPr>
          <p:nvPr/>
        </p:nvSpPr>
        <p:spPr>
          <a:xfrm>
            <a:off x="7448550" y="3248025"/>
            <a:ext cx="405765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42A8467-F0AF-4352-AF52-1542E48640B7}"/>
              </a:ext>
            </a:extLst>
          </p:cNvPr>
          <p:cNvSpPr>
            <a:spLocks noGrp="1"/>
          </p:cNvSpPr>
          <p:nvPr/>
        </p:nvSpPr>
        <p:spPr>
          <a:xfrm>
            <a:off x="7543800" y="3324225"/>
            <a:ext cx="3867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Thresholds and data inputs are explicit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D781F0D-1B10-4167-B306-C37EB48EDFED}"/>
              </a:ext>
            </a:extLst>
          </p:cNvPr>
          <p:cNvSpPr>
            <a:spLocks noGrp="1"/>
          </p:cNvSpPr>
          <p:nvPr/>
        </p:nvSpPr>
        <p:spPr>
          <a:xfrm>
            <a:off x="685800" y="3838575"/>
            <a:ext cx="2476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8687462-5961-4B5B-AB3A-05AB8CF01BF5}"/>
              </a:ext>
            </a:extLst>
          </p:cNvPr>
          <p:cNvSpPr>
            <a:spLocks noGrp="1"/>
          </p:cNvSpPr>
          <p:nvPr/>
        </p:nvSpPr>
        <p:spPr>
          <a:xfrm>
            <a:off x="781050" y="3914775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Threshold tuning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15A42BF-500D-486A-9C40-5A7F5CBD7D67}"/>
              </a:ext>
            </a:extLst>
          </p:cNvPr>
          <p:cNvSpPr>
            <a:spLocks noGrp="1"/>
          </p:cNvSpPr>
          <p:nvPr/>
        </p:nvSpPr>
        <p:spPr>
          <a:xfrm>
            <a:off x="3162300" y="3838575"/>
            <a:ext cx="4286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47DE041-2A70-4DB7-9CC7-F6EB7CB36A35}"/>
              </a:ext>
            </a:extLst>
          </p:cNvPr>
          <p:cNvSpPr>
            <a:spLocks noGrp="1"/>
          </p:cNvSpPr>
          <p:nvPr/>
        </p:nvSpPr>
        <p:spPr>
          <a:xfrm>
            <a:off x="3257550" y="3914775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False positives must be reduced without hiding risk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852BCF3-AD38-4D28-ACA6-0A40B81BF2BE}"/>
              </a:ext>
            </a:extLst>
          </p:cNvPr>
          <p:cNvSpPr>
            <a:spLocks noGrp="1"/>
          </p:cNvSpPr>
          <p:nvPr/>
        </p:nvSpPr>
        <p:spPr>
          <a:xfrm>
            <a:off x="7448550" y="3838575"/>
            <a:ext cx="40576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51DFDFE-B91A-426E-816D-D76BF8F1FE9F}"/>
              </a:ext>
            </a:extLst>
          </p:cNvPr>
          <p:cNvSpPr>
            <a:spLocks noGrp="1"/>
          </p:cNvSpPr>
          <p:nvPr/>
        </p:nvSpPr>
        <p:spPr>
          <a:xfrm>
            <a:off x="7543800" y="3914775"/>
            <a:ext cx="3867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Each rule can be adjusted separately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F634B7F-0A02-46E6-88FB-66507F5C8814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247650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85AE5CC-DD06-4723-9DFD-628651310900}"/>
              </a:ext>
            </a:extLst>
          </p:cNvPr>
          <p:cNvSpPr>
            <a:spLocks noGrp="1"/>
          </p:cNvSpPr>
          <p:nvPr/>
        </p:nvSpPr>
        <p:spPr>
          <a:xfrm>
            <a:off x="781050" y="4505325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Incident learning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0118BFA7-37FD-4761-A8F6-81AD82DB78E9}"/>
              </a:ext>
            </a:extLst>
          </p:cNvPr>
          <p:cNvSpPr>
            <a:spLocks noGrp="1"/>
          </p:cNvSpPr>
          <p:nvPr/>
        </p:nvSpPr>
        <p:spPr>
          <a:xfrm>
            <a:off x="3162300" y="4429125"/>
            <a:ext cx="428625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FF8617AF-F6FA-43FC-A50E-3F7BA7852595}"/>
              </a:ext>
            </a:extLst>
          </p:cNvPr>
          <p:cNvSpPr>
            <a:spLocks noGrp="1"/>
          </p:cNvSpPr>
          <p:nvPr/>
        </p:nvSpPr>
        <p:spPr>
          <a:xfrm>
            <a:off x="3257550" y="4505325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Close reasons should improve the detector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9F58F164-4B75-4EE1-B4B8-A455CD46DA6D}"/>
              </a:ext>
            </a:extLst>
          </p:cNvPr>
          <p:cNvSpPr>
            <a:spLocks noGrp="1"/>
          </p:cNvSpPr>
          <p:nvPr/>
        </p:nvSpPr>
        <p:spPr>
          <a:xfrm>
            <a:off x="7448550" y="4429125"/>
            <a:ext cx="4057650" cy="5905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D9622964-5D55-430B-B115-1E0024732BFE}"/>
              </a:ext>
            </a:extLst>
          </p:cNvPr>
          <p:cNvSpPr>
            <a:spLocks noGrp="1"/>
          </p:cNvSpPr>
          <p:nvPr/>
        </p:nvSpPr>
        <p:spPr>
          <a:xfrm>
            <a:off x="7543800" y="4505325"/>
            <a:ext cx="3867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Feedback maps back to individual features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51657CFC-7534-4DE2-B8D1-0842AC9F5045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26B86813-1DD0-420D-BEE4-B53AEFB8BE57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7E5BB37B-224D-4840-9510-F56F53861BBF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Heuristics are not less sophisticated here; they are the explainable control layer that earns permission to automate.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1F681A5D-5326-4222-9E3F-61B673DEBF0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B761468-19AA-458E-8AA4-B3B6B7A1F85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80D3903D-B6FD-45E0-A8F5-543D2BCA2D89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519575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Рисунок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D06CDD5-4AF8-41AB-908B-EBDF6780841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4B45BA2-7CF2-4FC2-B180-60F7B820622A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8107BF-BF51-4A9D-84A0-E59970F5B624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30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7A25197-4D30-4379-B3C8-FB30B2CE9978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Operational cost favors heuristics before ML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ACD48AA-5F7D-4FC7-A155-A9B269467705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2190750" cy="6096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AD54775-D472-4815-B545-5449D37814B8}"/>
              </a:ext>
            </a:extLst>
          </p:cNvPr>
          <p:cNvSpPr>
            <a:spLocks noGrp="1"/>
          </p:cNvSpPr>
          <p:nvPr/>
        </p:nvSpPr>
        <p:spPr>
          <a:xfrm>
            <a:off x="781050" y="15621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2C2BBE3-2A83-4011-B9F7-637D53A2B451}"/>
              </a:ext>
            </a:extLst>
          </p:cNvPr>
          <p:cNvSpPr>
            <a:spLocks noGrp="1"/>
          </p:cNvSpPr>
          <p:nvPr/>
        </p:nvSpPr>
        <p:spPr>
          <a:xfrm>
            <a:off x="2876550" y="1476375"/>
            <a:ext cx="4095750" cy="6096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9A4EA1-1B93-4719-960F-AF1DB03D13A9}"/>
              </a:ext>
            </a:extLst>
          </p:cNvPr>
          <p:cNvSpPr>
            <a:spLocks noGrp="1"/>
          </p:cNvSpPr>
          <p:nvPr/>
        </p:nvSpPr>
        <p:spPr>
          <a:xfrm>
            <a:off x="2971800" y="156210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Heuristics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D541375-EAE5-4D38-AD3D-F9A4E86F82C2}"/>
              </a:ext>
            </a:extLst>
          </p:cNvPr>
          <p:cNvSpPr>
            <a:spLocks noGrp="1"/>
          </p:cNvSpPr>
          <p:nvPr/>
        </p:nvSpPr>
        <p:spPr>
          <a:xfrm>
            <a:off x="6972300" y="1476375"/>
            <a:ext cx="4533900" cy="6096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975E947-BC4D-4780-B6BC-B6675ED73E3D}"/>
              </a:ext>
            </a:extLst>
          </p:cNvPr>
          <p:cNvSpPr>
            <a:spLocks noGrp="1"/>
          </p:cNvSpPr>
          <p:nvPr/>
        </p:nvSpPr>
        <p:spPr>
          <a:xfrm>
            <a:off x="7067550" y="1562100"/>
            <a:ext cx="434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8F46F4E-A9FC-4D48-A27C-DA413996639F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219075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F5297F5-9DEE-4894-88EC-05F4CD5F31F6}"/>
              </a:ext>
            </a:extLst>
          </p:cNvPr>
          <p:cNvSpPr>
            <a:spLocks noGrp="1"/>
          </p:cNvSpPr>
          <p:nvPr/>
        </p:nvSpPr>
        <p:spPr>
          <a:xfrm>
            <a:off x="781050" y="2162175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Latency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E01E11-0D75-497A-BFDB-37D39CE768C0}"/>
              </a:ext>
            </a:extLst>
          </p:cNvPr>
          <p:cNvSpPr>
            <a:spLocks noGrp="1"/>
          </p:cNvSpPr>
          <p:nvPr/>
        </p:nvSpPr>
        <p:spPr>
          <a:xfrm>
            <a:off x="2876550" y="2085975"/>
            <a:ext cx="409575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082C9BD-F8A6-4064-98AE-474CC0404231}"/>
              </a:ext>
            </a:extLst>
          </p:cNvPr>
          <p:cNvSpPr>
            <a:spLocks noGrp="1"/>
          </p:cNvSpPr>
          <p:nvPr/>
        </p:nvSpPr>
        <p:spPr>
          <a:xfrm>
            <a:off x="2971800" y="2162175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Milliseconds; simple rule evaluation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D98BE15-41FB-4A8B-A29B-CA6E662B66FF}"/>
              </a:ext>
            </a:extLst>
          </p:cNvPr>
          <p:cNvSpPr>
            <a:spLocks noGrp="1"/>
          </p:cNvSpPr>
          <p:nvPr/>
        </p:nvSpPr>
        <p:spPr>
          <a:xfrm>
            <a:off x="6972300" y="2085975"/>
            <a:ext cx="453390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2449270-CF49-4BF9-A518-CB1AD21C2328}"/>
              </a:ext>
            </a:extLst>
          </p:cNvPr>
          <p:cNvSpPr>
            <a:spLocks noGrp="1"/>
          </p:cNvSpPr>
          <p:nvPr/>
        </p:nvSpPr>
        <p:spPr>
          <a:xfrm>
            <a:off x="7067550" y="2162175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Higher and variable with feature joins and inference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D3DFDDE-49FC-4287-81B7-B7CA13FA26F4}"/>
              </a:ext>
            </a:extLst>
          </p:cNvPr>
          <p:cNvSpPr>
            <a:spLocks noGrp="1"/>
          </p:cNvSpPr>
          <p:nvPr/>
        </p:nvSpPr>
        <p:spPr>
          <a:xfrm>
            <a:off x="685800" y="2695575"/>
            <a:ext cx="2190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DE3D23-4113-43EA-A0F2-99D506377DDD}"/>
              </a:ext>
            </a:extLst>
          </p:cNvPr>
          <p:cNvSpPr>
            <a:spLocks noGrp="1"/>
          </p:cNvSpPr>
          <p:nvPr/>
        </p:nvSpPr>
        <p:spPr>
          <a:xfrm>
            <a:off x="781050" y="2771775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Infrastructure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227B752-9C85-4686-B9ED-46B9CE7B443B}"/>
              </a:ext>
            </a:extLst>
          </p:cNvPr>
          <p:cNvSpPr>
            <a:spLocks noGrp="1"/>
          </p:cNvSpPr>
          <p:nvPr/>
        </p:nvSpPr>
        <p:spPr>
          <a:xfrm>
            <a:off x="2876550" y="2695575"/>
            <a:ext cx="4095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B52533E-3765-433C-B157-41DBAE297AFF}"/>
              </a:ext>
            </a:extLst>
          </p:cNvPr>
          <p:cNvSpPr>
            <a:spLocks noGrp="1"/>
          </p:cNvSpPr>
          <p:nvPr/>
        </p:nvSpPr>
        <p:spPr>
          <a:xfrm>
            <a:off x="2971800" y="2771775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Minimal; stream rules and dashboards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3D2CF87-9859-469E-BA9E-5F9E0B9868E3}"/>
              </a:ext>
            </a:extLst>
          </p:cNvPr>
          <p:cNvSpPr>
            <a:spLocks noGrp="1"/>
          </p:cNvSpPr>
          <p:nvPr/>
        </p:nvSpPr>
        <p:spPr>
          <a:xfrm>
            <a:off x="6972300" y="2695575"/>
            <a:ext cx="45339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6B7DFC0-C7E6-4056-8B31-6D95276FA478}"/>
              </a:ext>
            </a:extLst>
          </p:cNvPr>
          <p:cNvSpPr>
            <a:spLocks noGrp="1"/>
          </p:cNvSpPr>
          <p:nvPr/>
        </p:nvSpPr>
        <p:spPr>
          <a:xfrm>
            <a:off x="7067550" y="2771775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Feature pipelines, model serving, registry, monitoring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11C37D2-623B-4CCB-8594-22C17D19680D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219075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E5A3727-1B95-4270-946B-60B471DF2A61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Maintenance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D85518-BEA3-4C7F-971B-F1C180B65D22}"/>
              </a:ext>
            </a:extLst>
          </p:cNvPr>
          <p:cNvSpPr>
            <a:spLocks noGrp="1"/>
          </p:cNvSpPr>
          <p:nvPr/>
        </p:nvSpPr>
        <p:spPr>
          <a:xfrm>
            <a:off x="2876550" y="3305175"/>
            <a:ext cx="409575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D1364A6-1C89-456C-A961-0454E2785B27}"/>
              </a:ext>
            </a:extLst>
          </p:cNvPr>
          <p:cNvSpPr>
            <a:spLocks noGrp="1"/>
          </p:cNvSpPr>
          <p:nvPr/>
        </p:nvSpPr>
        <p:spPr>
          <a:xfrm>
            <a:off x="2971800" y="3381375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Low to medium; tune thresholds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502665A-4C12-43FD-9D97-A44681F98308}"/>
              </a:ext>
            </a:extLst>
          </p:cNvPr>
          <p:cNvSpPr>
            <a:spLocks noGrp="1"/>
          </p:cNvSpPr>
          <p:nvPr/>
        </p:nvSpPr>
        <p:spPr>
          <a:xfrm>
            <a:off x="6972300" y="3305175"/>
            <a:ext cx="453390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0FAE626-AA1A-4289-9C50-BD35DF0997C7}"/>
              </a:ext>
            </a:extLst>
          </p:cNvPr>
          <p:cNvSpPr>
            <a:spLocks noGrp="1"/>
          </p:cNvSpPr>
          <p:nvPr/>
        </p:nvSpPr>
        <p:spPr>
          <a:xfrm>
            <a:off x="7067550" y="3381375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Retraining, drift detection, version governance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4E7CE9F-E09A-4A85-B275-E9388ED90DA6}"/>
              </a:ext>
            </a:extLst>
          </p:cNvPr>
          <p:cNvSpPr>
            <a:spLocks noGrp="1"/>
          </p:cNvSpPr>
          <p:nvPr/>
        </p:nvSpPr>
        <p:spPr>
          <a:xfrm>
            <a:off x="685800" y="3914775"/>
            <a:ext cx="2190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BCB6083-9F83-40DC-81D6-A498C52F0AC6}"/>
              </a:ext>
            </a:extLst>
          </p:cNvPr>
          <p:cNvSpPr>
            <a:spLocks noGrp="1"/>
          </p:cNvSpPr>
          <p:nvPr/>
        </p:nvSpPr>
        <p:spPr>
          <a:xfrm>
            <a:off x="781050" y="3990975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Explainability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C496767-B452-49C2-AFC5-139686F1F97C}"/>
              </a:ext>
            </a:extLst>
          </p:cNvPr>
          <p:cNvSpPr>
            <a:spLocks noGrp="1"/>
          </p:cNvSpPr>
          <p:nvPr/>
        </p:nvSpPr>
        <p:spPr>
          <a:xfrm>
            <a:off x="2876550" y="3914775"/>
            <a:ext cx="4095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88EC040-33CB-4CC3-9081-2453C85F000F}"/>
              </a:ext>
            </a:extLst>
          </p:cNvPr>
          <p:cNvSpPr>
            <a:spLocks noGrp="1"/>
          </p:cNvSpPr>
          <p:nvPr/>
        </p:nvSpPr>
        <p:spPr>
          <a:xfrm>
            <a:off x="2971800" y="3990975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High; direct evidence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9240CECF-3AAA-406F-950A-8760B3BE9E6E}"/>
              </a:ext>
            </a:extLst>
          </p:cNvPr>
          <p:cNvSpPr>
            <a:spLocks noGrp="1"/>
          </p:cNvSpPr>
          <p:nvPr/>
        </p:nvSpPr>
        <p:spPr>
          <a:xfrm>
            <a:off x="6972300" y="3914775"/>
            <a:ext cx="45339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93BCCC1-3EE4-4E7E-8B51-CF9F35532F98}"/>
              </a:ext>
            </a:extLst>
          </p:cNvPr>
          <p:cNvSpPr>
            <a:spLocks noGrp="1"/>
          </p:cNvSpPr>
          <p:nvPr/>
        </p:nvSpPr>
        <p:spPr>
          <a:xfrm>
            <a:off x="7067550" y="3990975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Depends on model and explanation layer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7A67A94-DA79-467E-AAEC-2F9160774E0F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219075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F5BAE73-CD23-4B79-9090-C653E9812D41}"/>
              </a:ext>
            </a:extLst>
          </p:cNvPr>
          <p:cNvSpPr>
            <a:spLocks noGrp="1"/>
          </p:cNvSpPr>
          <p:nvPr/>
        </p:nvSpPr>
        <p:spPr>
          <a:xfrm>
            <a:off x="781050" y="4600575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Cost risk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FC7D1F8-9562-4513-B8B6-DB6E5FC98980}"/>
              </a:ext>
            </a:extLst>
          </p:cNvPr>
          <p:cNvSpPr>
            <a:spLocks noGrp="1"/>
          </p:cNvSpPr>
          <p:nvPr/>
        </p:nvSpPr>
        <p:spPr>
          <a:xfrm>
            <a:off x="2876550" y="4524375"/>
            <a:ext cx="409575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94C8674-69A8-41CD-A11B-302B2F3C9331}"/>
              </a:ext>
            </a:extLst>
          </p:cNvPr>
          <p:cNvSpPr>
            <a:spLocks noGrp="1"/>
          </p:cNvSpPr>
          <p:nvPr/>
        </p:nvSpPr>
        <p:spPr>
          <a:xfrm>
            <a:off x="2971800" y="4600575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Alert fatigue if rules are broad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69E93A86-3E7B-4E61-8B5C-44870033DC53}"/>
              </a:ext>
            </a:extLst>
          </p:cNvPr>
          <p:cNvSpPr>
            <a:spLocks noGrp="1"/>
          </p:cNvSpPr>
          <p:nvPr/>
        </p:nvSpPr>
        <p:spPr>
          <a:xfrm>
            <a:off x="6972300" y="4524375"/>
            <a:ext cx="4533900" cy="6096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63FA56E9-EC96-41B0-8480-CC5AF5D6580F}"/>
              </a:ext>
            </a:extLst>
          </p:cNvPr>
          <p:cNvSpPr>
            <a:spLocks noGrp="1"/>
          </p:cNvSpPr>
          <p:nvPr/>
        </p:nvSpPr>
        <p:spPr>
          <a:xfrm>
            <a:off x="7067550" y="4600575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Inference cost plus silent drift if not monitored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4CFB80E2-DD85-452F-A0ED-59223D64CAA4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225837FA-2FC5-47ED-88D0-7F1C598DAF81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7D8E43B2-0D4B-4D7D-A429-D53F8864A2F0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right sequence is low-cost, interpretable protection first, then ML once labels and feedback justify the operating burden.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D977110D-2A87-497D-8630-D020186E3FD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C20C0295-3559-4B9A-9B40-A46BB8BB9E0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2746F774-7B3B-4750-9137-8C080CABE987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0622151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Рисунок 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34A0F2D-EDCF-40E7-B7E6-82B75CBA3B3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5AF9A04-0276-41E0-A278-5EC00D1FCF23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C6FE721-8A0E-48D2-AA77-74C4F6FA52A9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31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A16BF55-9C22-42F0-AE8D-02270095EA4F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analysis fits inside a SOC investigation loop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63CB851-6FF2-4CD8-8713-AE19BCD35B01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98814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9228284-926B-4FF0-8FBC-91BF92696DB5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117021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Alert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C986CFB-F7D6-4C71-91F0-73D151443F70}"/>
              </a:ext>
            </a:extLst>
          </p:cNvPr>
          <p:cNvSpPr>
            <a:spLocks noGrp="1"/>
          </p:cNvSpPr>
          <p:nvPr/>
        </p:nvSpPr>
        <p:spPr>
          <a:xfrm>
            <a:off x="2103664" y="2209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6AE6049-E538-447F-9287-EDCE62C0CBF1}"/>
              </a:ext>
            </a:extLst>
          </p:cNvPr>
          <p:cNvSpPr>
            <a:spLocks noGrp="1"/>
          </p:cNvSpPr>
          <p:nvPr/>
        </p:nvSpPr>
        <p:spPr>
          <a:xfrm>
            <a:off x="2256064" y="2000250"/>
            <a:ext cx="1398814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D2C664A-D49C-47BC-8D91-B1A5C64FADC3}"/>
              </a:ext>
            </a:extLst>
          </p:cNvPr>
          <p:cNvSpPr>
            <a:spLocks noGrp="1"/>
          </p:cNvSpPr>
          <p:nvPr/>
        </p:nvSpPr>
        <p:spPr>
          <a:xfrm>
            <a:off x="2370364" y="2171700"/>
            <a:ext cx="117021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Investigation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E6F88E6-37BC-4457-A4A5-0298AF1525D8}"/>
              </a:ext>
            </a:extLst>
          </p:cNvPr>
          <p:cNvSpPr>
            <a:spLocks noGrp="1"/>
          </p:cNvSpPr>
          <p:nvPr/>
        </p:nvSpPr>
        <p:spPr>
          <a:xfrm>
            <a:off x="3673929" y="2209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9CBF1FA-397F-4E9C-96F9-43407CBAB673}"/>
              </a:ext>
            </a:extLst>
          </p:cNvPr>
          <p:cNvSpPr>
            <a:spLocks noGrp="1"/>
          </p:cNvSpPr>
          <p:nvPr/>
        </p:nvSpPr>
        <p:spPr>
          <a:xfrm>
            <a:off x="3826329" y="2000250"/>
            <a:ext cx="1398814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C3F68A9-F61A-4268-A5A9-B83E099B74CE}"/>
              </a:ext>
            </a:extLst>
          </p:cNvPr>
          <p:cNvSpPr>
            <a:spLocks noGrp="1"/>
          </p:cNvSpPr>
          <p:nvPr/>
        </p:nvSpPr>
        <p:spPr>
          <a:xfrm>
            <a:off x="3940629" y="2171700"/>
            <a:ext cx="117021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Containment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769D4E4-A8E9-4D46-9F77-1D9D45063F29}"/>
              </a:ext>
            </a:extLst>
          </p:cNvPr>
          <p:cNvSpPr>
            <a:spLocks noGrp="1"/>
          </p:cNvSpPr>
          <p:nvPr/>
        </p:nvSpPr>
        <p:spPr>
          <a:xfrm>
            <a:off x="5244193" y="2209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936DF01-7F80-4817-876A-5A0AD3240F6A}"/>
              </a:ext>
            </a:extLst>
          </p:cNvPr>
          <p:cNvSpPr>
            <a:spLocks noGrp="1"/>
          </p:cNvSpPr>
          <p:nvPr/>
        </p:nvSpPr>
        <p:spPr>
          <a:xfrm>
            <a:off x="5396593" y="2000250"/>
            <a:ext cx="1398814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4867698-08E4-4C29-B0EC-60DD501280F3}"/>
              </a:ext>
            </a:extLst>
          </p:cNvPr>
          <p:cNvSpPr>
            <a:spLocks noGrp="1"/>
          </p:cNvSpPr>
          <p:nvPr/>
        </p:nvSpPr>
        <p:spPr>
          <a:xfrm>
            <a:off x="5510893" y="2171700"/>
            <a:ext cx="117021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Threat hunting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4ADF5D4-EC5A-4A5B-882A-4D0E7AD6EE47}"/>
              </a:ext>
            </a:extLst>
          </p:cNvPr>
          <p:cNvSpPr>
            <a:spLocks noGrp="1"/>
          </p:cNvSpPr>
          <p:nvPr/>
        </p:nvSpPr>
        <p:spPr>
          <a:xfrm>
            <a:off x="6814457" y="2209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FB4242EC-228F-43CC-A45D-290CE4CF5A74}"/>
              </a:ext>
            </a:extLst>
          </p:cNvPr>
          <p:cNvSpPr>
            <a:spLocks noGrp="1"/>
          </p:cNvSpPr>
          <p:nvPr/>
        </p:nvSpPr>
        <p:spPr>
          <a:xfrm>
            <a:off x="6966857" y="2000250"/>
            <a:ext cx="1398814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6CD7659-E90B-414B-B58F-9E3D02543D29}"/>
              </a:ext>
            </a:extLst>
          </p:cNvPr>
          <p:cNvSpPr>
            <a:spLocks noGrp="1"/>
          </p:cNvSpPr>
          <p:nvPr/>
        </p:nvSpPr>
        <p:spPr>
          <a:xfrm>
            <a:off x="7081157" y="2171700"/>
            <a:ext cx="117021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Root cause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9E04D7F-809D-491D-8760-B0284FDFAE72}"/>
              </a:ext>
            </a:extLst>
          </p:cNvPr>
          <p:cNvSpPr>
            <a:spLocks noGrp="1"/>
          </p:cNvSpPr>
          <p:nvPr/>
        </p:nvSpPr>
        <p:spPr>
          <a:xfrm>
            <a:off x="8384721" y="2209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897E842A-D762-491E-BC77-CD4F82EF6782}"/>
              </a:ext>
            </a:extLst>
          </p:cNvPr>
          <p:cNvSpPr>
            <a:spLocks noGrp="1"/>
          </p:cNvSpPr>
          <p:nvPr/>
        </p:nvSpPr>
        <p:spPr>
          <a:xfrm>
            <a:off x="8537121" y="2000250"/>
            <a:ext cx="1398814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C3CC4E2-C291-4DD1-87AB-D913351E6775}"/>
              </a:ext>
            </a:extLst>
          </p:cNvPr>
          <p:cNvSpPr>
            <a:spLocks noGrp="1"/>
          </p:cNvSpPr>
          <p:nvPr/>
        </p:nvSpPr>
        <p:spPr>
          <a:xfrm>
            <a:off x="8651421" y="2171700"/>
            <a:ext cx="117021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Recovery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DCAFB6C-7023-4F98-A202-00BEAB16E573}"/>
              </a:ext>
            </a:extLst>
          </p:cNvPr>
          <p:cNvSpPr>
            <a:spLocks noGrp="1"/>
          </p:cNvSpPr>
          <p:nvPr/>
        </p:nvSpPr>
        <p:spPr>
          <a:xfrm>
            <a:off x="9954986" y="22098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9A768DFF-C483-4943-A5F8-E428133AE65F}"/>
              </a:ext>
            </a:extLst>
          </p:cNvPr>
          <p:cNvSpPr>
            <a:spLocks noGrp="1"/>
          </p:cNvSpPr>
          <p:nvPr/>
        </p:nvSpPr>
        <p:spPr>
          <a:xfrm>
            <a:off x="10107386" y="2000250"/>
            <a:ext cx="1398814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DC7CFCC-02D8-4404-AA4F-6A6C19A436E0}"/>
              </a:ext>
            </a:extLst>
          </p:cNvPr>
          <p:cNvSpPr>
            <a:spLocks noGrp="1"/>
          </p:cNvSpPr>
          <p:nvPr/>
        </p:nvSpPr>
        <p:spPr>
          <a:xfrm>
            <a:off x="10221686" y="2171700"/>
            <a:ext cx="117021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Lessons learned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0BB71DB-3F20-4A32-A119-684DC1D6232E}"/>
              </a:ext>
            </a:extLst>
          </p:cNvPr>
          <p:cNvSpPr>
            <a:spLocks noGrp="1"/>
          </p:cNvSpPr>
          <p:nvPr/>
        </p:nvSpPr>
        <p:spPr>
          <a:xfrm>
            <a:off x="1238250" y="3714750"/>
            <a:ext cx="2857500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A1173E5-07E0-4A5A-A2D4-FB166C088EBF}"/>
              </a:ext>
            </a:extLst>
          </p:cNvPr>
          <p:cNvSpPr>
            <a:spLocks noGrp="1"/>
          </p:cNvSpPr>
          <p:nvPr/>
        </p:nvSpPr>
        <p:spPr>
          <a:xfrm>
            <a:off x="1333500" y="380047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Notebook output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3421938-9AA5-44DA-8E87-94D2748D7CC3}"/>
              </a:ext>
            </a:extLst>
          </p:cNvPr>
          <p:cNvSpPr>
            <a:spLocks noGrp="1"/>
          </p:cNvSpPr>
          <p:nvPr/>
        </p:nvSpPr>
        <p:spPr>
          <a:xfrm>
            <a:off x="4095750" y="3714750"/>
            <a:ext cx="3143250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43AF36A-6BFD-45F1-91C1-174AE0D54CCA}"/>
              </a:ext>
            </a:extLst>
          </p:cNvPr>
          <p:cNvSpPr>
            <a:spLocks noGrp="1"/>
          </p:cNvSpPr>
          <p:nvPr/>
        </p:nvSpPr>
        <p:spPr>
          <a:xfrm>
            <a:off x="4191000" y="38004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SOC action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D27EE5A-A518-4287-951C-56AB265E4479}"/>
              </a:ext>
            </a:extLst>
          </p:cNvPr>
          <p:cNvSpPr>
            <a:spLocks noGrp="1"/>
          </p:cNvSpPr>
          <p:nvPr/>
        </p:nvSpPr>
        <p:spPr>
          <a:xfrm>
            <a:off x="7239000" y="3714750"/>
            <a:ext cx="3429000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F18794E-7E02-4DB7-8E47-C96354FA2779}"/>
              </a:ext>
            </a:extLst>
          </p:cNvPr>
          <p:cNvSpPr>
            <a:spLocks noGrp="1"/>
          </p:cNvSpPr>
          <p:nvPr/>
        </p:nvSpPr>
        <p:spPr>
          <a:xfrm>
            <a:off x="7334250" y="38004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Operational artifact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33E4E7E-026D-4BAC-B081-6ACC18685824}"/>
              </a:ext>
            </a:extLst>
          </p:cNvPr>
          <p:cNvSpPr>
            <a:spLocks noGrp="1"/>
          </p:cNvSpPr>
          <p:nvPr/>
        </p:nvSpPr>
        <p:spPr>
          <a:xfrm>
            <a:off x="1238250" y="4143375"/>
            <a:ext cx="2857500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AFF54D4-BB80-4B46-BE54-80EFE8808DB0}"/>
              </a:ext>
            </a:extLst>
          </p:cNvPr>
          <p:cNvSpPr>
            <a:spLocks noGrp="1"/>
          </p:cNvSpPr>
          <p:nvPr/>
        </p:nvSpPr>
        <p:spPr>
          <a:xfrm>
            <a:off x="1333500" y="4219575"/>
            <a:ext cx="2667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Ranked anomalies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D361D07-4BD5-46BC-86F0-1900D66C08FF}"/>
              </a:ext>
            </a:extLst>
          </p:cNvPr>
          <p:cNvSpPr>
            <a:spLocks noGrp="1"/>
          </p:cNvSpPr>
          <p:nvPr/>
        </p:nvSpPr>
        <p:spPr>
          <a:xfrm>
            <a:off x="4095750" y="4143375"/>
            <a:ext cx="3143250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22DF56C-D2BF-4B6C-9E17-3754338F275F}"/>
              </a:ext>
            </a:extLst>
          </p:cNvPr>
          <p:cNvSpPr>
            <a:spLocks noGrp="1"/>
          </p:cNvSpPr>
          <p:nvPr/>
        </p:nvSpPr>
        <p:spPr>
          <a:xfrm>
            <a:off x="4191000" y="4219575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Open cases by severity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7CB9D20-8B77-45D9-8A6C-5B4AE24FF80E}"/>
              </a:ext>
            </a:extLst>
          </p:cNvPr>
          <p:cNvSpPr>
            <a:spLocks noGrp="1"/>
          </p:cNvSpPr>
          <p:nvPr/>
        </p:nvSpPr>
        <p:spPr>
          <a:xfrm>
            <a:off x="7239000" y="4143375"/>
            <a:ext cx="3429000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EB96A0B-6E86-4E0D-9FEF-D576B5FCBD12}"/>
              </a:ext>
            </a:extLst>
          </p:cNvPr>
          <p:cNvSpPr>
            <a:spLocks noGrp="1"/>
          </p:cNvSpPr>
          <p:nvPr/>
        </p:nvSpPr>
        <p:spPr>
          <a:xfrm>
            <a:off x="7334250" y="4219575"/>
            <a:ext cx="3238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Alert queue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B5C698F-07C5-4EBF-A334-F84372986D70}"/>
              </a:ext>
            </a:extLst>
          </p:cNvPr>
          <p:cNvSpPr>
            <a:spLocks noGrp="1"/>
          </p:cNvSpPr>
          <p:nvPr/>
        </p:nvSpPr>
        <p:spPr>
          <a:xfrm>
            <a:off x="1238250" y="4572000"/>
            <a:ext cx="2857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77CCABE-BFA6-4442-9E75-F7C6ADA82DA1}"/>
              </a:ext>
            </a:extLst>
          </p:cNvPr>
          <p:cNvSpPr>
            <a:spLocks noGrp="1"/>
          </p:cNvSpPr>
          <p:nvPr/>
        </p:nvSpPr>
        <p:spPr>
          <a:xfrm>
            <a:off x="1333500" y="4648200"/>
            <a:ext cx="2667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Evidence charts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68556B0-AB96-47AB-BE37-2CDF5AB5076D}"/>
              </a:ext>
            </a:extLst>
          </p:cNvPr>
          <p:cNvSpPr>
            <a:spLocks noGrp="1"/>
          </p:cNvSpPr>
          <p:nvPr/>
        </p:nvSpPr>
        <p:spPr>
          <a:xfrm>
            <a:off x="4095750" y="4572000"/>
            <a:ext cx="31432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B0251537-5502-4586-8951-E3B410ABFA80}"/>
              </a:ext>
            </a:extLst>
          </p:cNvPr>
          <p:cNvSpPr>
            <a:spLocks noGrp="1"/>
          </p:cNvSpPr>
          <p:nvPr/>
        </p:nvSpPr>
        <p:spPr>
          <a:xfrm>
            <a:off x="4191000" y="4648200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Validate behavior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916231F9-E3E5-4EE1-8810-A6DBFC09FC19}"/>
              </a:ext>
            </a:extLst>
          </p:cNvPr>
          <p:cNvSpPr>
            <a:spLocks noGrp="1"/>
          </p:cNvSpPr>
          <p:nvPr/>
        </p:nvSpPr>
        <p:spPr>
          <a:xfrm>
            <a:off x="7239000" y="4572000"/>
            <a:ext cx="3429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BD9ED1C9-3A0C-4CBF-8FCC-98E1161A638A}"/>
              </a:ext>
            </a:extLst>
          </p:cNvPr>
          <p:cNvSpPr>
            <a:spLocks noGrp="1"/>
          </p:cNvSpPr>
          <p:nvPr/>
        </p:nvSpPr>
        <p:spPr>
          <a:xfrm>
            <a:off x="7334250" y="4648200"/>
            <a:ext cx="3238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Case timeline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2C2BB5D7-014F-487C-8053-756FE27C1454}"/>
              </a:ext>
            </a:extLst>
          </p:cNvPr>
          <p:cNvSpPr>
            <a:spLocks noGrp="1"/>
          </p:cNvSpPr>
          <p:nvPr/>
        </p:nvSpPr>
        <p:spPr>
          <a:xfrm>
            <a:off x="1238250" y="5000625"/>
            <a:ext cx="2857500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132A8EEB-3CFC-4593-9E1E-EFB44F13B389}"/>
              </a:ext>
            </a:extLst>
          </p:cNvPr>
          <p:cNvSpPr>
            <a:spLocks noGrp="1"/>
          </p:cNvSpPr>
          <p:nvPr/>
        </p:nvSpPr>
        <p:spPr>
          <a:xfrm>
            <a:off x="1333500" y="5076825"/>
            <a:ext cx="2667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Recommended response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D3CCF046-3289-4D47-9232-D0D9496EAFD9}"/>
              </a:ext>
            </a:extLst>
          </p:cNvPr>
          <p:cNvSpPr>
            <a:spLocks noGrp="1"/>
          </p:cNvSpPr>
          <p:nvPr/>
        </p:nvSpPr>
        <p:spPr>
          <a:xfrm>
            <a:off x="4095750" y="5000625"/>
            <a:ext cx="3143250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4501E24B-68D2-4F9E-82AA-F8CAF8BB94D1}"/>
              </a:ext>
            </a:extLst>
          </p:cNvPr>
          <p:cNvSpPr>
            <a:spLocks noGrp="1"/>
          </p:cNvSpPr>
          <p:nvPr/>
        </p:nvSpPr>
        <p:spPr>
          <a:xfrm>
            <a:off x="4191000" y="5076825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Contain affected accounts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D2D071EC-2CE4-4E2F-B859-18E0D787F330}"/>
              </a:ext>
            </a:extLst>
          </p:cNvPr>
          <p:cNvSpPr>
            <a:spLocks noGrp="1"/>
          </p:cNvSpPr>
          <p:nvPr/>
        </p:nvSpPr>
        <p:spPr>
          <a:xfrm>
            <a:off x="7239000" y="5000625"/>
            <a:ext cx="3429000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15C24879-E26F-47CD-9F94-6FED279F8D19}"/>
              </a:ext>
            </a:extLst>
          </p:cNvPr>
          <p:cNvSpPr>
            <a:spLocks noGrp="1"/>
          </p:cNvSpPr>
          <p:nvPr/>
        </p:nvSpPr>
        <p:spPr>
          <a:xfrm>
            <a:off x="7334250" y="5076825"/>
            <a:ext cx="3238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SOAR playbook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8CABC4D7-4965-4765-BEA6-335529938D2E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2857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27C7CD20-D4C2-41C0-BECB-D4C8B8D14F4F}"/>
              </a:ext>
            </a:extLst>
          </p:cNvPr>
          <p:cNvSpPr>
            <a:spLocks noGrp="1"/>
          </p:cNvSpPr>
          <p:nvPr/>
        </p:nvSpPr>
        <p:spPr>
          <a:xfrm>
            <a:off x="1333500" y="5505450"/>
            <a:ext cx="2667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Limitations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4DF853F2-42E6-40AF-BE16-E1AD779EEA55}"/>
              </a:ext>
            </a:extLst>
          </p:cNvPr>
          <p:cNvSpPr>
            <a:spLocks noGrp="1"/>
          </p:cNvSpPr>
          <p:nvPr/>
        </p:nvSpPr>
        <p:spPr>
          <a:xfrm>
            <a:off x="4095750" y="5429250"/>
            <a:ext cx="31432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7B6BF3C-629A-47C8-A4AD-B1A8342CEF81}"/>
              </a:ext>
            </a:extLst>
          </p:cNvPr>
          <p:cNvSpPr>
            <a:spLocks noGrp="1"/>
          </p:cNvSpPr>
          <p:nvPr/>
        </p:nvSpPr>
        <p:spPr>
          <a:xfrm>
            <a:off x="4191000" y="5505450"/>
            <a:ext cx="295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Avoid over-blocking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507176FE-23A0-4F0A-ACB1-7C54133BFCED}"/>
              </a:ext>
            </a:extLst>
          </p:cNvPr>
          <p:cNvSpPr>
            <a:spLocks noGrp="1"/>
          </p:cNvSpPr>
          <p:nvPr/>
        </p:nvSpPr>
        <p:spPr>
          <a:xfrm>
            <a:off x="7239000" y="5429250"/>
            <a:ext cx="3429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E4F990B2-2B48-4D76-93EB-B0834734348D}"/>
              </a:ext>
            </a:extLst>
          </p:cNvPr>
          <p:cNvSpPr>
            <a:spLocks noGrp="1"/>
          </p:cNvSpPr>
          <p:nvPr/>
        </p:nvSpPr>
        <p:spPr>
          <a:xfrm>
            <a:off x="7334250" y="5505450"/>
            <a:ext cx="3238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Analyst notes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53F40405-7310-4D4D-9C8A-B2359A351EDE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8AD78BC3-24C6-462F-A8E1-438C1442188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6AAF7593-E651-4BAA-86D5-6C565CA52A38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8045985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Рисунок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5AF297-0CCC-4FC7-93E0-290114EFA1D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2DAF44-E03B-4BC1-94BD-F004A7832834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42D7316-3BC3-4A02-AFA4-BA3D565F2919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32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C76D39A-C3D7-49A7-B178-369EC8643E5E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Dashboard charts should answer decisions, not decorate the page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F85F13-D7B1-41E2-886D-FAA8D1FDAC2A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2476500" cy="6191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C7DD532-46AC-474D-8EC0-5B0F91D7A830}"/>
              </a:ext>
            </a:extLst>
          </p:cNvPr>
          <p:cNvSpPr>
            <a:spLocks noGrp="1"/>
          </p:cNvSpPr>
          <p:nvPr/>
        </p:nvSpPr>
        <p:spPr>
          <a:xfrm>
            <a:off x="781050" y="151447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Widget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76868A9-33E5-432F-A93C-69E7E5963C42}"/>
              </a:ext>
            </a:extLst>
          </p:cNvPr>
          <p:cNvSpPr>
            <a:spLocks noGrp="1"/>
          </p:cNvSpPr>
          <p:nvPr/>
        </p:nvSpPr>
        <p:spPr>
          <a:xfrm>
            <a:off x="3162300" y="1428750"/>
            <a:ext cx="4095750" cy="6191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471338-5661-41E7-9853-5DB102CC162C}"/>
              </a:ext>
            </a:extLst>
          </p:cNvPr>
          <p:cNvSpPr>
            <a:spLocks noGrp="1"/>
          </p:cNvSpPr>
          <p:nvPr/>
        </p:nvSpPr>
        <p:spPr>
          <a:xfrm>
            <a:off x="3257550" y="1514475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Question answered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02FD104-E4BE-418F-B56E-7772C3EE796B}"/>
              </a:ext>
            </a:extLst>
          </p:cNvPr>
          <p:cNvSpPr>
            <a:spLocks noGrp="1"/>
          </p:cNvSpPr>
          <p:nvPr/>
        </p:nvSpPr>
        <p:spPr>
          <a:xfrm>
            <a:off x="7258050" y="1428750"/>
            <a:ext cx="4248150" cy="6191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CA0282C-0DAD-4B24-9132-BF0C84D9F3FA}"/>
              </a:ext>
            </a:extLst>
          </p:cNvPr>
          <p:cNvSpPr>
            <a:spLocks noGrp="1"/>
          </p:cNvSpPr>
          <p:nvPr/>
        </p:nvSpPr>
        <p:spPr>
          <a:xfrm>
            <a:off x="7353300" y="1514475"/>
            <a:ext cx="405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Decision enabled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8B2516B-7EE2-4D7E-B0EA-ED728832DD50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2476500" cy="6191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4094ABA-B7D7-4FF1-853B-234A809F18C0}"/>
              </a:ext>
            </a:extLst>
          </p:cNvPr>
          <p:cNvSpPr>
            <a:spLocks noGrp="1"/>
          </p:cNvSpPr>
          <p:nvPr/>
        </p:nvSpPr>
        <p:spPr>
          <a:xfrm>
            <a:off x="781050" y="2124075"/>
            <a:ext cx="22860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Failure rate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C48D29D-44BE-48ED-BB35-825FE44B7015}"/>
              </a:ext>
            </a:extLst>
          </p:cNvPr>
          <p:cNvSpPr>
            <a:spLocks noGrp="1"/>
          </p:cNvSpPr>
          <p:nvPr/>
        </p:nvSpPr>
        <p:spPr>
          <a:xfrm>
            <a:off x="3162300" y="2047875"/>
            <a:ext cx="4095750" cy="6191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F794837-19FB-4685-B53D-BA4061EAEBA5}"/>
              </a:ext>
            </a:extLst>
          </p:cNvPr>
          <p:cNvSpPr>
            <a:spLocks noGrp="1"/>
          </p:cNvSpPr>
          <p:nvPr/>
        </p:nvSpPr>
        <p:spPr>
          <a:xfrm>
            <a:off x="3257550" y="2124075"/>
            <a:ext cx="3905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Is authentication degrading?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F86B89A-6793-47DC-A53C-F8B9093AEBAF}"/>
              </a:ext>
            </a:extLst>
          </p:cNvPr>
          <p:cNvSpPr>
            <a:spLocks noGrp="1"/>
          </p:cNvSpPr>
          <p:nvPr/>
        </p:nvSpPr>
        <p:spPr>
          <a:xfrm>
            <a:off x="7258050" y="2047875"/>
            <a:ext cx="4248150" cy="6191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135893A-4FB3-472E-A48C-032A0BD80557}"/>
              </a:ext>
            </a:extLst>
          </p:cNvPr>
          <p:cNvSpPr>
            <a:spLocks noGrp="1"/>
          </p:cNvSpPr>
          <p:nvPr/>
        </p:nvSpPr>
        <p:spPr>
          <a:xfrm>
            <a:off x="7353300" y="2124075"/>
            <a:ext cx="40576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Investigate outage or attack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C1F69E7-011F-4FB5-80E3-CB39E1107751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24765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97D2D34-5CF9-4D9C-AD24-E42BE7EAEECF}"/>
              </a:ext>
            </a:extLst>
          </p:cNvPr>
          <p:cNvSpPr>
            <a:spLocks noGrp="1"/>
          </p:cNvSpPr>
          <p:nvPr/>
        </p:nvSpPr>
        <p:spPr>
          <a:xfrm>
            <a:off x="781050" y="2743200"/>
            <a:ext cx="22860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Unique IPs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9A2ED4F-0C3C-41B9-A2EF-6685546491F4}"/>
              </a:ext>
            </a:extLst>
          </p:cNvPr>
          <p:cNvSpPr>
            <a:spLocks noGrp="1"/>
          </p:cNvSpPr>
          <p:nvPr/>
        </p:nvSpPr>
        <p:spPr>
          <a:xfrm>
            <a:off x="3162300" y="2667000"/>
            <a:ext cx="40957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ADCE5AC-09DB-42EC-8C98-6CDF7C57DE75}"/>
              </a:ext>
            </a:extLst>
          </p:cNvPr>
          <p:cNvSpPr>
            <a:spLocks noGrp="1"/>
          </p:cNvSpPr>
          <p:nvPr/>
        </p:nvSpPr>
        <p:spPr>
          <a:xfrm>
            <a:off x="3257550" y="2743200"/>
            <a:ext cx="3905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Is access distributed?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7E20F42-8037-4D48-A8A5-76C22DECC9C7}"/>
              </a:ext>
            </a:extLst>
          </p:cNvPr>
          <p:cNvSpPr>
            <a:spLocks noGrp="1"/>
          </p:cNvSpPr>
          <p:nvPr/>
        </p:nvSpPr>
        <p:spPr>
          <a:xfrm>
            <a:off x="7258050" y="2667000"/>
            <a:ext cx="42481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04BC862-1368-4DF7-8FC9-22DC5F05270A}"/>
              </a:ext>
            </a:extLst>
          </p:cNvPr>
          <p:cNvSpPr>
            <a:spLocks noGrp="1"/>
          </p:cNvSpPr>
          <p:nvPr/>
        </p:nvSpPr>
        <p:spPr>
          <a:xfrm>
            <a:off x="7353300" y="2743200"/>
            <a:ext cx="40576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Escalate stuffing investigation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3CA659A-EEA5-46E0-8FE5-BE859B654F5B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2476500" cy="6191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D58C33E-030E-4E21-8048-BD4D6E66B851}"/>
              </a:ext>
            </a:extLst>
          </p:cNvPr>
          <p:cNvSpPr>
            <a:spLocks noGrp="1"/>
          </p:cNvSpPr>
          <p:nvPr/>
        </p:nvSpPr>
        <p:spPr>
          <a:xfrm>
            <a:off x="781050" y="3362325"/>
            <a:ext cx="22860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New device/IP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0ADF9E0-2151-4FFA-B039-97CF3440803A}"/>
              </a:ext>
            </a:extLst>
          </p:cNvPr>
          <p:cNvSpPr>
            <a:spLocks noGrp="1"/>
          </p:cNvSpPr>
          <p:nvPr/>
        </p:nvSpPr>
        <p:spPr>
          <a:xfrm>
            <a:off x="3162300" y="3286125"/>
            <a:ext cx="4095750" cy="6191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EEC395A-929D-477B-A43C-1853AF4CF163}"/>
              </a:ext>
            </a:extLst>
          </p:cNvPr>
          <p:cNvSpPr>
            <a:spLocks noGrp="1"/>
          </p:cNvSpPr>
          <p:nvPr/>
        </p:nvSpPr>
        <p:spPr>
          <a:xfrm>
            <a:off x="3257550" y="3362325"/>
            <a:ext cx="3905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Is account behavior novel?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ECEF361-1574-4ABA-BDB9-83FAB6F20B99}"/>
              </a:ext>
            </a:extLst>
          </p:cNvPr>
          <p:cNvSpPr>
            <a:spLocks noGrp="1"/>
          </p:cNvSpPr>
          <p:nvPr/>
        </p:nvSpPr>
        <p:spPr>
          <a:xfrm>
            <a:off x="7258050" y="3286125"/>
            <a:ext cx="4248150" cy="6191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9689E8F-D14A-4C5F-B6E4-F80DDE87C818}"/>
              </a:ext>
            </a:extLst>
          </p:cNvPr>
          <p:cNvSpPr>
            <a:spLocks noGrp="1"/>
          </p:cNvSpPr>
          <p:nvPr/>
        </p:nvSpPr>
        <p:spPr>
          <a:xfrm>
            <a:off x="7353300" y="3362325"/>
            <a:ext cx="40576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Trigger step-up MFA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DBEEEBE-58D0-4CAD-A394-25807EBBE4B7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24765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97CA395-7AAA-4B03-AD57-4AF0FFA15521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22860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Hourly heatmap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6BA4523-C550-4CB7-AAEC-4615829F4742}"/>
              </a:ext>
            </a:extLst>
          </p:cNvPr>
          <p:cNvSpPr>
            <a:spLocks noGrp="1"/>
          </p:cNvSpPr>
          <p:nvPr/>
        </p:nvSpPr>
        <p:spPr>
          <a:xfrm>
            <a:off x="3162300" y="3905250"/>
            <a:ext cx="40957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A49D0B2-BB5D-425A-A7CA-B0B03E5DA4B2}"/>
              </a:ext>
            </a:extLst>
          </p:cNvPr>
          <p:cNvSpPr>
            <a:spLocks noGrp="1"/>
          </p:cNvSpPr>
          <p:nvPr/>
        </p:nvSpPr>
        <p:spPr>
          <a:xfrm>
            <a:off x="3257550" y="3981450"/>
            <a:ext cx="3905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Is timing abnormal?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0D0F0A-B5F4-4370-BF25-132CC81794E1}"/>
              </a:ext>
            </a:extLst>
          </p:cNvPr>
          <p:cNvSpPr>
            <a:spLocks noGrp="1"/>
          </p:cNvSpPr>
          <p:nvPr/>
        </p:nvSpPr>
        <p:spPr>
          <a:xfrm>
            <a:off x="7258050" y="3905250"/>
            <a:ext cx="42481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261B172-8C20-473D-9806-3A235E31C93E}"/>
              </a:ext>
            </a:extLst>
          </p:cNvPr>
          <p:cNvSpPr>
            <a:spLocks noGrp="1"/>
          </p:cNvSpPr>
          <p:nvPr/>
        </p:nvSpPr>
        <p:spPr>
          <a:xfrm>
            <a:off x="7353300" y="3981450"/>
            <a:ext cx="40576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Contextualize alert confidence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D61A0E4-95FE-4653-88C5-9B81008951B2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2476500" cy="6191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02643CA-A44C-492C-86A6-399052008CE0}"/>
              </a:ext>
            </a:extLst>
          </p:cNvPr>
          <p:cNvSpPr>
            <a:spLocks noGrp="1"/>
          </p:cNvSpPr>
          <p:nvPr/>
        </p:nvSpPr>
        <p:spPr>
          <a:xfrm>
            <a:off x="781050" y="4600575"/>
            <a:ext cx="22860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Top entities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ED2491B3-F19D-4DDA-9150-4F6BDB0506AE}"/>
              </a:ext>
            </a:extLst>
          </p:cNvPr>
          <p:cNvSpPr>
            <a:spLocks noGrp="1"/>
          </p:cNvSpPr>
          <p:nvPr/>
        </p:nvSpPr>
        <p:spPr>
          <a:xfrm>
            <a:off x="3162300" y="4524375"/>
            <a:ext cx="4095750" cy="6191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C35DEBCC-99AD-43B8-9A5D-24361FBEA876}"/>
              </a:ext>
            </a:extLst>
          </p:cNvPr>
          <p:cNvSpPr>
            <a:spLocks noGrp="1"/>
          </p:cNvSpPr>
          <p:nvPr/>
        </p:nvSpPr>
        <p:spPr>
          <a:xfrm>
            <a:off x="3257550" y="4600575"/>
            <a:ext cx="3905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Who needs review first?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AE6E2EE-865E-4DFD-A8A8-2A3E1A649BA8}"/>
              </a:ext>
            </a:extLst>
          </p:cNvPr>
          <p:cNvSpPr>
            <a:spLocks noGrp="1"/>
          </p:cNvSpPr>
          <p:nvPr/>
        </p:nvSpPr>
        <p:spPr>
          <a:xfrm>
            <a:off x="7258050" y="4524375"/>
            <a:ext cx="4248150" cy="6191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C748514C-1F53-48ED-BCB5-2A5B06B0D9E5}"/>
              </a:ext>
            </a:extLst>
          </p:cNvPr>
          <p:cNvSpPr>
            <a:spLocks noGrp="1"/>
          </p:cNvSpPr>
          <p:nvPr/>
        </p:nvSpPr>
        <p:spPr>
          <a:xfrm>
            <a:off x="7353300" y="4600575"/>
            <a:ext cx="40576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Prioritize SOC queue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E76A2AEC-60F7-4A3F-9175-B869A1296AB3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732A287C-34B3-44BE-8EFD-AAE0A9F6F678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1547919C-0F5D-4F7C-A5BA-142794416171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Every dashboard element should point to a user, threshold, refresh cadence, drilldown, and business action.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5D0E799-B40E-44EE-AF06-CF550F5C8A2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FB2B51FA-2CAF-4675-AE89-E13482093E0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31C27C80-B31A-4C02-9D5C-8FF57259F3B7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225936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90E3CE6-28E2-4670-BB3A-CC4C68FD111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3A20530-FC37-4022-9C0B-C7BC04FDB6AD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D85869-9440-4C1B-8011-A09DC15FE717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33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9686CE5-7D83-4C72-9045-4CD92D16F686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assignment has two equal analytical products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AC350AE-3616-4B4A-800B-7489ABA4CF93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49530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479FF78-1BA5-49BB-9352-48D3497B13A4}"/>
              </a:ext>
            </a:extLst>
          </p:cNvPr>
          <p:cNvSpPr>
            <a:spLocks noGrp="1"/>
          </p:cNvSpPr>
          <p:nvPr/>
        </p:nvSpPr>
        <p:spPr>
          <a:xfrm>
            <a:off x="6553200" y="1571625"/>
            <a:ext cx="49530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FCCC69-EEDC-40FF-B4E7-D1BD88B1C8FA}"/>
              </a:ext>
            </a:extLst>
          </p:cNvPr>
          <p:cNvSpPr>
            <a:spLocks noGrp="1"/>
          </p:cNvSpPr>
          <p:nvPr/>
        </p:nvSpPr>
        <p:spPr>
          <a:xfrm>
            <a:off x="1066800" y="1905000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Security analytics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E32854A-5233-47E0-B75B-BB827AC3F273}"/>
              </a:ext>
            </a:extLst>
          </p:cNvPr>
          <p:cNvSpPr>
            <a:spLocks noGrp="1"/>
          </p:cNvSpPr>
          <p:nvPr/>
        </p:nvSpPr>
        <p:spPr>
          <a:xfrm>
            <a:off x="1066800" y="2619375"/>
            <a:ext cx="1320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67E3887-DDE1-4F3B-96D4-C9858C86CD0A}"/>
              </a:ext>
            </a:extLst>
          </p:cNvPr>
          <p:cNvSpPr>
            <a:spLocks noGrp="1"/>
          </p:cNvSpPr>
          <p:nvPr/>
        </p:nvSpPr>
        <p:spPr>
          <a:xfrm>
            <a:off x="1181100" y="2790825"/>
            <a:ext cx="109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Reduce attacks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70E921A-8385-479C-82F9-8AFB1BC54C0E}"/>
              </a:ext>
            </a:extLst>
          </p:cNvPr>
          <p:cNvSpPr>
            <a:spLocks noGrp="1"/>
          </p:cNvSpPr>
          <p:nvPr/>
        </p:nvSpPr>
        <p:spPr>
          <a:xfrm>
            <a:off x="2406650" y="2828925"/>
            <a:ext cx="76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9DDC2B9-3613-497A-ABDE-AA477487BBDD}"/>
              </a:ext>
            </a:extLst>
          </p:cNvPr>
          <p:cNvSpPr>
            <a:spLocks noGrp="1"/>
          </p:cNvSpPr>
          <p:nvPr/>
        </p:nvSpPr>
        <p:spPr>
          <a:xfrm>
            <a:off x="2501900" y="2619375"/>
            <a:ext cx="1320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057106F-7D0F-4498-AE00-2B4E8931F3C1}"/>
              </a:ext>
            </a:extLst>
          </p:cNvPr>
          <p:cNvSpPr>
            <a:spLocks noGrp="1"/>
          </p:cNvSpPr>
          <p:nvPr/>
        </p:nvSpPr>
        <p:spPr>
          <a:xfrm>
            <a:off x="2616200" y="2790825"/>
            <a:ext cx="109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Reduce false positives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362706C-5DEE-4801-ADFA-F9D03892F5E5}"/>
              </a:ext>
            </a:extLst>
          </p:cNvPr>
          <p:cNvSpPr>
            <a:spLocks noGrp="1"/>
          </p:cNvSpPr>
          <p:nvPr/>
        </p:nvSpPr>
        <p:spPr>
          <a:xfrm>
            <a:off x="3841750" y="2828925"/>
            <a:ext cx="76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C48730C-E949-41C5-A44E-BFBB8F1D444E}"/>
              </a:ext>
            </a:extLst>
          </p:cNvPr>
          <p:cNvSpPr>
            <a:spLocks noGrp="1"/>
          </p:cNvSpPr>
          <p:nvPr/>
        </p:nvSpPr>
        <p:spPr>
          <a:xfrm>
            <a:off x="3937000" y="2619375"/>
            <a:ext cx="1320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A6816DF-FF13-4445-806F-7D15C996C799}"/>
              </a:ext>
            </a:extLst>
          </p:cNvPr>
          <p:cNvSpPr>
            <a:spLocks noGrp="1"/>
          </p:cNvSpPr>
          <p:nvPr/>
        </p:nvSpPr>
        <p:spPr>
          <a:xfrm>
            <a:off x="4051300" y="2790825"/>
            <a:ext cx="109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Protect users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C88FC9E-7EB6-4215-BDDD-F090B6A0981E}"/>
              </a:ext>
            </a:extLst>
          </p:cNvPr>
          <p:cNvSpPr>
            <a:spLocks noGrp="1"/>
          </p:cNvSpPr>
          <p:nvPr/>
        </p:nvSpPr>
        <p:spPr>
          <a:xfrm>
            <a:off x="1066800" y="3857625"/>
            <a:ext cx="4000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A2A2A"/>
                </a:solidFill>
              </a:defRPr>
            </a:pPr>
            <a:r>
              <a:rPr sz="1275" b="0">
                <a:solidFill>
                  <a:srgbClr val="2A2A2A"/>
                </a:solidFill>
              </a:rPr>
              <a:t>- Primary user: SOC analyst</a:t>
            </a:r>
          </a:p>
          <a:p>
            <a:pPr algn="l">
              <a:defRPr sz="1275" b="0">
                <a:solidFill>
                  <a:srgbClr val="2A2A2A"/>
                </a:solidFill>
              </a:defRPr>
            </a:pPr>
            <a:r>
              <a:rPr sz="1275" b="0">
                <a:solidFill>
                  <a:srgbClr val="2A2A2A"/>
                </a:solidFill>
              </a:rPr>
              <a:t>- Decision: contain, investigate, or monitor</a:t>
            </a:r>
          </a:p>
          <a:p>
            <a:pPr algn="l">
              <a:defRPr sz="1275" b="0">
                <a:solidFill>
                  <a:srgbClr val="2A2A2A"/>
                </a:solidFill>
              </a:defRPr>
            </a:pPr>
            <a:r>
              <a:rPr sz="1275" b="0">
                <a:solidFill>
                  <a:srgbClr val="2A2A2A"/>
                </a:solidFill>
              </a:rPr>
              <a:t>- Success metric: high-confidence risk reduction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85A3760-EFA7-45E7-96CE-AFDCEECE7928}"/>
              </a:ext>
            </a:extLst>
          </p:cNvPr>
          <p:cNvSpPr>
            <a:spLocks noGrp="1"/>
          </p:cNvSpPr>
          <p:nvPr/>
        </p:nvSpPr>
        <p:spPr>
          <a:xfrm>
            <a:off x="6934200" y="1905000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Product analytics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18EF5A6D-F981-4461-87B0-D3BF39C89015}"/>
              </a:ext>
            </a:extLst>
          </p:cNvPr>
          <p:cNvSpPr>
            <a:spLocks noGrp="1"/>
          </p:cNvSpPr>
          <p:nvPr/>
        </p:nvSpPr>
        <p:spPr>
          <a:xfrm>
            <a:off x="6934200" y="2619375"/>
            <a:ext cx="976313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13D3D4F-D418-49C1-B676-25D41A4C1038}"/>
              </a:ext>
            </a:extLst>
          </p:cNvPr>
          <p:cNvSpPr>
            <a:spLocks noGrp="1"/>
          </p:cNvSpPr>
          <p:nvPr/>
        </p:nvSpPr>
        <p:spPr>
          <a:xfrm>
            <a:off x="7048500" y="2790825"/>
            <a:ext cx="747713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Increase acquisition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E9F8DA0-73CC-485B-8F7B-D8A71C04F7D8}"/>
              </a:ext>
            </a:extLst>
          </p:cNvPr>
          <p:cNvSpPr>
            <a:spLocks noGrp="1"/>
          </p:cNvSpPr>
          <p:nvPr/>
        </p:nvSpPr>
        <p:spPr>
          <a:xfrm>
            <a:off x="7929563" y="2828925"/>
            <a:ext cx="5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8BD5AF55-B3C2-4A39-90A1-83E3CE2B20F2}"/>
              </a:ext>
            </a:extLst>
          </p:cNvPr>
          <p:cNvSpPr>
            <a:spLocks noGrp="1"/>
          </p:cNvSpPr>
          <p:nvPr/>
        </p:nvSpPr>
        <p:spPr>
          <a:xfrm>
            <a:off x="8005763" y="2619375"/>
            <a:ext cx="976313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F6AA016-A9B6-4307-BCFA-2A5CB1271D96}"/>
              </a:ext>
            </a:extLst>
          </p:cNvPr>
          <p:cNvSpPr>
            <a:spLocks noGrp="1"/>
          </p:cNvSpPr>
          <p:nvPr/>
        </p:nvSpPr>
        <p:spPr>
          <a:xfrm>
            <a:off x="8120063" y="2790825"/>
            <a:ext cx="747713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Maintain quality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6DD7B5A-5169-4920-95C5-7D4C93473696}"/>
              </a:ext>
            </a:extLst>
          </p:cNvPr>
          <p:cNvSpPr>
            <a:spLocks noGrp="1"/>
          </p:cNvSpPr>
          <p:nvPr/>
        </p:nvSpPr>
        <p:spPr>
          <a:xfrm>
            <a:off x="9001125" y="2828925"/>
            <a:ext cx="5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27E3E21-12A9-47D6-90BE-1EC35A151006}"/>
              </a:ext>
            </a:extLst>
          </p:cNvPr>
          <p:cNvSpPr>
            <a:spLocks noGrp="1"/>
          </p:cNvSpPr>
          <p:nvPr/>
        </p:nvSpPr>
        <p:spPr>
          <a:xfrm>
            <a:off x="9077325" y="2619375"/>
            <a:ext cx="976313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8B6ED12-A12D-4F14-96C2-2F7479755237}"/>
              </a:ext>
            </a:extLst>
          </p:cNvPr>
          <p:cNvSpPr>
            <a:spLocks noGrp="1"/>
          </p:cNvSpPr>
          <p:nvPr/>
        </p:nvSpPr>
        <p:spPr>
          <a:xfrm>
            <a:off x="9191625" y="2790825"/>
            <a:ext cx="747713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Improve activation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85D0ADE-F178-4409-AB9D-6517084BE565}"/>
              </a:ext>
            </a:extLst>
          </p:cNvPr>
          <p:cNvSpPr>
            <a:spLocks noGrp="1"/>
          </p:cNvSpPr>
          <p:nvPr/>
        </p:nvSpPr>
        <p:spPr>
          <a:xfrm>
            <a:off x="10072688" y="2828925"/>
            <a:ext cx="5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21F5A353-7BDE-4A48-AEBC-C55A65694422}"/>
              </a:ext>
            </a:extLst>
          </p:cNvPr>
          <p:cNvSpPr>
            <a:spLocks noGrp="1"/>
          </p:cNvSpPr>
          <p:nvPr/>
        </p:nvSpPr>
        <p:spPr>
          <a:xfrm>
            <a:off x="10148888" y="2619375"/>
            <a:ext cx="976313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C3B5697-879D-467C-9406-A8DFFC33D4B3}"/>
              </a:ext>
            </a:extLst>
          </p:cNvPr>
          <p:cNvSpPr>
            <a:spLocks noGrp="1"/>
          </p:cNvSpPr>
          <p:nvPr/>
        </p:nvSpPr>
        <p:spPr>
          <a:xfrm>
            <a:off x="10263188" y="2790825"/>
            <a:ext cx="747713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Increase revenue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4B41754-3597-4F3B-B64E-EAEDD24BDB03}"/>
              </a:ext>
            </a:extLst>
          </p:cNvPr>
          <p:cNvSpPr>
            <a:spLocks noGrp="1"/>
          </p:cNvSpPr>
          <p:nvPr/>
        </p:nvSpPr>
        <p:spPr>
          <a:xfrm>
            <a:off x="6934200" y="3857625"/>
            <a:ext cx="4000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A2A2A"/>
                </a:solidFill>
              </a:defRPr>
            </a:pPr>
            <a:r>
              <a:rPr sz="1275" b="0">
                <a:solidFill>
                  <a:srgbClr val="2A2A2A"/>
                </a:solidFill>
              </a:rPr>
              <a:t>- Primary user: product and growth leader</a:t>
            </a:r>
          </a:p>
          <a:p>
            <a:pPr algn="l">
              <a:defRPr sz="1275" b="0">
                <a:solidFill>
                  <a:srgbClr val="2A2A2A"/>
                </a:solidFill>
              </a:defRPr>
            </a:pPr>
            <a:r>
              <a:rPr sz="1275" b="0">
                <a:solidFill>
                  <a:srgbClr val="2A2A2A"/>
                </a:solidFill>
              </a:rPr>
              <a:t>- Decision: scale, investigate, or fix tracking</a:t>
            </a:r>
          </a:p>
          <a:p>
            <a:pPr algn="l">
              <a:defRPr sz="1275" b="0">
                <a:solidFill>
                  <a:srgbClr val="2A2A2A"/>
                </a:solidFill>
              </a:defRPr>
            </a:pPr>
            <a:r>
              <a:rPr sz="1275" b="0">
                <a:solidFill>
                  <a:srgbClr val="2A2A2A"/>
                </a:solidFill>
              </a:rPr>
              <a:t>- Success metric: durable high-quality growth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9FB294BF-ED7A-4007-97D0-EB0DF0B416B8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EE862D9-5A89-427B-89E7-248C2D332B62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75ADB44-5AF1-4932-BF2B-25E3EA403D6B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Both halves ask the same senior question: what decision changes when the metric moves?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9071DA96-5CCB-404C-9A5B-BE3F3365FDE2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08E7B04-7CB1-4D96-BE76-F6FA1372A4A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80102A7-9089-424B-A6A7-C731D187261B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2660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801F930-C076-4B1C-BFCB-A9F98C3E63E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70B887-72FB-4B47-BC47-2E9C61FB46A7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D53F9D-6AE8-48D0-8A7C-4FE2BD7B1BA8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34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1B27DB0-1D7E-44B0-92A9-1524B52513E3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KPI dashboard separates growth from account quality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14FE294-0B21-44AA-B31C-AA47C052A97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572375" cy="4238625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06897" y="1657350"/>
            <a:ext cx="5330181" cy="397192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39BBB1-7C1E-4927-95E5-D76F162CEE15}"/>
              </a:ext>
            </a:extLst>
          </p:cNvPr>
          <p:cNvSpPr>
            <a:spLocks noGrp="1"/>
          </p:cNvSpPr>
          <p:nvPr/>
        </p:nvSpPr>
        <p:spPr>
          <a:xfrm>
            <a:off x="8572500" y="15716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Walkthrough logic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8D94DC2-DA61-4308-8CDE-01F94891002A}"/>
              </a:ext>
            </a:extLst>
          </p:cNvPr>
          <p:cNvSpPr>
            <a:spLocks noGrp="1"/>
          </p:cNvSpPr>
          <p:nvPr/>
        </p:nvSpPr>
        <p:spPr>
          <a:xfrm>
            <a:off x="8572500" y="1971675"/>
            <a:ext cx="27622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Sign-up spikes are not automatically good news.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Channel, geography, verification, activation, and paid conversion reveal quality.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Surge-period shading helps separate timing from metric movement.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0C6E416-9F66-4662-A7EB-AFCAA2D4533C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DFC554B-8F63-489D-BA19-35AC21A3381B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6112997-7EB8-4826-B3EB-62411EF06A68}"/>
              </a:ext>
            </a:extLst>
          </p:cNvPr>
          <p:cNvSpPr>
            <a:spLocks noGrp="1"/>
          </p:cNvSpPr>
          <p:nvPr/>
        </p:nvSpPr>
        <p:spPr>
          <a:xfrm>
            <a:off x="914400" y="589597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same investigation mindset applies to product analytics: explain the movement before celebrating it.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0B998CC-DD79-4BDA-8532-5FD70DCCBBB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0B1D777-67AF-45FF-9953-CE0288C66C7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FD7950E-272F-49EE-9059-38252C1710C9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612980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Рисунок 6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4EEDEA3-ADC2-458B-889E-0DF63A94F33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6000648-9306-43C7-9DFF-C2C1968AFE46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A599165-2DC2-437E-A76C-54E16D8CB5B5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35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0101EF6-D0C3-40CD-B74D-BBA59FA01B62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 sign-up spike needs a hypothesis tree before a dashboard verdict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E56D828-8726-4351-8E9E-81F77AF4D1C4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E555467-57C2-4322-90B4-CCAE709532DC}"/>
              </a:ext>
            </a:extLst>
          </p:cNvPr>
          <p:cNvSpPr>
            <a:spLocks noGrp="1"/>
          </p:cNvSpPr>
          <p:nvPr/>
        </p:nvSpPr>
        <p:spPr>
          <a:xfrm>
            <a:off x="800100" y="1838325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Marketing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5D28EC7-885A-4B26-8BE5-24E3D5DC49E7}"/>
              </a:ext>
            </a:extLst>
          </p:cNvPr>
          <p:cNvSpPr>
            <a:spLocks noGrp="1"/>
          </p:cNvSpPr>
          <p:nvPr/>
        </p:nvSpPr>
        <p:spPr>
          <a:xfrm>
            <a:off x="2731770" y="1876425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054808E-E04C-485E-AD22-2067D205D2EE}"/>
              </a:ext>
            </a:extLst>
          </p:cNvPr>
          <p:cNvSpPr>
            <a:spLocks noGrp="1"/>
          </p:cNvSpPr>
          <p:nvPr/>
        </p:nvSpPr>
        <p:spPr>
          <a:xfrm>
            <a:off x="2884170" y="1666875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5383062-285C-4F52-9C8B-843CA8F89554}"/>
              </a:ext>
            </a:extLst>
          </p:cNvPr>
          <p:cNvSpPr>
            <a:spLocks noGrp="1"/>
          </p:cNvSpPr>
          <p:nvPr/>
        </p:nvSpPr>
        <p:spPr>
          <a:xfrm>
            <a:off x="2998470" y="1838325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Product launch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A966F7A-0A1F-4D50-BD24-03CE256A2F18}"/>
              </a:ext>
            </a:extLst>
          </p:cNvPr>
          <p:cNvSpPr>
            <a:spLocks noGrp="1"/>
          </p:cNvSpPr>
          <p:nvPr/>
        </p:nvSpPr>
        <p:spPr>
          <a:xfrm>
            <a:off x="4930140" y="1876425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08A1632-8C00-4F09-A815-B6F990D76C72}"/>
              </a:ext>
            </a:extLst>
          </p:cNvPr>
          <p:cNvSpPr>
            <a:spLocks noGrp="1"/>
          </p:cNvSpPr>
          <p:nvPr/>
        </p:nvSpPr>
        <p:spPr>
          <a:xfrm>
            <a:off x="5082540" y="1666875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EC4082A-9A68-4F9D-9C4D-EC23C1F4B626}"/>
              </a:ext>
            </a:extLst>
          </p:cNvPr>
          <p:cNvSpPr>
            <a:spLocks noGrp="1"/>
          </p:cNvSpPr>
          <p:nvPr/>
        </p:nvSpPr>
        <p:spPr>
          <a:xfrm>
            <a:off x="5196840" y="1838325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Bots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31E017E-08B4-4A4C-9B28-C727E88E395F}"/>
              </a:ext>
            </a:extLst>
          </p:cNvPr>
          <p:cNvSpPr>
            <a:spLocks noGrp="1"/>
          </p:cNvSpPr>
          <p:nvPr/>
        </p:nvSpPr>
        <p:spPr>
          <a:xfrm>
            <a:off x="7128510" y="1876425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1E6E548-3E1F-4B37-BC8E-A1511DCD0A3A}"/>
              </a:ext>
            </a:extLst>
          </p:cNvPr>
          <p:cNvSpPr>
            <a:spLocks noGrp="1"/>
          </p:cNvSpPr>
          <p:nvPr/>
        </p:nvSpPr>
        <p:spPr>
          <a:xfrm>
            <a:off x="7280910" y="1666875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E96066D-8FF6-43C1-8C7C-8CEDF432223E}"/>
              </a:ext>
            </a:extLst>
          </p:cNvPr>
          <p:cNvSpPr>
            <a:spLocks noGrp="1"/>
          </p:cNvSpPr>
          <p:nvPr/>
        </p:nvSpPr>
        <p:spPr>
          <a:xfrm>
            <a:off x="7395210" y="1838325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Referral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D072E2D-4CBB-43D3-8157-8CC06E238136}"/>
              </a:ext>
            </a:extLst>
          </p:cNvPr>
          <p:cNvSpPr>
            <a:spLocks noGrp="1"/>
          </p:cNvSpPr>
          <p:nvPr/>
        </p:nvSpPr>
        <p:spPr>
          <a:xfrm>
            <a:off x="9326880" y="1876425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92A6A44F-0C3F-4D35-B342-8C7FD098D0FE}"/>
              </a:ext>
            </a:extLst>
          </p:cNvPr>
          <p:cNvSpPr>
            <a:spLocks noGrp="1"/>
          </p:cNvSpPr>
          <p:nvPr/>
        </p:nvSpPr>
        <p:spPr>
          <a:xfrm>
            <a:off x="9479280" y="1666875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2CC51EE-5AB1-4D80-9203-2F56F79C349F}"/>
              </a:ext>
            </a:extLst>
          </p:cNvPr>
          <p:cNvSpPr>
            <a:spLocks noGrp="1"/>
          </p:cNvSpPr>
          <p:nvPr/>
        </p:nvSpPr>
        <p:spPr>
          <a:xfrm>
            <a:off x="9593580" y="1838325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Seasonality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0E8F690-651F-4736-9683-893A52EBBCB3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4792B80-4CC2-4D37-870D-D78FB0DE8487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Pricing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FB66DCA-6E54-4F9C-94CB-505DE6C69F25}"/>
              </a:ext>
            </a:extLst>
          </p:cNvPr>
          <p:cNvSpPr>
            <a:spLocks noGrp="1"/>
          </p:cNvSpPr>
          <p:nvPr/>
        </p:nvSpPr>
        <p:spPr>
          <a:xfrm>
            <a:off x="2731770" y="3133725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926633FD-57E8-4578-9FEC-90C39F5DFD01}"/>
              </a:ext>
            </a:extLst>
          </p:cNvPr>
          <p:cNvSpPr>
            <a:spLocks noGrp="1"/>
          </p:cNvSpPr>
          <p:nvPr/>
        </p:nvSpPr>
        <p:spPr>
          <a:xfrm>
            <a:off x="2884170" y="2924175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C5C3A38-7276-4C15-A071-C0E34D503B68}"/>
              </a:ext>
            </a:extLst>
          </p:cNvPr>
          <p:cNvSpPr>
            <a:spLocks noGrp="1"/>
          </p:cNvSpPr>
          <p:nvPr/>
        </p:nvSpPr>
        <p:spPr>
          <a:xfrm>
            <a:off x="2998470" y="3095625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Geo shift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7F2AD28-69A8-426C-81DF-8D4BC7A4BD71}"/>
              </a:ext>
            </a:extLst>
          </p:cNvPr>
          <p:cNvSpPr>
            <a:spLocks noGrp="1"/>
          </p:cNvSpPr>
          <p:nvPr/>
        </p:nvSpPr>
        <p:spPr>
          <a:xfrm>
            <a:off x="4930140" y="3133725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A7990A06-645B-4782-8D49-EF44BC42BEAA}"/>
              </a:ext>
            </a:extLst>
          </p:cNvPr>
          <p:cNvSpPr>
            <a:spLocks noGrp="1"/>
          </p:cNvSpPr>
          <p:nvPr/>
        </p:nvSpPr>
        <p:spPr>
          <a:xfrm>
            <a:off x="5082540" y="2924175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C8C8400-D0C7-451A-904D-35F59488B713}"/>
              </a:ext>
            </a:extLst>
          </p:cNvPr>
          <p:cNvSpPr>
            <a:spLocks noGrp="1"/>
          </p:cNvSpPr>
          <p:nvPr/>
        </p:nvSpPr>
        <p:spPr>
          <a:xfrm>
            <a:off x="5196840" y="3095625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Tracking bug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795D228-7C44-4B23-A23C-006AF4C55250}"/>
              </a:ext>
            </a:extLst>
          </p:cNvPr>
          <p:cNvSpPr>
            <a:spLocks noGrp="1"/>
          </p:cNvSpPr>
          <p:nvPr/>
        </p:nvSpPr>
        <p:spPr>
          <a:xfrm>
            <a:off x="7128510" y="3133725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C0926ED-D9F7-4D78-827C-8DFF2D4B044B}"/>
              </a:ext>
            </a:extLst>
          </p:cNvPr>
          <p:cNvSpPr>
            <a:spLocks noGrp="1"/>
          </p:cNvSpPr>
          <p:nvPr/>
        </p:nvSpPr>
        <p:spPr>
          <a:xfrm>
            <a:off x="7280910" y="2924175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DD9F35B-2B3B-4E6B-B6C5-38B38BB51062}"/>
              </a:ext>
            </a:extLst>
          </p:cNvPr>
          <p:cNvSpPr>
            <a:spLocks noGrp="1"/>
          </p:cNvSpPr>
          <p:nvPr/>
        </p:nvSpPr>
        <p:spPr>
          <a:xfrm>
            <a:off x="7395210" y="3095625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 / news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BB415EE-38BE-429D-B88D-863A4865F196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2476500" cy="4381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CE1C22D-07D9-43C9-99C3-B871F0A4EF00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Hypothesis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B13F57B-27C6-4BAE-B57A-A50751E3E305}"/>
              </a:ext>
            </a:extLst>
          </p:cNvPr>
          <p:cNvSpPr>
            <a:spLocks noGrp="1"/>
          </p:cNvSpPr>
          <p:nvPr/>
        </p:nvSpPr>
        <p:spPr>
          <a:xfrm>
            <a:off x="3162300" y="3857625"/>
            <a:ext cx="4724400" cy="4381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2F7C3019-8B57-478C-A10C-C2CB4ABF379C}"/>
              </a:ext>
            </a:extLst>
          </p:cNvPr>
          <p:cNvSpPr>
            <a:spLocks noGrp="1"/>
          </p:cNvSpPr>
          <p:nvPr/>
        </p:nvSpPr>
        <p:spPr>
          <a:xfrm>
            <a:off x="3257550" y="3943350"/>
            <a:ext cx="453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How to eliminate it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F0D757AA-432D-4806-866A-B6FC92E77E62}"/>
              </a:ext>
            </a:extLst>
          </p:cNvPr>
          <p:cNvSpPr>
            <a:spLocks noGrp="1"/>
          </p:cNvSpPr>
          <p:nvPr/>
        </p:nvSpPr>
        <p:spPr>
          <a:xfrm>
            <a:off x="7886700" y="3857625"/>
            <a:ext cx="3619500" cy="4381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6933EC7-B0AC-4C31-9FCA-6574A564C6E2}"/>
              </a:ext>
            </a:extLst>
          </p:cNvPr>
          <p:cNvSpPr>
            <a:spLocks noGrp="1"/>
          </p:cNvSpPr>
          <p:nvPr/>
        </p:nvSpPr>
        <p:spPr>
          <a:xfrm>
            <a:off x="7981950" y="39433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Metric to inspect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71C913A-09CE-492C-9784-90FB448E5E7A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2476500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77A0C08F-4E30-426B-8658-38AAA3B2AD62}"/>
              </a:ext>
            </a:extLst>
          </p:cNvPr>
          <p:cNvSpPr>
            <a:spLocks noGrp="1"/>
          </p:cNvSpPr>
          <p:nvPr/>
        </p:nvSpPr>
        <p:spPr>
          <a:xfrm>
            <a:off x="781050" y="43719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Marketing campaign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6F33044-AEC5-4F18-935D-810EE3F52E59}"/>
              </a:ext>
            </a:extLst>
          </p:cNvPr>
          <p:cNvSpPr>
            <a:spLocks noGrp="1"/>
          </p:cNvSpPr>
          <p:nvPr/>
        </p:nvSpPr>
        <p:spPr>
          <a:xfrm>
            <a:off x="3162300" y="4295775"/>
            <a:ext cx="4724400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F07146C-DE8B-415C-9482-C6D8105C0723}"/>
              </a:ext>
            </a:extLst>
          </p:cNvPr>
          <p:cNvSpPr>
            <a:spLocks noGrp="1"/>
          </p:cNvSpPr>
          <p:nvPr/>
        </p:nvSpPr>
        <p:spPr>
          <a:xfrm>
            <a:off x="3257550" y="4371975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Match spend and campaign launch dates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C436AE3D-CDBA-45A2-8F25-0E57D7B2E2AB}"/>
              </a:ext>
            </a:extLst>
          </p:cNvPr>
          <p:cNvSpPr>
            <a:spLocks noGrp="1"/>
          </p:cNvSpPr>
          <p:nvPr/>
        </p:nvSpPr>
        <p:spPr>
          <a:xfrm>
            <a:off x="7886700" y="4295775"/>
            <a:ext cx="3619500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65CF0E9-BBAC-4FA3-925F-0915318CAA1D}"/>
              </a:ext>
            </a:extLst>
          </p:cNvPr>
          <p:cNvSpPr>
            <a:spLocks noGrp="1"/>
          </p:cNvSpPr>
          <p:nvPr/>
        </p:nvSpPr>
        <p:spPr>
          <a:xfrm>
            <a:off x="7981950" y="437197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Channel mix, CAC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EAD0073-ECC1-41F0-BD48-DDF2CC2E43BB}"/>
              </a:ext>
            </a:extLst>
          </p:cNvPr>
          <p:cNvSpPr>
            <a:spLocks noGrp="1"/>
          </p:cNvSpPr>
          <p:nvPr/>
        </p:nvSpPr>
        <p:spPr>
          <a:xfrm>
            <a:off x="685800" y="4733925"/>
            <a:ext cx="2476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9807168B-4613-473E-B1EF-6A8B3885C6E2}"/>
              </a:ext>
            </a:extLst>
          </p:cNvPr>
          <p:cNvSpPr>
            <a:spLocks noGrp="1"/>
          </p:cNvSpPr>
          <p:nvPr/>
        </p:nvSpPr>
        <p:spPr>
          <a:xfrm>
            <a:off x="781050" y="48101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Bot or spam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C6DE4E03-A4FD-4E29-9665-ED0FDFCD0E3C}"/>
              </a:ext>
            </a:extLst>
          </p:cNvPr>
          <p:cNvSpPr>
            <a:spLocks noGrp="1"/>
          </p:cNvSpPr>
          <p:nvPr/>
        </p:nvSpPr>
        <p:spPr>
          <a:xfrm>
            <a:off x="3162300" y="4733925"/>
            <a:ext cx="4724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F88168AA-0660-4BEB-B9CE-68D02B5BC8DF}"/>
              </a:ext>
            </a:extLst>
          </p:cNvPr>
          <p:cNvSpPr>
            <a:spLocks noGrp="1"/>
          </p:cNvSpPr>
          <p:nvPr/>
        </p:nvSpPr>
        <p:spPr>
          <a:xfrm>
            <a:off x="3257550" y="4810125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Check verification and activation quality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B0B08959-2A93-49A1-B819-9E1E9D75C4C6}"/>
              </a:ext>
            </a:extLst>
          </p:cNvPr>
          <p:cNvSpPr>
            <a:spLocks noGrp="1"/>
          </p:cNvSpPr>
          <p:nvPr/>
        </p:nvSpPr>
        <p:spPr>
          <a:xfrm>
            <a:off x="7886700" y="4733925"/>
            <a:ext cx="3619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1ECD970E-FF58-4FA4-8A26-DE283839CFC2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Verify rate, device/IP reuse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0DDCEBEB-6EEE-4071-B59B-79147BC26685}"/>
              </a:ext>
            </a:extLst>
          </p:cNvPr>
          <p:cNvSpPr>
            <a:spLocks noGrp="1"/>
          </p:cNvSpPr>
          <p:nvPr/>
        </p:nvSpPr>
        <p:spPr>
          <a:xfrm>
            <a:off x="685800" y="5172075"/>
            <a:ext cx="2476500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2122563F-7C99-408E-96B6-DB9BC32B1506}"/>
              </a:ext>
            </a:extLst>
          </p:cNvPr>
          <p:cNvSpPr>
            <a:spLocks noGrp="1"/>
          </p:cNvSpPr>
          <p:nvPr/>
        </p:nvSpPr>
        <p:spPr>
          <a:xfrm>
            <a:off x="781050" y="52482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Tracking bug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C0FF2FE3-43FD-4A11-A393-EB11AA75B191}"/>
              </a:ext>
            </a:extLst>
          </p:cNvPr>
          <p:cNvSpPr>
            <a:spLocks noGrp="1"/>
          </p:cNvSpPr>
          <p:nvPr/>
        </p:nvSpPr>
        <p:spPr>
          <a:xfrm>
            <a:off x="3162300" y="5172075"/>
            <a:ext cx="4724400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8FE0399F-E5B8-4E69-BCDB-2602C7C05E24}"/>
              </a:ext>
            </a:extLst>
          </p:cNvPr>
          <p:cNvSpPr>
            <a:spLocks noGrp="1"/>
          </p:cNvSpPr>
          <p:nvPr/>
        </p:nvSpPr>
        <p:spPr>
          <a:xfrm>
            <a:off x="3257550" y="5248275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Reconcile raw events with warehouse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03BFD457-D621-4FAE-99D1-AA74066EE6E0}"/>
              </a:ext>
            </a:extLst>
          </p:cNvPr>
          <p:cNvSpPr>
            <a:spLocks noGrp="1"/>
          </p:cNvSpPr>
          <p:nvPr/>
        </p:nvSpPr>
        <p:spPr>
          <a:xfrm>
            <a:off x="7886700" y="5172075"/>
            <a:ext cx="3619500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0632F228-BAD0-4D9E-BA19-938963A1A53E}"/>
              </a:ext>
            </a:extLst>
          </p:cNvPr>
          <p:cNvSpPr>
            <a:spLocks noGrp="1"/>
          </p:cNvSpPr>
          <p:nvPr/>
        </p:nvSpPr>
        <p:spPr>
          <a:xfrm>
            <a:off x="7981950" y="524827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Duplicate rate, schema change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63AFA2E3-61B8-4FEC-89D1-78C7316D3BDC}"/>
              </a:ext>
            </a:extLst>
          </p:cNvPr>
          <p:cNvSpPr>
            <a:spLocks noGrp="1"/>
          </p:cNvSpPr>
          <p:nvPr/>
        </p:nvSpPr>
        <p:spPr>
          <a:xfrm>
            <a:off x="685800" y="5610225"/>
            <a:ext cx="2476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2CACA2DA-2007-4F23-BAB8-FCED0AFABBE9}"/>
              </a:ext>
            </a:extLst>
          </p:cNvPr>
          <p:cNvSpPr>
            <a:spLocks noGrp="1"/>
          </p:cNvSpPr>
          <p:nvPr/>
        </p:nvSpPr>
        <p:spPr>
          <a:xfrm>
            <a:off x="781050" y="56864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Geo or referral shift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CEDE1994-F6E9-4DAB-8D66-4326FCB07060}"/>
              </a:ext>
            </a:extLst>
          </p:cNvPr>
          <p:cNvSpPr>
            <a:spLocks noGrp="1"/>
          </p:cNvSpPr>
          <p:nvPr/>
        </p:nvSpPr>
        <p:spPr>
          <a:xfrm>
            <a:off x="3162300" y="5610225"/>
            <a:ext cx="4724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6749AB32-BFC5-4151-88A8-70904486678C}"/>
              </a:ext>
            </a:extLst>
          </p:cNvPr>
          <p:cNvSpPr>
            <a:spLocks noGrp="1"/>
          </p:cNvSpPr>
          <p:nvPr/>
        </p:nvSpPr>
        <p:spPr>
          <a:xfrm>
            <a:off x="3257550" y="5686425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Segment by geography and source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71FFA0AA-DE46-49E6-9C23-6CBC74D1D3A1}"/>
              </a:ext>
            </a:extLst>
          </p:cNvPr>
          <p:cNvSpPr>
            <a:spLocks noGrp="1"/>
          </p:cNvSpPr>
          <p:nvPr/>
        </p:nvSpPr>
        <p:spPr>
          <a:xfrm>
            <a:off x="7886700" y="5610225"/>
            <a:ext cx="3619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12670B2B-482C-4950-A10A-A2C6B795BD3C}"/>
              </a:ext>
            </a:extLst>
          </p:cNvPr>
          <p:cNvSpPr>
            <a:spLocks noGrp="1"/>
          </p:cNvSpPr>
          <p:nvPr/>
        </p:nvSpPr>
        <p:spPr>
          <a:xfrm>
            <a:off x="7981950" y="56864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Country, referrer, conversion</a:t>
            </a: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6BC3E7A9-4913-40CA-9990-B976B0EDE536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AFE4C7F0-17DF-4998-A361-5363A253818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89D51996-221C-4BF2-BEA8-E8554AAEA513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090858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Рисунок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4FAE876-BF87-4A03-A8A5-4B5D9711237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4F43778-EFD8-41C7-82D9-12ED040C6E3F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E975E0D-B7B3-49D0-8FEA-04608C55CD1E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36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089D2A7-EA66-428D-BF6A-B0901DBB55B0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KPI framework must measure both volume and quality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DC82DC7-60CB-498B-B480-0F358702BE84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228600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DBA192E-0531-4E30-AE58-2801130C5C6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1E14BB5-0DCF-4057-9BA6-F581A4D48DB2}"/>
              </a:ext>
            </a:extLst>
          </p:cNvPr>
          <p:cNvSpPr>
            <a:spLocks noGrp="1"/>
          </p:cNvSpPr>
          <p:nvPr/>
        </p:nvSpPr>
        <p:spPr>
          <a:xfrm>
            <a:off x="2971800" y="1381125"/>
            <a:ext cx="419100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0265ADD-9E94-45A9-A8E0-2EA041B83CF7}"/>
              </a:ext>
            </a:extLst>
          </p:cNvPr>
          <p:cNvSpPr>
            <a:spLocks noGrp="1"/>
          </p:cNvSpPr>
          <p:nvPr/>
        </p:nvSpPr>
        <p:spPr>
          <a:xfrm>
            <a:off x="3067050" y="1466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5484EDB-3720-4B5E-91A8-769D7B72A67B}"/>
              </a:ext>
            </a:extLst>
          </p:cNvPr>
          <p:cNvSpPr>
            <a:spLocks noGrp="1"/>
          </p:cNvSpPr>
          <p:nvPr/>
        </p:nvSpPr>
        <p:spPr>
          <a:xfrm>
            <a:off x="7162800" y="1381125"/>
            <a:ext cx="434340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5BC7312-B2C2-4538-89FA-42D3335608FF}"/>
              </a:ext>
            </a:extLst>
          </p:cNvPr>
          <p:cNvSpPr>
            <a:spLocks noGrp="1"/>
          </p:cNvSpPr>
          <p:nvPr/>
        </p:nvSpPr>
        <p:spPr>
          <a:xfrm>
            <a:off x="7258050" y="1466850"/>
            <a:ext cx="415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Quality lens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74BEBC5-BAD5-4BE4-B423-17585398C9C4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22860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EFAE7A1-AC6A-4BCF-8DFD-1F0E5242AC0F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Signups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98D8A95-A48D-4BB8-B2E4-CB6DA9415E4E}"/>
              </a:ext>
            </a:extLst>
          </p:cNvPr>
          <p:cNvSpPr>
            <a:spLocks noGrp="1"/>
          </p:cNvSpPr>
          <p:nvPr/>
        </p:nvSpPr>
        <p:spPr>
          <a:xfrm>
            <a:off x="2971800" y="1933575"/>
            <a:ext cx="41910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B4C1076-3453-4B4D-B50A-D26E3815E6E1}"/>
              </a:ext>
            </a:extLst>
          </p:cNvPr>
          <p:cNvSpPr>
            <a:spLocks noGrp="1"/>
          </p:cNvSpPr>
          <p:nvPr/>
        </p:nvSpPr>
        <p:spPr>
          <a:xfrm>
            <a:off x="3067050" y="2009775"/>
            <a:ext cx="400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Top-of-funnel volume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D9D590F-3BD3-4CD4-B9D9-C7A9E58EA00E}"/>
              </a:ext>
            </a:extLst>
          </p:cNvPr>
          <p:cNvSpPr>
            <a:spLocks noGrp="1"/>
          </p:cNvSpPr>
          <p:nvPr/>
        </p:nvSpPr>
        <p:spPr>
          <a:xfrm>
            <a:off x="7162800" y="1933575"/>
            <a:ext cx="43434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B6A0854-C76F-4BAD-BF9B-C87BCC703627}"/>
              </a:ext>
            </a:extLst>
          </p:cNvPr>
          <p:cNvSpPr>
            <a:spLocks noGrp="1"/>
          </p:cNvSpPr>
          <p:nvPr/>
        </p:nvSpPr>
        <p:spPr>
          <a:xfrm>
            <a:off x="7258050" y="2009775"/>
            <a:ext cx="415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Unique accounts, dedupe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1A7428A-4E3D-4E6C-A7A4-E07C2A6C2710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2286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696F3F3-02CB-473A-B518-9125B10E7B0E}"/>
              </a:ext>
            </a:extLst>
          </p:cNvPr>
          <p:cNvSpPr>
            <a:spLocks noGrp="1"/>
          </p:cNvSpPr>
          <p:nvPr/>
        </p:nvSpPr>
        <p:spPr>
          <a:xfrm>
            <a:off x="781050" y="2562225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Verification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37BD0D9-C2F0-4480-9F6F-274A52E4E48E}"/>
              </a:ext>
            </a:extLst>
          </p:cNvPr>
          <p:cNvSpPr>
            <a:spLocks noGrp="1"/>
          </p:cNvSpPr>
          <p:nvPr/>
        </p:nvSpPr>
        <p:spPr>
          <a:xfrm>
            <a:off x="2971800" y="2486025"/>
            <a:ext cx="4191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9755251-FAB6-495E-97AB-C0C3B69F4475}"/>
              </a:ext>
            </a:extLst>
          </p:cNvPr>
          <p:cNvSpPr>
            <a:spLocks noGrp="1"/>
          </p:cNvSpPr>
          <p:nvPr/>
        </p:nvSpPr>
        <p:spPr>
          <a:xfrm>
            <a:off x="3067050" y="2562225"/>
            <a:ext cx="400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Identity and intent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ABC9274-E778-416C-BFE6-FA0E701964A2}"/>
              </a:ext>
            </a:extLst>
          </p:cNvPr>
          <p:cNvSpPr>
            <a:spLocks noGrp="1"/>
          </p:cNvSpPr>
          <p:nvPr/>
        </p:nvSpPr>
        <p:spPr>
          <a:xfrm>
            <a:off x="7162800" y="2486025"/>
            <a:ext cx="43434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B3609F5-8DC0-4A7C-812C-A8CB28304843}"/>
              </a:ext>
            </a:extLst>
          </p:cNvPr>
          <p:cNvSpPr>
            <a:spLocks noGrp="1"/>
          </p:cNvSpPr>
          <p:nvPr/>
        </p:nvSpPr>
        <p:spPr>
          <a:xfrm>
            <a:off x="7258050" y="2562225"/>
            <a:ext cx="415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Email/SMS completion rate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982FE3E-3227-43DF-A775-F5E8BCA86F70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22860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D72067E-8010-429B-AA5F-5DE398557F92}"/>
              </a:ext>
            </a:extLst>
          </p:cNvPr>
          <p:cNvSpPr>
            <a:spLocks noGrp="1"/>
          </p:cNvSpPr>
          <p:nvPr/>
        </p:nvSpPr>
        <p:spPr>
          <a:xfrm>
            <a:off x="781050" y="3114675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Activation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DB9422D-31F5-41F5-A1A7-9CB9EE163FB0}"/>
              </a:ext>
            </a:extLst>
          </p:cNvPr>
          <p:cNvSpPr>
            <a:spLocks noGrp="1"/>
          </p:cNvSpPr>
          <p:nvPr/>
        </p:nvSpPr>
        <p:spPr>
          <a:xfrm>
            <a:off x="2971800" y="3038475"/>
            <a:ext cx="41910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A40293D-9F19-4E5D-AC24-2C40528909EF}"/>
              </a:ext>
            </a:extLst>
          </p:cNvPr>
          <p:cNvSpPr>
            <a:spLocks noGrp="1"/>
          </p:cNvSpPr>
          <p:nvPr/>
        </p:nvSpPr>
        <p:spPr>
          <a:xfrm>
            <a:off x="3067050" y="3114675"/>
            <a:ext cx="400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Product value reached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416DE63-F1CC-4E76-992C-2C6D1ACA2EA6}"/>
              </a:ext>
            </a:extLst>
          </p:cNvPr>
          <p:cNvSpPr>
            <a:spLocks noGrp="1"/>
          </p:cNvSpPr>
          <p:nvPr/>
        </p:nvSpPr>
        <p:spPr>
          <a:xfrm>
            <a:off x="7162800" y="3038475"/>
            <a:ext cx="43434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D09A070-F1DA-4531-B52B-01E370B47387}"/>
              </a:ext>
            </a:extLst>
          </p:cNvPr>
          <p:cNvSpPr>
            <a:spLocks noGrp="1"/>
          </p:cNvSpPr>
          <p:nvPr/>
        </p:nvSpPr>
        <p:spPr>
          <a:xfrm>
            <a:off x="7258050" y="3114675"/>
            <a:ext cx="415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First meaningful action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40752C0-88C0-4990-8A0E-0A795EA49CAE}"/>
              </a:ext>
            </a:extLst>
          </p:cNvPr>
          <p:cNvSpPr>
            <a:spLocks noGrp="1"/>
          </p:cNvSpPr>
          <p:nvPr/>
        </p:nvSpPr>
        <p:spPr>
          <a:xfrm>
            <a:off x="685800" y="3590925"/>
            <a:ext cx="2286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209A8EA-336F-4990-8C39-0331855B6550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Retention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A41CE33-266A-459F-A1CB-12DFECAB3228}"/>
              </a:ext>
            </a:extLst>
          </p:cNvPr>
          <p:cNvSpPr>
            <a:spLocks noGrp="1"/>
          </p:cNvSpPr>
          <p:nvPr/>
        </p:nvSpPr>
        <p:spPr>
          <a:xfrm>
            <a:off x="2971800" y="3590925"/>
            <a:ext cx="4191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2421AA6-AB57-42A8-AF1D-C22EF81D7295}"/>
              </a:ext>
            </a:extLst>
          </p:cNvPr>
          <p:cNvSpPr>
            <a:spLocks noGrp="1"/>
          </p:cNvSpPr>
          <p:nvPr/>
        </p:nvSpPr>
        <p:spPr>
          <a:xfrm>
            <a:off x="3067050" y="3667125"/>
            <a:ext cx="400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Sustained usefulness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48CD4D6-09FC-4F21-B223-C3D84DCB4DC0}"/>
              </a:ext>
            </a:extLst>
          </p:cNvPr>
          <p:cNvSpPr>
            <a:spLocks noGrp="1"/>
          </p:cNvSpPr>
          <p:nvPr/>
        </p:nvSpPr>
        <p:spPr>
          <a:xfrm>
            <a:off x="7162800" y="3590925"/>
            <a:ext cx="43434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7478185-FB63-4054-87A1-9FB1EF7D502A}"/>
              </a:ext>
            </a:extLst>
          </p:cNvPr>
          <p:cNvSpPr>
            <a:spLocks noGrp="1"/>
          </p:cNvSpPr>
          <p:nvPr/>
        </p:nvSpPr>
        <p:spPr>
          <a:xfrm>
            <a:off x="7258050" y="3667125"/>
            <a:ext cx="415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D1/D7/D30 cohorts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EA554EC-F052-4CA0-921A-D6E1F0C33084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22860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5EB7B45-82D0-4860-ADAC-676641875FE5}"/>
              </a:ext>
            </a:extLst>
          </p:cNvPr>
          <p:cNvSpPr>
            <a:spLocks noGrp="1"/>
          </p:cNvSpPr>
          <p:nvPr/>
        </p:nvSpPr>
        <p:spPr>
          <a:xfrm>
            <a:off x="781050" y="4219575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CAC / channel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4D0A668-E495-4A01-A33A-3C310ED1E1E9}"/>
              </a:ext>
            </a:extLst>
          </p:cNvPr>
          <p:cNvSpPr>
            <a:spLocks noGrp="1"/>
          </p:cNvSpPr>
          <p:nvPr/>
        </p:nvSpPr>
        <p:spPr>
          <a:xfrm>
            <a:off x="2971800" y="4143375"/>
            <a:ext cx="41910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FF3CC9A-01CB-43B8-89CE-E980247BA3F1}"/>
              </a:ext>
            </a:extLst>
          </p:cNvPr>
          <p:cNvSpPr>
            <a:spLocks noGrp="1"/>
          </p:cNvSpPr>
          <p:nvPr/>
        </p:nvSpPr>
        <p:spPr>
          <a:xfrm>
            <a:off x="3067050" y="4219575"/>
            <a:ext cx="400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Efficiency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CFE3BA9-7592-477C-ABF9-A44FEAA89C2F}"/>
              </a:ext>
            </a:extLst>
          </p:cNvPr>
          <p:cNvSpPr>
            <a:spLocks noGrp="1"/>
          </p:cNvSpPr>
          <p:nvPr/>
        </p:nvSpPr>
        <p:spPr>
          <a:xfrm>
            <a:off x="7162800" y="4143375"/>
            <a:ext cx="43434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F23CA0B-0D64-49ED-BCA5-ACEFD8740A1F}"/>
              </a:ext>
            </a:extLst>
          </p:cNvPr>
          <p:cNvSpPr>
            <a:spLocks noGrp="1"/>
          </p:cNvSpPr>
          <p:nvPr/>
        </p:nvSpPr>
        <p:spPr>
          <a:xfrm>
            <a:off x="7258050" y="4219575"/>
            <a:ext cx="415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Paid versus organic quality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E5B984B-BCAA-49DF-AC4B-EE662F793D46}"/>
              </a:ext>
            </a:extLst>
          </p:cNvPr>
          <p:cNvSpPr>
            <a:spLocks noGrp="1"/>
          </p:cNvSpPr>
          <p:nvPr/>
        </p:nvSpPr>
        <p:spPr>
          <a:xfrm>
            <a:off x="685800" y="4695825"/>
            <a:ext cx="2286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78F3A49F-D94F-4C00-B1D3-1BA8B6F7B761}"/>
              </a:ext>
            </a:extLst>
          </p:cNvPr>
          <p:cNvSpPr>
            <a:spLocks noGrp="1"/>
          </p:cNvSpPr>
          <p:nvPr/>
        </p:nvSpPr>
        <p:spPr>
          <a:xfrm>
            <a:off x="781050" y="4772025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Referral / geo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791BE1C3-FCF1-4417-8F62-66E7B2C1BBB8}"/>
              </a:ext>
            </a:extLst>
          </p:cNvPr>
          <p:cNvSpPr>
            <a:spLocks noGrp="1"/>
          </p:cNvSpPr>
          <p:nvPr/>
        </p:nvSpPr>
        <p:spPr>
          <a:xfrm>
            <a:off x="2971800" y="4695825"/>
            <a:ext cx="4191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4A8FDE70-A24B-414A-B8DD-5A7E8157C2F1}"/>
              </a:ext>
            </a:extLst>
          </p:cNvPr>
          <p:cNvSpPr>
            <a:spLocks noGrp="1"/>
          </p:cNvSpPr>
          <p:nvPr/>
        </p:nvSpPr>
        <p:spPr>
          <a:xfrm>
            <a:off x="3067050" y="4772025"/>
            <a:ext cx="400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Source of movement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2B23344B-38FB-48F3-A9AC-CB8C9B652153}"/>
              </a:ext>
            </a:extLst>
          </p:cNvPr>
          <p:cNvSpPr>
            <a:spLocks noGrp="1"/>
          </p:cNvSpPr>
          <p:nvPr/>
        </p:nvSpPr>
        <p:spPr>
          <a:xfrm>
            <a:off x="7162800" y="4695825"/>
            <a:ext cx="43434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DB3AC1D1-BA1D-4527-B2CB-FA5C5ECFB369}"/>
              </a:ext>
            </a:extLst>
          </p:cNvPr>
          <p:cNvSpPr>
            <a:spLocks noGrp="1"/>
          </p:cNvSpPr>
          <p:nvPr/>
        </p:nvSpPr>
        <p:spPr>
          <a:xfrm>
            <a:off x="7258050" y="4772025"/>
            <a:ext cx="415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Fraud, localization, PR</a:t>
            </a: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65692C40-9604-480D-AE64-FCB3D64EBD4A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26143E41-A508-4E40-AC80-589375E3186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E2EE8328-986E-405D-A5CE-BAE91D18746D}"/>
              </a:ext>
            </a:extLst>
          </p:cNvPr>
          <p:cNvSpPr>
            <a:spLocks noGrp="1"/>
          </p:cNvSpPr>
          <p:nvPr/>
        </p:nvSpPr>
        <p:spPr>
          <a:xfrm>
            <a:off x="914400" y="58007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Volume metrics need quality companions, or growth can mask abuse.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FD46846C-054D-4CBB-B0B9-6EED9324CB5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E38E3B22-17CF-4E10-8812-52E91F849BE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C8668A54-60B2-4D06-8438-DD12779E71C0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212511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Рисунок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F9B340F-B395-4E79-AF52-C07B5CE41B5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E452B51-650A-4581-A4D3-561E3DB1C346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CB99CA4-05E5-4226-9EF5-AF678F3DE9BC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37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2B81F60-0CB7-413D-8D78-33153BEF42DD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Production architecture turns notebook logic into governed detection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FF4AE48-A172-49CC-A144-A60185F542F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6922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41941F-2332-448E-A573-E80F7EC06B38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1463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Applications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B6819E-B96F-4B52-BC97-580DE3843259}"/>
              </a:ext>
            </a:extLst>
          </p:cNvPr>
          <p:cNvSpPr>
            <a:spLocks noGrp="1"/>
          </p:cNvSpPr>
          <p:nvPr/>
        </p:nvSpPr>
        <p:spPr>
          <a:xfrm>
            <a:off x="2397125" y="1733550"/>
            <a:ext cx="9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7D35C29-FEF2-449B-B890-CB93B1854BB5}"/>
              </a:ext>
            </a:extLst>
          </p:cNvPr>
          <p:cNvSpPr>
            <a:spLocks noGrp="1"/>
          </p:cNvSpPr>
          <p:nvPr/>
        </p:nvSpPr>
        <p:spPr>
          <a:xfrm>
            <a:off x="2511425" y="1524000"/>
            <a:ext cx="16922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57614E6-81EA-4678-90E0-DC6B7E24E549}"/>
              </a:ext>
            </a:extLst>
          </p:cNvPr>
          <p:cNvSpPr>
            <a:spLocks noGrp="1"/>
          </p:cNvSpPr>
          <p:nvPr/>
        </p:nvSpPr>
        <p:spPr>
          <a:xfrm>
            <a:off x="2625725" y="1695450"/>
            <a:ext cx="1463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Kafka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EE92132-B726-4A29-A67E-F03CC37B2D0E}"/>
              </a:ext>
            </a:extLst>
          </p:cNvPr>
          <p:cNvSpPr>
            <a:spLocks noGrp="1"/>
          </p:cNvSpPr>
          <p:nvPr/>
        </p:nvSpPr>
        <p:spPr>
          <a:xfrm>
            <a:off x="4222750" y="1733550"/>
            <a:ext cx="9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7D4DB54-5701-4A10-A929-AB258BDE9C3B}"/>
              </a:ext>
            </a:extLst>
          </p:cNvPr>
          <p:cNvSpPr>
            <a:spLocks noGrp="1"/>
          </p:cNvSpPr>
          <p:nvPr/>
        </p:nvSpPr>
        <p:spPr>
          <a:xfrm>
            <a:off x="4337050" y="1524000"/>
            <a:ext cx="16922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AD5D967-03FA-4216-BB3E-D8D813C4CD85}"/>
              </a:ext>
            </a:extLst>
          </p:cNvPr>
          <p:cNvSpPr>
            <a:spLocks noGrp="1"/>
          </p:cNvSpPr>
          <p:nvPr/>
        </p:nvSpPr>
        <p:spPr>
          <a:xfrm>
            <a:off x="4451350" y="1695450"/>
            <a:ext cx="1463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Validation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2279402-C2CE-4B6F-8BE2-83B3BA9684D0}"/>
              </a:ext>
            </a:extLst>
          </p:cNvPr>
          <p:cNvSpPr>
            <a:spLocks noGrp="1"/>
          </p:cNvSpPr>
          <p:nvPr/>
        </p:nvSpPr>
        <p:spPr>
          <a:xfrm>
            <a:off x="6048375" y="1733550"/>
            <a:ext cx="9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0C731D0-C6B8-4455-8F03-A803A059AE58}"/>
              </a:ext>
            </a:extLst>
          </p:cNvPr>
          <p:cNvSpPr>
            <a:spLocks noGrp="1"/>
          </p:cNvSpPr>
          <p:nvPr/>
        </p:nvSpPr>
        <p:spPr>
          <a:xfrm>
            <a:off x="6162675" y="1524000"/>
            <a:ext cx="16922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C8C2DB1-712F-4BB5-9D0D-411EBFCCA1B8}"/>
              </a:ext>
            </a:extLst>
          </p:cNvPr>
          <p:cNvSpPr>
            <a:spLocks noGrp="1"/>
          </p:cNvSpPr>
          <p:nvPr/>
        </p:nvSpPr>
        <p:spPr>
          <a:xfrm>
            <a:off x="6276975" y="1695450"/>
            <a:ext cx="1463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Streaming ETL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C37A656-83B4-435B-A442-699A5B0DC4BD}"/>
              </a:ext>
            </a:extLst>
          </p:cNvPr>
          <p:cNvSpPr>
            <a:spLocks noGrp="1"/>
          </p:cNvSpPr>
          <p:nvPr/>
        </p:nvSpPr>
        <p:spPr>
          <a:xfrm>
            <a:off x="7874000" y="1733550"/>
            <a:ext cx="9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590328E-516C-4B0E-8D65-DAC77343CC14}"/>
              </a:ext>
            </a:extLst>
          </p:cNvPr>
          <p:cNvSpPr>
            <a:spLocks noGrp="1"/>
          </p:cNvSpPr>
          <p:nvPr/>
        </p:nvSpPr>
        <p:spPr>
          <a:xfrm>
            <a:off x="7988300" y="1524000"/>
            <a:ext cx="16922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FF2FDE9-27CE-4FF8-B766-4B365E2C67AE}"/>
              </a:ext>
            </a:extLst>
          </p:cNvPr>
          <p:cNvSpPr>
            <a:spLocks noGrp="1"/>
          </p:cNvSpPr>
          <p:nvPr/>
        </p:nvSpPr>
        <p:spPr>
          <a:xfrm>
            <a:off x="8102600" y="1695450"/>
            <a:ext cx="1463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Feature Store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956F0F4-5446-45F8-8F76-32E073BB79B6}"/>
              </a:ext>
            </a:extLst>
          </p:cNvPr>
          <p:cNvSpPr>
            <a:spLocks noGrp="1"/>
          </p:cNvSpPr>
          <p:nvPr/>
        </p:nvSpPr>
        <p:spPr>
          <a:xfrm>
            <a:off x="9699625" y="1733550"/>
            <a:ext cx="9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E9CCCFC7-4E15-488D-BBB8-B73457FDF4F6}"/>
              </a:ext>
            </a:extLst>
          </p:cNvPr>
          <p:cNvSpPr>
            <a:spLocks noGrp="1"/>
          </p:cNvSpPr>
          <p:nvPr/>
        </p:nvSpPr>
        <p:spPr>
          <a:xfrm>
            <a:off x="9813925" y="1524000"/>
            <a:ext cx="16922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D593314-8771-4EA7-9EA2-7AAC899AEA78}"/>
              </a:ext>
            </a:extLst>
          </p:cNvPr>
          <p:cNvSpPr>
            <a:spLocks noGrp="1"/>
          </p:cNvSpPr>
          <p:nvPr/>
        </p:nvSpPr>
        <p:spPr>
          <a:xfrm>
            <a:off x="9928225" y="1695450"/>
            <a:ext cx="1463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Risk Scoring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FFEEF923-3653-418F-9A22-7E03F44B8BAE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6922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1D70357-BB45-40CE-9B74-7BFE225DFBE2}"/>
              </a:ext>
            </a:extLst>
          </p:cNvPr>
          <p:cNvSpPr>
            <a:spLocks noGrp="1"/>
          </p:cNvSpPr>
          <p:nvPr/>
        </p:nvSpPr>
        <p:spPr>
          <a:xfrm>
            <a:off x="800100" y="2838450"/>
            <a:ext cx="1463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Rules Engine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4E49C73-FF1E-490C-A77E-BEFDFC1CA55A}"/>
              </a:ext>
            </a:extLst>
          </p:cNvPr>
          <p:cNvSpPr>
            <a:spLocks noGrp="1"/>
          </p:cNvSpPr>
          <p:nvPr/>
        </p:nvSpPr>
        <p:spPr>
          <a:xfrm>
            <a:off x="2397125" y="2876550"/>
            <a:ext cx="9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1EBCA2A-C60C-4109-9C5C-9C31332443E9}"/>
              </a:ext>
            </a:extLst>
          </p:cNvPr>
          <p:cNvSpPr>
            <a:spLocks noGrp="1"/>
          </p:cNvSpPr>
          <p:nvPr/>
        </p:nvSpPr>
        <p:spPr>
          <a:xfrm>
            <a:off x="2511425" y="2667000"/>
            <a:ext cx="16922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C9B742D-CF8D-465C-9788-BBD7BBF7E5B6}"/>
              </a:ext>
            </a:extLst>
          </p:cNvPr>
          <p:cNvSpPr>
            <a:spLocks noGrp="1"/>
          </p:cNvSpPr>
          <p:nvPr/>
        </p:nvSpPr>
        <p:spPr>
          <a:xfrm>
            <a:off x="2625725" y="2838450"/>
            <a:ext cx="1463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SIEM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BC150E-CEEF-4A2D-93A7-1C73F646BBD4}"/>
              </a:ext>
            </a:extLst>
          </p:cNvPr>
          <p:cNvSpPr>
            <a:spLocks noGrp="1"/>
          </p:cNvSpPr>
          <p:nvPr/>
        </p:nvSpPr>
        <p:spPr>
          <a:xfrm>
            <a:off x="4222750" y="2876550"/>
            <a:ext cx="9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E657247C-BFB3-4819-BA65-5A9129D70FD1}"/>
              </a:ext>
            </a:extLst>
          </p:cNvPr>
          <p:cNvSpPr>
            <a:spLocks noGrp="1"/>
          </p:cNvSpPr>
          <p:nvPr/>
        </p:nvSpPr>
        <p:spPr>
          <a:xfrm>
            <a:off x="4337050" y="2667000"/>
            <a:ext cx="16922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F7FD26A-A2AB-4911-BE52-555307CA7B4B}"/>
              </a:ext>
            </a:extLst>
          </p:cNvPr>
          <p:cNvSpPr>
            <a:spLocks noGrp="1"/>
          </p:cNvSpPr>
          <p:nvPr/>
        </p:nvSpPr>
        <p:spPr>
          <a:xfrm>
            <a:off x="4451350" y="2838450"/>
            <a:ext cx="1463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SOAR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BA8D43B-A405-47AD-B1B3-6C6D5E398517}"/>
              </a:ext>
            </a:extLst>
          </p:cNvPr>
          <p:cNvSpPr>
            <a:spLocks noGrp="1"/>
          </p:cNvSpPr>
          <p:nvPr/>
        </p:nvSpPr>
        <p:spPr>
          <a:xfrm>
            <a:off x="6048375" y="2876550"/>
            <a:ext cx="9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7335B954-8046-474A-B580-003527DC5DBB}"/>
              </a:ext>
            </a:extLst>
          </p:cNvPr>
          <p:cNvSpPr>
            <a:spLocks noGrp="1"/>
          </p:cNvSpPr>
          <p:nvPr/>
        </p:nvSpPr>
        <p:spPr>
          <a:xfrm>
            <a:off x="6162675" y="2667000"/>
            <a:ext cx="16922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55294B4-9C3A-4E0C-AC6B-3730395BFEB8}"/>
              </a:ext>
            </a:extLst>
          </p:cNvPr>
          <p:cNvSpPr>
            <a:spLocks noGrp="1"/>
          </p:cNvSpPr>
          <p:nvPr/>
        </p:nvSpPr>
        <p:spPr>
          <a:xfrm>
            <a:off x="6276975" y="2838450"/>
            <a:ext cx="1463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SOC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BED6A76-0F9C-43AD-B299-73EF35B2F4A1}"/>
              </a:ext>
            </a:extLst>
          </p:cNvPr>
          <p:cNvSpPr>
            <a:spLocks noGrp="1"/>
          </p:cNvSpPr>
          <p:nvPr/>
        </p:nvSpPr>
        <p:spPr>
          <a:xfrm>
            <a:off x="7874000" y="2876550"/>
            <a:ext cx="9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8300CABF-890F-4AE5-A1B3-707B7049A076}"/>
              </a:ext>
            </a:extLst>
          </p:cNvPr>
          <p:cNvSpPr>
            <a:spLocks noGrp="1"/>
          </p:cNvSpPr>
          <p:nvPr/>
        </p:nvSpPr>
        <p:spPr>
          <a:xfrm>
            <a:off x="7988300" y="2667000"/>
            <a:ext cx="16922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1F7B71C-5E6D-4FED-B7A4-7A9C7EB0E5B7}"/>
              </a:ext>
            </a:extLst>
          </p:cNvPr>
          <p:cNvSpPr>
            <a:spLocks noGrp="1"/>
          </p:cNvSpPr>
          <p:nvPr/>
        </p:nvSpPr>
        <p:spPr>
          <a:xfrm>
            <a:off x="8102600" y="2838450"/>
            <a:ext cx="1463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Feedback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93040CE-96F2-47DE-BED5-D7159FD4796D}"/>
              </a:ext>
            </a:extLst>
          </p:cNvPr>
          <p:cNvSpPr>
            <a:spLocks noGrp="1"/>
          </p:cNvSpPr>
          <p:nvPr/>
        </p:nvSpPr>
        <p:spPr>
          <a:xfrm>
            <a:off x="9699625" y="2876550"/>
            <a:ext cx="9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B0C0582F-4F0D-49C8-8860-4AEAA778549C}"/>
              </a:ext>
            </a:extLst>
          </p:cNvPr>
          <p:cNvSpPr>
            <a:spLocks noGrp="1"/>
          </p:cNvSpPr>
          <p:nvPr/>
        </p:nvSpPr>
        <p:spPr>
          <a:xfrm>
            <a:off x="9813925" y="2667000"/>
            <a:ext cx="16922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E27D1E1-63AF-4EE0-AEC6-3882219E4F68}"/>
              </a:ext>
            </a:extLst>
          </p:cNvPr>
          <p:cNvSpPr>
            <a:spLocks noGrp="1"/>
          </p:cNvSpPr>
          <p:nvPr/>
        </p:nvSpPr>
        <p:spPr>
          <a:xfrm>
            <a:off x="9928225" y="2838450"/>
            <a:ext cx="1463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Model Retraining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E10D5259-F574-44F4-B030-47A29425E2C9}"/>
              </a:ext>
            </a:extLst>
          </p:cNvPr>
          <p:cNvSpPr>
            <a:spLocks noGrp="1"/>
          </p:cNvSpPr>
          <p:nvPr/>
        </p:nvSpPr>
        <p:spPr>
          <a:xfrm>
            <a:off x="1257300" y="4000500"/>
            <a:ext cx="895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Design principles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9F006F22-94D5-4132-B79E-FD5E3AD5CB53}"/>
              </a:ext>
            </a:extLst>
          </p:cNvPr>
          <p:cNvSpPr>
            <a:spLocks noGrp="1"/>
          </p:cNvSpPr>
          <p:nvPr/>
        </p:nvSpPr>
        <p:spPr>
          <a:xfrm>
            <a:off x="1257300" y="4400550"/>
            <a:ext cx="8953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Validation prevents bad labels, missing IPs, and duplicate events from becoming false alerts.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Feature Store keeps notebook, batch, and streaming definitions consistent.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Rules Engine makes the first detection layer explainable before ML is added.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SOC feedback feeds threshold tuning today and model retraining later.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7616898-E3E9-4AF0-B355-2A27D6923CC1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564A90A5-753D-4822-8A0A-7C07FAF43C8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89F05BBD-8BFE-4094-9DF6-4F3AAEFBF134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219459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C7A109-CC35-4129-8C9B-F0660F98FE9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D1CFD4B-494C-44E3-9C69-1B28843C56A2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D4D2C8-B761-4F65-B5B8-6A78BBC46841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38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BFA2CD-8DFB-4967-AEA6-790DA8DB1188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Production monitoring must cover the detector, not just the data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E9588D-92B0-4EB4-9ED2-85E74F0305D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238125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ED0C540-D5FE-4155-B874-ECB99D81525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D4C8842-A3AF-43AD-AA0A-F6E4E8D5175F}"/>
              </a:ext>
            </a:extLst>
          </p:cNvPr>
          <p:cNvSpPr>
            <a:spLocks noGrp="1"/>
          </p:cNvSpPr>
          <p:nvPr/>
        </p:nvSpPr>
        <p:spPr>
          <a:xfrm>
            <a:off x="3067050" y="1381125"/>
            <a:ext cx="447675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2337D9F-EAD5-43B9-9AAC-96FEA46B62F2}"/>
              </a:ext>
            </a:extLst>
          </p:cNvPr>
          <p:cNvSpPr>
            <a:spLocks noGrp="1"/>
          </p:cNvSpPr>
          <p:nvPr/>
        </p:nvSpPr>
        <p:spPr>
          <a:xfrm>
            <a:off x="3162300" y="1466850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Failure mode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B588082-2401-4176-9306-0FB3E476540A}"/>
              </a:ext>
            </a:extLst>
          </p:cNvPr>
          <p:cNvSpPr>
            <a:spLocks noGrp="1"/>
          </p:cNvSpPr>
          <p:nvPr/>
        </p:nvSpPr>
        <p:spPr>
          <a:xfrm>
            <a:off x="7543800" y="1381125"/>
            <a:ext cx="396240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05217FC-3F4A-4A59-AF0A-CB98C15FD7CA}"/>
              </a:ext>
            </a:extLst>
          </p:cNvPr>
          <p:cNvSpPr>
            <a:spLocks noGrp="1"/>
          </p:cNvSpPr>
          <p:nvPr/>
        </p:nvSpPr>
        <p:spPr>
          <a:xfrm>
            <a:off x="7639050" y="14668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9C507CE-7F68-4500-B47C-08FFA77804AE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23812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E9B82C7-FFA5-471E-9DF3-4F06F89C3AEE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Data quality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AEC5D5A-22F1-4A1D-9C41-7A0789516B39}"/>
              </a:ext>
            </a:extLst>
          </p:cNvPr>
          <p:cNvSpPr>
            <a:spLocks noGrp="1"/>
          </p:cNvSpPr>
          <p:nvPr/>
        </p:nvSpPr>
        <p:spPr>
          <a:xfrm>
            <a:off x="3067050" y="1933575"/>
            <a:ext cx="44767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EBA7525-A48A-4690-BF82-38A4AF6CC53F}"/>
              </a:ext>
            </a:extLst>
          </p:cNvPr>
          <p:cNvSpPr>
            <a:spLocks noGrp="1"/>
          </p:cNvSpPr>
          <p:nvPr/>
        </p:nvSpPr>
        <p:spPr>
          <a:xfrm>
            <a:off x="3162300" y="2009775"/>
            <a:ext cx="428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Missing IP, bad labels, duplicates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6692032-8B1E-4655-BC6A-7915AAF3454D}"/>
              </a:ext>
            </a:extLst>
          </p:cNvPr>
          <p:cNvSpPr>
            <a:spLocks noGrp="1"/>
          </p:cNvSpPr>
          <p:nvPr/>
        </p:nvSpPr>
        <p:spPr>
          <a:xfrm>
            <a:off x="7543800" y="1933575"/>
            <a:ext cx="39624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93DE8C2-FD09-4C5E-A43E-0375DE197A4D}"/>
              </a:ext>
            </a:extLst>
          </p:cNvPr>
          <p:cNvSpPr>
            <a:spLocks noGrp="1"/>
          </p:cNvSpPr>
          <p:nvPr/>
        </p:nvSpPr>
        <p:spPr>
          <a:xfrm>
            <a:off x="7639050" y="2009775"/>
            <a:ext cx="3771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Block deployment or quarantine events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76B5191-F5C4-4342-9C00-13C26AB2A9EE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D549FA5-7743-4EAE-9FDC-E92A2E87672B}"/>
              </a:ext>
            </a:extLst>
          </p:cNvPr>
          <p:cNvSpPr>
            <a:spLocks noGrp="1"/>
          </p:cNvSpPr>
          <p:nvPr/>
        </p:nvSpPr>
        <p:spPr>
          <a:xfrm>
            <a:off x="781050" y="2562225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Latency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FBE6710-7F91-44CA-854B-1B2145E3B1A9}"/>
              </a:ext>
            </a:extLst>
          </p:cNvPr>
          <p:cNvSpPr>
            <a:spLocks noGrp="1"/>
          </p:cNvSpPr>
          <p:nvPr/>
        </p:nvSpPr>
        <p:spPr>
          <a:xfrm>
            <a:off x="3067050" y="2486025"/>
            <a:ext cx="4476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CF1D7D8-48FA-4A23-8D9E-44FCA6B02C71}"/>
              </a:ext>
            </a:extLst>
          </p:cNvPr>
          <p:cNvSpPr>
            <a:spLocks noGrp="1"/>
          </p:cNvSpPr>
          <p:nvPr/>
        </p:nvSpPr>
        <p:spPr>
          <a:xfrm>
            <a:off x="3162300" y="2562225"/>
            <a:ext cx="428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Alerts arrive too late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F1AB33C-1A3A-45E9-9828-7D77420F872A}"/>
              </a:ext>
            </a:extLst>
          </p:cNvPr>
          <p:cNvSpPr>
            <a:spLocks noGrp="1"/>
          </p:cNvSpPr>
          <p:nvPr/>
        </p:nvSpPr>
        <p:spPr>
          <a:xfrm>
            <a:off x="7543800" y="2486025"/>
            <a:ext cx="39624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2010F71-065F-4A78-A976-B91691295AD7}"/>
              </a:ext>
            </a:extLst>
          </p:cNvPr>
          <p:cNvSpPr>
            <a:spLocks noGrp="1"/>
          </p:cNvSpPr>
          <p:nvPr/>
        </p:nvSpPr>
        <p:spPr>
          <a:xfrm>
            <a:off x="7639050" y="2562225"/>
            <a:ext cx="3771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Scale streaming path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37673AB-1E20-4F91-8CD6-CFD6365F25CC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23812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61852DB-9F75-4135-B32A-5CBF459FD8CD}"/>
              </a:ext>
            </a:extLst>
          </p:cNvPr>
          <p:cNvSpPr>
            <a:spLocks noGrp="1"/>
          </p:cNvSpPr>
          <p:nvPr/>
        </p:nvSpPr>
        <p:spPr>
          <a:xfrm>
            <a:off x="781050" y="3114675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Schema drift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22AC18A-7132-4A21-A0AE-70497D1602D5}"/>
              </a:ext>
            </a:extLst>
          </p:cNvPr>
          <p:cNvSpPr>
            <a:spLocks noGrp="1"/>
          </p:cNvSpPr>
          <p:nvPr/>
        </p:nvSpPr>
        <p:spPr>
          <a:xfrm>
            <a:off x="3067050" y="3038475"/>
            <a:ext cx="44767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F385F72-A2EF-4825-9C48-F47A6775782E}"/>
              </a:ext>
            </a:extLst>
          </p:cNvPr>
          <p:cNvSpPr>
            <a:spLocks noGrp="1"/>
          </p:cNvSpPr>
          <p:nvPr/>
        </p:nvSpPr>
        <p:spPr>
          <a:xfrm>
            <a:off x="3162300" y="3114675"/>
            <a:ext cx="428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Fields change silently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C86BC99-041A-44FF-809B-EC386FD2CC90}"/>
              </a:ext>
            </a:extLst>
          </p:cNvPr>
          <p:cNvSpPr>
            <a:spLocks noGrp="1"/>
          </p:cNvSpPr>
          <p:nvPr/>
        </p:nvSpPr>
        <p:spPr>
          <a:xfrm>
            <a:off x="7543800" y="3038475"/>
            <a:ext cx="39624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EA8E224-89DD-4784-B356-12C85F5DA0FF}"/>
              </a:ext>
            </a:extLst>
          </p:cNvPr>
          <p:cNvSpPr>
            <a:spLocks noGrp="1"/>
          </p:cNvSpPr>
          <p:nvPr/>
        </p:nvSpPr>
        <p:spPr>
          <a:xfrm>
            <a:off x="7639050" y="3114675"/>
            <a:ext cx="3771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Contract tests and alerts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AF6555B-1CB3-4FA6-9D08-691189BA01FE}"/>
              </a:ext>
            </a:extLst>
          </p:cNvPr>
          <p:cNvSpPr>
            <a:spLocks noGrp="1"/>
          </p:cNvSpPr>
          <p:nvPr/>
        </p:nvSpPr>
        <p:spPr>
          <a:xfrm>
            <a:off x="685800" y="3590925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97EB477-1531-46DA-A277-967683CDBB33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Concept drift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C811D73-29DC-47B9-8424-BD2D6410D648}"/>
              </a:ext>
            </a:extLst>
          </p:cNvPr>
          <p:cNvSpPr>
            <a:spLocks noGrp="1"/>
          </p:cNvSpPr>
          <p:nvPr/>
        </p:nvSpPr>
        <p:spPr>
          <a:xfrm>
            <a:off x="3067050" y="3590925"/>
            <a:ext cx="4476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3A49B6A-C80B-4BFF-A480-4068480065B4}"/>
              </a:ext>
            </a:extLst>
          </p:cNvPr>
          <p:cNvSpPr>
            <a:spLocks noGrp="1"/>
          </p:cNvSpPr>
          <p:nvPr/>
        </p:nvSpPr>
        <p:spPr>
          <a:xfrm>
            <a:off x="3162300" y="3667125"/>
            <a:ext cx="428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Normal behavior changes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B8D958F7-2FA9-4101-8412-F7FE076A3D2E}"/>
              </a:ext>
            </a:extLst>
          </p:cNvPr>
          <p:cNvSpPr>
            <a:spLocks noGrp="1"/>
          </p:cNvSpPr>
          <p:nvPr/>
        </p:nvSpPr>
        <p:spPr>
          <a:xfrm>
            <a:off x="7543800" y="3590925"/>
            <a:ext cx="39624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767F395-DA09-4183-91FC-F94C10BD9213}"/>
              </a:ext>
            </a:extLst>
          </p:cNvPr>
          <p:cNvSpPr>
            <a:spLocks noGrp="1"/>
          </p:cNvSpPr>
          <p:nvPr/>
        </p:nvSpPr>
        <p:spPr>
          <a:xfrm>
            <a:off x="7639050" y="3667125"/>
            <a:ext cx="3771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Recalibrate thresholds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D974F77-E594-4ECB-BEE6-7328AC07EA46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23812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831207C-2823-4F80-9C59-39B5A8CABCEA}"/>
              </a:ext>
            </a:extLst>
          </p:cNvPr>
          <p:cNvSpPr>
            <a:spLocks noGrp="1"/>
          </p:cNvSpPr>
          <p:nvPr/>
        </p:nvSpPr>
        <p:spPr>
          <a:xfrm>
            <a:off x="781050" y="4219575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Alert fatigue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3FCE2743-6A90-4D1C-9EA1-77B7F2638B45}"/>
              </a:ext>
            </a:extLst>
          </p:cNvPr>
          <p:cNvSpPr>
            <a:spLocks noGrp="1"/>
          </p:cNvSpPr>
          <p:nvPr/>
        </p:nvSpPr>
        <p:spPr>
          <a:xfrm>
            <a:off x="3067050" y="4143375"/>
            <a:ext cx="44767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04B8944-B9F9-401E-8DCC-E6C0A29F24FD}"/>
              </a:ext>
            </a:extLst>
          </p:cNvPr>
          <p:cNvSpPr>
            <a:spLocks noGrp="1"/>
          </p:cNvSpPr>
          <p:nvPr/>
        </p:nvSpPr>
        <p:spPr>
          <a:xfrm>
            <a:off x="3162300" y="4219575"/>
            <a:ext cx="428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Too many low-value alerts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E65D766B-B98E-4663-9358-D2BD1B588844}"/>
              </a:ext>
            </a:extLst>
          </p:cNvPr>
          <p:cNvSpPr>
            <a:spLocks noGrp="1"/>
          </p:cNvSpPr>
          <p:nvPr/>
        </p:nvSpPr>
        <p:spPr>
          <a:xfrm>
            <a:off x="7543800" y="4143375"/>
            <a:ext cx="396240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61A4F6AF-99B0-4EA6-B5E9-9FD2F14A6C61}"/>
              </a:ext>
            </a:extLst>
          </p:cNvPr>
          <p:cNvSpPr>
            <a:spLocks noGrp="1"/>
          </p:cNvSpPr>
          <p:nvPr/>
        </p:nvSpPr>
        <p:spPr>
          <a:xfrm>
            <a:off x="7639050" y="4219575"/>
            <a:ext cx="3771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Track precision and close reasons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0383D697-C499-4402-80E7-E3402FA19245}"/>
              </a:ext>
            </a:extLst>
          </p:cNvPr>
          <p:cNvSpPr>
            <a:spLocks noGrp="1"/>
          </p:cNvSpPr>
          <p:nvPr/>
        </p:nvSpPr>
        <p:spPr>
          <a:xfrm>
            <a:off x="685800" y="4695825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6B940FE-D65C-4970-8C0E-E77642DD12D4}"/>
              </a:ext>
            </a:extLst>
          </p:cNvPr>
          <p:cNvSpPr>
            <a:spLocks noGrp="1"/>
          </p:cNvSpPr>
          <p:nvPr/>
        </p:nvSpPr>
        <p:spPr>
          <a:xfrm>
            <a:off x="781050" y="4772025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Pipeline failures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73FBAE7-5F40-4474-AAFA-68F64D29404A}"/>
              </a:ext>
            </a:extLst>
          </p:cNvPr>
          <p:cNvSpPr>
            <a:spLocks noGrp="1"/>
          </p:cNvSpPr>
          <p:nvPr/>
        </p:nvSpPr>
        <p:spPr>
          <a:xfrm>
            <a:off x="3067050" y="4695825"/>
            <a:ext cx="4476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07E13E32-FB7B-4DAB-9C60-641D493A8A58}"/>
              </a:ext>
            </a:extLst>
          </p:cNvPr>
          <p:cNvSpPr>
            <a:spLocks noGrp="1"/>
          </p:cNvSpPr>
          <p:nvPr/>
        </p:nvSpPr>
        <p:spPr>
          <a:xfrm>
            <a:off x="3162300" y="4772025"/>
            <a:ext cx="428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Gaps in coverage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373026F8-9C2D-4F0F-A458-5478D056C13B}"/>
              </a:ext>
            </a:extLst>
          </p:cNvPr>
          <p:cNvSpPr>
            <a:spLocks noGrp="1"/>
          </p:cNvSpPr>
          <p:nvPr/>
        </p:nvSpPr>
        <p:spPr>
          <a:xfrm>
            <a:off x="7543800" y="4695825"/>
            <a:ext cx="39624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22D0BB9E-AB13-4E63-97C6-4C61FE68406B}"/>
              </a:ext>
            </a:extLst>
          </p:cNvPr>
          <p:cNvSpPr>
            <a:spLocks noGrp="1"/>
          </p:cNvSpPr>
          <p:nvPr/>
        </p:nvSpPr>
        <p:spPr>
          <a:xfrm>
            <a:off x="7639050" y="4772025"/>
            <a:ext cx="3771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SLOs and replay capability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00F8FF16-0795-44B6-8F16-F5456D5F3818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70D541FC-605E-4AA3-AFED-476127056B5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B79E1EC5-29BE-43CE-A5C5-B1E721DB82B3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95614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01B5490-8E36-4A8C-8B6B-304B29E4342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268FFD4-4A91-49A7-A874-AA8A48AED2ED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345F24F-B47D-4A60-8C6B-9B452226524B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39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28FD600-3280-4133-89BC-CDFCEF7FA37F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 one-month build should enrich context before adding complex ML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F618703-94A0-453D-A966-56B0F6A898F1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22561AE-6E9A-4C7B-8EAB-8340BC08E318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Behavioral profiles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CC8A910-7980-4699-BF60-804EF4135983}"/>
              </a:ext>
            </a:extLst>
          </p:cNvPr>
          <p:cNvSpPr>
            <a:spLocks noGrp="1"/>
          </p:cNvSpPr>
          <p:nvPr/>
        </p:nvSpPr>
        <p:spPr>
          <a:xfrm>
            <a:off x="2731770" y="18478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5FD7D30-7299-4497-B69B-2E7A50B0E98E}"/>
              </a:ext>
            </a:extLst>
          </p:cNvPr>
          <p:cNvSpPr>
            <a:spLocks noGrp="1"/>
          </p:cNvSpPr>
          <p:nvPr/>
        </p:nvSpPr>
        <p:spPr>
          <a:xfrm>
            <a:off x="2884170" y="1638300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CECAB2A-D527-4D87-A577-0991B5EFB056}"/>
              </a:ext>
            </a:extLst>
          </p:cNvPr>
          <p:cNvSpPr>
            <a:spLocks noGrp="1"/>
          </p:cNvSpPr>
          <p:nvPr/>
        </p:nvSpPr>
        <p:spPr>
          <a:xfrm>
            <a:off x="2998470" y="1809750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Geo / ASN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2B73410-819D-4A53-A072-5E91A4F6D30B}"/>
              </a:ext>
            </a:extLst>
          </p:cNvPr>
          <p:cNvSpPr>
            <a:spLocks noGrp="1"/>
          </p:cNvSpPr>
          <p:nvPr/>
        </p:nvSpPr>
        <p:spPr>
          <a:xfrm>
            <a:off x="4930140" y="18478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1144A39-C5C2-464A-912E-7E5C13C4E609}"/>
              </a:ext>
            </a:extLst>
          </p:cNvPr>
          <p:cNvSpPr>
            <a:spLocks noGrp="1"/>
          </p:cNvSpPr>
          <p:nvPr/>
        </p:nvSpPr>
        <p:spPr>
          <a:xfrm>
            <a:off x="5082540" y="1638300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36BC96B-9673-4D92-9227-C4362CB6A528}"/>
              </a:ext>
            </a:extLst>
          </p:cNvPr>
          <p:cNvSpPr>
            <a:spLocks noGrp="1"/>
          </p:cNvSpPr>
          <p:nvPr/>
        </p:nvSpPr>
        <p:spPr>
          <a:xfrm>
            <a:off x="5196840" y="1809750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Device fingerprint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5C83A5-F18F-4EEB-9695-416377607D80}"/>
              </a:ext>
            </a:extLst>
          </p:cNvPr>
          <p:cNvSpPr>
            <a:spLocks noGrp="1"/>
          </p:cNvSpPr>
          <p:nvPr/>
        </p:nvSpPr>
        <p:spPr>
          <a:xfrm>
            <a:off x="7128510" y="18478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6F71DA6-34C3-4E90-8BB5-CE2FB634ECB7}"/>
              </a:ext>
            </a:extLst>
          </p:cNvPr>
          <p:cNvSpPr>
            <a:spLocks noGrp="1"/>
          </p:cNvSpPr>
          <p:nvPr/>
        </p:nvSpPr>
        <p:spPr>
          <a:xfrm>
            <a:off x="7280910" y="1638300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0DFD4AA-A537-4DC9-9038-2D99DED4FF08}"/>
              </a:ext>
            </a:extLst>
          </p:cNvPr>
          <p:cNvSpPr>
            <a:spLocks noGrp="1"/>
          </p:cNvSpPr>
          <p:nvPr/>
        </p:nvSpPr>
        <p:spPr>
          <a:xfrm>
            <a:off x="7395210" y="1809750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Risk scoring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BC55F75-6216-45F4-B3AB-DDFAFB2539E0}"/>
              </a:ext>
            </a:extLst>
          </p:cNvPr>
          <p:cNvSpPr>
            <a:spLocks noGrp="1"/>
          </p:cNvSpPr>
          <p:nvPr/>
        </p:nvSpPr>
        <p:spPr>
          <a:xfrm>
            <a:off x="9326880" y="18478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497B030-7FF5-4C9D-B460-AE4410FC84CC}"/>
              </a:ext>
            </a:extLst>
          </p:cNvPr>
          <p:cNvSpPr>
            <a:spLocks noGrp="1"/>
          </p:cNvSpPr>
          <p:nvPr/>
        </p:nvSpPr>
        <p:spPr>
          <a:xfrm>
            <a:off x="9479280" y="1638300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EA9D16D-8CEE-4EAE-9309-418F9C3A4308}"/>
              </a:ext>
            </a:extLst>
          </p:cNvPr>
          <p:cNvSpPr>
            <a:spLocks noGrp="1"/>
          </p:cNvSpPr>
          <p:nvPr/>
        </p:nvSpPr>
        <p:spPr>
          <a:xfrm>
            <a:off x="9593580" y="1809750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Streaming detection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763DBC0A-947E-4558-A427-B0AE2D135339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96F0666-DB02-4D29-B0BE-2296575A5CBB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Isolation Forest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1CD9A16-74EF-4091-A4FC-CC9C9B22C1CB}"/>
              </a:ext>
            </a:extLst>
          </p:cNvPr>
          <p:cNvSpPr>
            <a:spLocks noGrp="1"/>
          </p:cNvSpPr>
          <p:nvPr/>
        </p:nvSpPr>
        <p:spPr>
          <a:xfrm>
            <a:off x="2731770" y="31051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746C8579-50C5-4193-83E2-60E5DB8FD269}"/>
              </a:ext>
            </a:extLst>
          </p:cNvPr>
          <p:cNvSpPr>
            <a:spLocks noGrp="1"/>
          </p:cNvSpPr>
          <p:nvPr/>
        </p:nvSpPr>
        <p:spPr>
          <a:xfrm>
            <a:off x="2884170" y="2895600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7436184-9D7A-475A-8E00-088E0A92DAD2}"/>
              </a:ext>
            </a:extLst>
          </p:cNvPr>
          <p:cNvSpPr>
            <a:spLocks noGrp="1"/>
          </p:cNvSpPr>
          <p:nvPr/>
        </p:nvSpPr>
        <p:spPr>
          <a:xfrm>
            <a:off x="2998470" y="3067050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Sequence analysis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467B588-BFBA-4E04-B47E-066551296CD1}"/>
              </a:ext>
            </a:extLst>
          </p:cNvPr>
          <p:cNvSpPr>
            <a:spLocks noGrp="1"/>
          </p:cNvSpPr>
          <p:nvPr/>
        </p:nvSpPr>
        <p:spPr>
          <a:xfrm>
            <a:off x="4930140" y="31051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35009893-A650-4215-A8DC-7EF1F7046AE6}"/>
              </a:ext>
            </a:extLst>
          </p:cNvPr>
          <p:cNvSpPr>
            <a:spLocks noGrp="1"/>
          </p:cNvSpPr>
          <p:nvPr/>
        </p:nvSpPr>
        <p:spPr>
          <a:xfrm>
            <a:off x="5082540" y="2895600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13C6A16-28DC-4020-98D6-D8738B9616CB}"/>
              </a:ext>
            </a:extLst>
          </p:cNvPr>
          <p:cNvSpPr>
            <a:spLocks noGrp="1"/>
          </p:cNvSpPr>
          <p:nvPr/>
        </p:nvSpPr>
        <p:spPr>
          <a:xfrm>
            <a:off x="5196840" y="3067050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Graph analytics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F13C7EB-5352-4A6A-A825-3CE99E51B94F}"/>
              </a:ext>
            </a:extLst>
          </p:cNvPr>
          <p:cNvSpPr>
            <a:spLocks noGrp="1"/>
          </p:cNvSpPr>
          <p:nvPr/>
        </p:nvSpPr>
        <p:spPr>
          <a:xfrm>
            <a:off x="7128510" y="31051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C6F34A81-6024-44F3-B7BA-914DEE49D4CF}"/>
              </a:ext>
            </a:extLst>
          </p:cNvPr>
          <p:cNvSpPr>
            <a:spLocks noGrp="1"/>
          </p:cNvSpPr>
          <p:nvPr/>
        </p:nvSpPr>
        <p:spPr>
          <a:xfrm>
            <a:off x="7280910" y="2895600"/>
            <a:ext cx="20269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FC6BC98-7DB4-4174-AD76-192D3324D19F}"/>
              </a:ext>
            </a:extLst>
          </p:cNvPr>
          <p:cNvSpPr>
            <a:spLocks noGrp="1"/>
          </p:cNvSpPr>
          <p:nvPr/>
        </p:nvSpPr>
        <p:spPr>
          <a:xfrm>
            <a:off x="7395210" y="3067050"/>
            <a:ext cx="17983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Analyst feedback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4677EF2-E083-4BC5-838A-C22D45A7F834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38195DA-F59D-4DA2-B16F-8BBE4E2B500C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F102F19-EC53-47D7-A4A1-49F4440513D2}"/>
              </a:ext>
            </a:extLst>
          </p:cNvPr>
          <p:cNvSpPr>
            <a:spLocks noGrp="1"/>
          </p:cNvSpPr>
          <p:nvPr/>
        </p:nvSpPr>
        <p:spPr>
          <a:xfrm>
            <a:off x="914400" y="543877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highest-leverage improvement is enrichment plus calibrated behavioral profiles; advanced ML comes after labels and feedback exist.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838D6CF-59DC-4B8A-845C-83ADAD2A6372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2A21C5A-AB26-4F7F-93B1-50111B86A8E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914643A-8B12-4BAD-92C0-5E11003B8D7B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573786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3364B20-8B3D-4E69-91AE-72A1F3DE3E5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FF319C4-AA9C-463A-8484-8623AF3C0845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5533164-A15E-496F-9A68-1EE977EAD26A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40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5DA2FEA-DD35-4A45-A786-F77E2C8C923D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main limitations are context, labels, and production representativeness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403A8D5-F208-4FF5-B018-3A06032569F2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2428875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865F83-BFEB-4110-BE45-BFDB06CD916E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Limitation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CC1C07C-A70F-43F5-9E29-8F24576552C1}"/>
              </a:ext>
            </a:extLst>
          </p:cNvPr>
          <p:cNvSpPr>
            <a:spLocks noGrp="1"/>
          </p:cNvSpPr>
          <p:nvPr/>
        </p:nvSpPr>
        <p:spPr>
          <a:xfrm>
            <a:off x="3114675" y="1381125"/>
            <a:ext cx="409575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9C01A8C-07ED-4C36-B11A-FF801165850B}"/>
              </a:ext>
            </a:extLst>
          </p:cNvPr>
          <p:cNvSpPr>
            <a:spLocks noGrp="1"/>
          </p:cNvSpPr>
          <p:nvPr/>
        </p:nvSpPr>
        <p:spPr>
          <a:xfrm>
            <a:off x="3209925" y="14668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823813B-B247-46C2-9541-C14B0E8DC8C0}"/>
              </a:ext>
            </a:extLst>
          </p:cNvPr>
          <p:cNvSpPr>
            <a:spLocks noGrp="1"/>
          </p:cNvSpPr>
          <p:nvPr/>
        </p:nvSpPr>
        <p:spPr>
          <a:xfrm>
            <a:off x="7210425" y="1381125"/>
            <a:ext cx="4295775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D4A007-8E44-4B51-B1A7-C46C9FC7833B}"/>
              </a:ext>
            </a:extLst>
          </p:cNvPr>
          <p:cNvSpPr>
            <a:spLocks noGrp="1"/>
          </p:cNvSpPr>
          <p:nvPr/>
        </p:nvSpPr>
        <p:spPr>
          <a:xfrm>
            <a:off x="7305675" y="1466850"/>
            <a:ext cx="41052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How to reduce it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DC2982D-2496-4F4D-8264-10DEF72F1FBA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2428875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B9BEE93-FB8A-47B6-9BF5-D1BC9ABC3FC4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2238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No labels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5AC53AF-9152-4C75-808B-36E9071658EC}"/>
              </a:ext>
            </a:extLst>
          </p:cNvPr>
          <p:cNvSpPr>
            <a:spLocks noGrp="1"/>
          </p:cNvSpPr>
          <p:nvPr/>
        </p:nvSpPr>
        <p:spPr>
          <a:xfrm>
            <a:off x="3114675" y="1933575"/>
            <a:ext cx="40957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2178898-82EE-4D41-BDD5-99C187C59E5C}"/>
              </a:ext>
            </a:extLst>
          </p:cNvPr>
          <p:cNvSpPr>
            <a:spLocks noGrp="1"/>
          </p:cNvSpPr>
          <p:nvPr/>
        </p:nvSpPr>
        <p:spPr>
          <a:xfrm>
            <a:off x="3209925" y="2009775"/>
            <a:ext cx="3905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Cannot estimate precision or recall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E61AC86-A659-46CB-9F7F-1478764BD620}"/>
              </a:ext>
            </a:extLst>
          </p:cNvPr>
          <p:cNvSpPr>
            <a:spLocks noGrp="1"/>
          </p:cNvSpPr>
          <p:nvPr/>
        </p:nvSpPr>
        <p:spPr>
          <a:xfrm>
            <a:off x="7210425" y="1933575"/>
            <a:ext cx="4295775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D61DCF9-5FFC-448E-8D65-2CFBEAC54505}"/>
              </a:ext>
            </a:extLst>
          </p:cNvPr>
          <p:cNvSpPr>
            <a:spLocks noGrp="1"/>
          </p:cNvSpPr>
          <p:nvPr/>
        </p:nvSpPr>
        <p:spPr>
          <a:xfrm>
            <a:off x="7305675" y="2009775"/>
            <a:ext cx="4105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Use analyst feedback and confirmed incidents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BF8607E-021F-47D6-96C0-EC17F0FE94F4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24288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CA37CC5-A141-4316-B690-EDE5EA0BC881}"/>
              </a:ext>
            </a:extLst>
          </p:cNvPr>
          <p:cNvSpPr>
            <a:spLocks noGrp="1"/>
          </p:cNvSpPr>
          <p:nvPr/>
        </p:nvSpPr>
        <p:spPr>
          <a:xfrm>
            <a:off x="781050" y="2562225"/>
            <a:ext cx="2238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No geo / ASN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C9B93FC-0433-420E-A6CD-6988543F66FB}"/>
              </a:ext>
            </a:extLst>
          </p:cNvPr>
          <p:cNvSpPr>
            <a:spLocks noGrp="1"/>
          </p:cNvSpPr>
          <p:nvPr/>
        </p:nvSpPr>
        <p:spPr>
          <a:xfrm>
            <a:off x="3114675" y="248602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3410CE7-F498-4749-A746-261E415C9727}"/>
              </a:ext>
            </a:extLst>
          </p:cNvPr>
          <p:cNvSpPr>
            <a:spLocks noGrp="1"/>
          </p:cNvSpPr>
          <p:nvPr/>
        </p:nvSpPr>
        <p:spPr>
          <a:xfrm>
            <a:off x="3209925" y="2562225"/>
            <a:ext cx="3905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IP velocity can be misleading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279A952-AC2C-4831-AAC2-E778009E4352}"/>
              </a:ext>
            </a:extLst>
          </p:cNvPr>
          <p:cNvSpPr>
            <a:spLocks noGrp="1"/>
          </p:cNvSpPr>
          <p:nvPr/>
        </p:nvSpPr>
        <p:spPr>
          <a:xfrm>
            <a:off x="7210425" y="2486025"/>
            <a:ext cx="42957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D7E453B-B663-4560-886B-92CE5FE73625}"/>
              </a:ext>
            </a:extLst>
          </p:cNvPr>
          <p:cNvSpPr>
            <a:spLocks noGrp="1"/>
          </p:cNvSpPr>
          <p:nvPr/>
        </p:nvSpPr>
        <p:spPr>
          <a:xfrm>
            <a:off x="7305675" y="2562225"/>
            <a:ext cx="4105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Enrich IPs and subnet reputation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CAF5ED9-BF89-4010-AF4F-B9E315D07ACB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2428875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74F610C-7761-488D-ABDB-37D289947FC1}"/>
              </a:ext>
            </a:extLst>
          </p:cNvPr>
          <p:cNvSpPr>
            <a:spLocks noGrp="1"/>
          </p:cNvSpPr>
          <p:nvPr/>
        </p:nvSpPr>
        <p:spPr>
          <a:xfrm>
            <a:off x="781050" y="3114675"/>
            <a:ext cx="2238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No browser / UA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E7DFF60-AC73-4240-BBAC-5524827FF80B}"/>
              </a:ext>
            </a:extLst>
          </p:cNvPr>
          <p:cNvSpPr>
            <a:spLocks noGrp="1"/>
          </p:cNvSpPr>
          <p:nvPr/>
        </p:nvSpPr>
        <p:spPr>
          <a:xfrm>
            <a:off x="3114675" y="3038475"/>
            <a:ext cx="40957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5E10646-E7C8-420E-84B1-842BCC4FDFFB}"/>
              </a:ext>
            </a:extLst>
          </p:cNvPr>
          <p:cNvSpPr>
            <a:spLocks noGrp="1"/>
          </p:cNvSpPr>
          <p:nvPr/>
        </p:nvSpPr>
        <p:spPr>
          <a:xfrm>
            <a:off x="3209925" y="3114675"/>
            <a:ext cx="3905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Device spoofing is invisible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7F84532-B164-43F8-9ED7-BF51A704A014}"/>
              </a:ext>
            </a:extLst>
          </p:cNvPr>
          <p:cNvSpPr>
            <a:spLocks noGrp="1"/>
          </p:cNvSpPr>
          <p:nvPr/>
        </p:nvSpPr>
        <p:spPr>
          <a:xfrm>
            <a:off x="7210425" y="3038475"/>
            <a:ext cx="4295775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C9D00E4-435A-406B-8296-CA84763A2C91}"/>
              </a:ext>
            </a:extLst>
          </p:cNvPr>
          <p:cNvSpPr>
            <a:spLocks noGrp="1"/>
          </p:cNvSpPr>
          <p:nvPr/>
        </p:nvSpPr>
        <p:spPr>
          <a:xfrm>
            <a:off x="7305675" y="3114675"/>
            <a:ext cx="4105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Collect user-agent and fingerprint signals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E19485D-1CED-4E05-BDDC-B621D7D2F6AD}"/>
              </a:ext>
            </a:extLst>
          </p:cNvPr>
          <p:cNvSpPr>
            <a:spLocks noGrp="1"/>
          </p:cNvSpPr>
          <p:nvPr/>
        </p:nvSpPr>
        <p:spPr>
          <a:xfrm>
            <a:off x="685800" y="3590925"/>
            <a:ext cx="24288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F070DC1-0F26-4FFE-AC04-F72C46285BB0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2238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Limited time span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7A0944F1-1D72-4A50-816F-B3525764C3B0}"/>
              </a:ext>
            </a:extLst>
          </p:cNvPr>
          <p:cNvSpPr>
            <a:spLocks noGrp="1"/>
          </p:cNvSpPr>
          <p:nvPr/>
        </p:nvSpPr>
        <p:spPr>
          <a:xfrm>
            <a:off x="3114675" y="359092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074D6BD-4473-4498-8F6E-5FE1F9B24C25}"/>
              </a:ext>
            </a:extLst>
          </p:cNvPr>
          <p:cNvSpPr>
            <a:spLocks noGrp="1"/>
          </p:cNvSpPr>
          <p:nvPr/>
        </p:nvSpPr>
        <p:spPr>
          <a:xfrm>
            <a:off x="3209925" y="3667125"/>
            <a:ext cx="3905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Seasonality unknown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BEB77F5-B130-4E93-B479-54D05C441EDB}"/>
              </a:ext>
            </a:extLst>
          </p:cNvPr>
          <p:cNvSpPr>
            <a:spLocks noGrp="1"/>
          </p:cNvSpPr>
          <p:nvPr/>
        </p:nvSpPr>
        <p:spPr>
          <a:xfrm>
            <a:off x="7210425" y="3590925"/>
            <a:ext cx="42957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A7544EA-A9D7-4F40-974C-0B4B2BBCB995}"/>
              </a:ext>
            </a:extLst>
          </p:cNvPr>
          <p:cNvSpPr>
            <a:spLocks noGrp="1"/>
          </p:cNvSpPr>
          <p:nvPr/>
        </p:nvSpPr>
        <p:spPr>
          <a:xfrm>
            <a:off x="7305675" y="3667125"/>
            <a:ext cx="4105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Backtest longer periods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A31A606-6C49-4842-B9D0-306058F99550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2428875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4AF4599-2981-464F-A2B6-4B6E457F3632}"/>
              </a:ext>
            </a:extLst>
          </p:cNvPr>
          <p:cNvSpPr>
            <a:spLocks noGrp="1"/>
          </p:cNvSpPr>
          <p:nvPr/>
        </p:nvSpPr>
        <p:spPr>
          <a:xfrm>
            <a:off x="781050" y="4219575"/>
            <a:ext cx="2238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Synthetic thresholds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34EE1DB3-8AA8-470D-A9AD-E488825033FA}"/>
              </a:ext>
            </a:extLst>
          </p:cNvPr>
          <p:cNvSpPr>
            <a:spLocks noGrp="1"/>
          </p:cNvSpPr>
          <p:nvPr/>
        </p:nvSpPr>
        <p:spPr>
          <a:xfrm>
            <a:off x="3114675" y="4143375"/>
            <a:ext cx="4095750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65323B6-9FF5-428F-96B1-FEC9047C4A21}"/>
              </a:ext>
            </a:extLst>
          </p:cNvPr>
          <p:cNvSpPr>
            <a:spLocks noGrp="1"/>
          </p:cNvSpPr>
          <p:nvPr/>
        </p:nvSpPr>
        <p:spPr>
          <a:xfrm>
            <a:off x="3209925" y="4219575"/>
            <a:ext cx="3905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Rules may over-alert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D9D94262-85DE-45B4-A5E6-6285A6ABE62E}"/>
              </a:ext>
            </a:extLst>
          </p:cNvPr>
          <p:cNvSpPr>
            <a:spLocks noGrp="1"/>
          </p:cNvSpPr>
          <p:nvPr/>
        </p:nvSpPr>
        <p:spPr>
          <a:xfrm>
            <a:off x="7210425" y="4143375"/>
            <a:ext cx="4295775" cy="5524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752D38D3-46FA-4714-9A37-D95260924E71}"/>
              </a:ext>
            </a:extLst>
          </p:cNvPr>
          <p:cNvSpPr>
            <a:spLocks noGrp="1"/>
          </p:cNvSpPr>
          <p:nvPr/>
        </p:nvSpPr>
        <p:spPr>
          <a:xfrm>
            <a:off x="7305675" y="4219575"/>
            <a:ext cx="4105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Calibrate per segment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A423846-06DE-4FFF-8F80-B6AD35C5C7C0}"/>
              </a:ext>
            </a:extLst>
          </p:cNvPr>
          <p:cNvSpPr>
            <a:spLocks noGrp="1"/>
          </p:cNvSpPr>
          <p:nvPr/>
        </p:nvSpPr>
        <p:spPr>
          <a:xfrm>
            <a:off x="685800" y="4695825"/>
            <a:ext cx="24288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EE9283EE-257E-4644-8E84-91ACC234E4A4}"/>
              </a:ext>
            </a:extLst>
          </p:cNvPr>
          <p:cNvSpPr>
            <a:spLocks noGrp="1"/>
          </p:cNvSpPr>
          <p:nvPr/>
        </p:nvSpPr>
        <p:spPr>
          <a:xfrm>
            <a:off x="781050" y="4772025"/>
            <a:ext cx="2238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Notebook analysis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DCB4AF3-EE9C-4933-8C87-39A982E5D621}"/>
              </a:ext>
            </a:extLst>
          </p:cNvPr>
          <p:cNvSpPr>
            <a:spLocks noGrp="1"/>
          </p:cNvSpPr>
          <p:nvPr/>
        </p:nvSpPr>
        <p:spPr>
          <a:xfrm>
            <a:off x="3114675" y="469582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21E60ACE-2E84-4E9F-84E8-A49E6BC993FB}"/>
              </a:ext>
            </a:extLst>
          </p:cNvPr>
          <p:cNvSpPr>
            <a:spLocks noGrp="1"/>
          </p:cNvSpPr>
          <p:nvPr/>
        </p:nvSpPr>
        <p:spPr>
          <a:xfrm>
            <a:off x="3209925" y="4772025"/>
            <a:ext cx="3905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Not a production control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9A5ABDC1-77B0-4D46-8369-78E5619EC764}"/>
              </a:ext>
            </a:extLst>
          </p:cNvPr>
          <p:cNvSpPr>
            <a:spLocks noGrp="1"/>
          </p:cNvSpPr>
          <p:nvPr/>
        </p:nvSpPr>
        <p:spPr>
          <a:xfrm>
            <a:off x="7210425" y="4695825"/>
            <a:ext cx="42957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436EB367-EB09-47BA-9269-3F861B159B8D}"/>
              </a:ext>
            </a:extLst>
          </p:cNvPr>
          <p:cNvSpPr>
            <a:spLocks noGrp="1"/>
          </p:cNvSpPr>
          <p:nvPr/>
        </p:nvSpPr>
        <p:spPr>
          <a:xfrm>
            <a:off x="7305675" y="4772025"/>
            <a:ext cx="4105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Move to governed pipeline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370A721B-BC52-4B73-9B7B-0EEC7BD6CFC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85195F77-59A1-4F6D-879C-45FA7BF3C3F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4AB2AE3B-8DED-47C3-8C93-8806621FC113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3602911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8273985-56B0-4C6A-A2A8-2F15AEE0BCA1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AB50695-355D-4F32-8CFE-AC607DC8B19C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A0B8A6-552C-40C4-B488-2CC126F71735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41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9D8D2C9-7B12-40C8-B889-51229798DA84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assignment demonstrates four senior analyst habits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85079A7-5601-47CA-8F17-8916E9EA60FC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A4D4EB8-AE2F-4287-B61E-D6267A221285}"/>
              </a:ext>
            </a:extLst>
          </p:cNvPr>
          <p:cNvSpPr>
            <a:spLocks noGrp="1"/>
          </p:cNvSpPr>
          <p:nvPr/>
        </p:nvSpPr>
        <p:spPr>
          <a:xfrm>
            <a:off x="876300" y="18383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Business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18DAC68-7046-4138-BF48-3894E4969FAD}"/>
              </a:ext>
            </a:extLst>
          </p:cNvPr>
          <p:cNvSpPr>
            <a:spLocks noGrp="1"/>
          </p:cNvSpPr>
          <p:nvPr/>
        </p:nvSpPr>
        <p:spPr>
          <a:xfrm>
            <a:off x="876300" y="208597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A582D"/>
                </a:solidFill>
              </a:defRPr>
            </a:pPr>
            <a:r>
              <a:rPr sz="2250" b="1">
                <a:solidFill>
                  <a:srgbClr val="FA582D"/>
                </a:solidFill>
              </a:rPr>
              <a:t>Frame risk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D224218-C78C-4A5B-9535-06CA0E05BE73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Not rows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C54531E-8936-412B-AD7A-D845E25481BA}"/>
              </a:ext>
            </a:extLst>
          </p:cNvPr>
          <p:cNvSpPr>
            <a:spLocks noGrp="1"/>
          </p:cNvSpPr>
          <p:nvPr/>
        </p:nvSpPr>
        <p:spPr>
          <a:xfrm>
            <a:off x="3448050" y="1666875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F7003FA-3052-457A-8CAF-79EA76C1F2C8}"/>
              </a:ext>
            </a:extLst>
          </p:cNvPr>
          <p:cNvSpPr>
            <a:spLocks noGrp="1"/>
          </p:cNvSpPr>
          <p:nvPr/>
        </p:nvSpPr>
        <p:spPr>
          <a:xfrm>
            <a:off x="3638550" y="18383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Technical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358D2F3-14DB-404B-B428-9F201B2B0D95}"/>
              </a:ext>
            </a:extLst>
          </p:cNvPr>
          <p:cNvSpPr>
            <a:spLocks noGrp="1"/>
          </p:cNvSpPr>
          <p:nvPr/>
        </p:nvSpPr>
        <p:spPr>
          <a:xfrm>
            <a:off x="3638550" y="208597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Engineer behavior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FA3D231-5136-4101-9FC6-098E39793179}"/>
              </a:ext>
            </a:extLst>
          </p:cNvPr>
          <p:cNvSpPr>
            <a:spLocks noGrp="1"/>
          </p:cNvSpPr>
          <p:nvPr/>
        </p:nvSpPr>
        <p:spPr>
          <a:xfrm>
            <a:off x="3638550" y="24574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Not raw fields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7781D14-7977-4C86-8433-F0F43472CF85}"/>
              </a:ext>
            </a:extLst>
          </p:cNvPr>
          <p:cNvSpPr>
            <a:spLocks noGrp="1"/>
          </p:cNvSpPr>
          <p:nvPr/>
        </p:nvSpPr>
        <p:spPr>
          <a:xfrm>
            <a:off x="6210300" y="1666875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6E090F4-D391-4569-987B-82D72FFFA0D5}"/>
              </a:ext>
            </a:extLst>
          </p:cNvPr>
          <p:cNvSpPr>
            <a:spLocks noGrp="1"/>
          </p:cNvSpPr>
          <p:nvPr/>
        </p:nvSpPr>
        <p:spPr>
          <a:xfrm>
            <a:off x="6400800" y="18383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Security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42E942-5027-4835-A134-56A4EBAF026C}"/>
              </a:ext>
            </a:extLst>
          </p:cNvPr>
          <p:cNvSpPr>
            <a:spLocks noGrp="1"/>
          </p:cNvSpPr>
          <p:nvPr/>
        </p:nvSpPr>
        <p:spPr>
          <a:xfrm>
            <a:off x="6400800" y="208597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D92D20"/>
                </a:solidFill>
              </a:defRPr>
            </a:pPr>
            <a:r>
              <a:rPr sz="2250" b="1">
                <a:solidFill>
                  <a:srgbClr val="D92D20"/>
                </a:solidFill>
              </a:rPr>
              <a:t>Think SOC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803EFFC-B99C-4BD8-94FE-73206EF35A5D}"/>
              </a:ext>
            </a:extLst>
          </p:cNvPr>
          <p:cNvSpPr>
            <a:spLocks noGrp="1"/>
          </p:cNvSpPr>
          <p:nvPr/>
        </p:nvSpPr>
        <p:spPr>
          <a:xfrm>
            <a:off x="6400800" y="24574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Not only charts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99C9604-E57D-4D27-B201-B3D64B3BD96E}"/>
              </a:ext>
            </a:extLst>
          </p:cNvPr>
          <p:cNvSpPr>
            <a:spLocks noGrp="1"/>
          </p:cNvSpPr>
          <p:nvPr/>
        </p:nvSpPr>
        <p:spPr>
          <a:xfrm>
            <a:off x="8972550" y="1666875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3094DFC-15DB-41ED-A34F-6979005D7B8C}"/>
              </a:ext>
            </a:extLst>
          </p:cNvPr>
          <p:cNvSpPr>
            <a:spLocks noGrp="1"/>
          </p:cNvSpPr>
          <p:nvPr/>
        </p:nvSpPr>
        <p:spPr>
          <a:xfrm>
            <a:off x="9163050" y="18383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Product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691B220-53A3-4A20-8D47-9558CA2D3544}"/>
              </a:ext>
            </a:extLst>
          </p:cNvPr>
          <p:cNvSpPr>
            <a:spLocks noGrp="1"/>
          </p:cNvSpPr>
          <p:nvPr/>
        </p:nvSpPr>
        <p:spPr>
          <a:xfrm>
            <a:off x="9163050" y="208597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EA5A4"/>
                </a:solidFill>
              </a:defRPr>
            </a:pPr>
            <a:r>
              <a:rPr sz="2250" b="1">
                <a:solidFill>
                  <a:srgbClr val="0EA5A4"/>
                </a:solidFill>
              </a:rPr>
              <a:t>Measure quality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04F5297-AE59-457E-8EE1-0FD6E5E12207}"/>
              </a:ext>
            </a:extLst>
          </p:cNvPr>
          <p:cNvSpPr>
            <a:spLocks noGrp="1"/>
          </p:cNvSpPr>
          <p:nvPr/>
        </p:nvSpPr>
        <p:spPr>
          <a:xfrm>
            <a:off x="9163050" y="24574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Not only volume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CA6B5CE-B3F2-4B9A-85A3-F24E202CAF8C}"/>
              </a:ext>
            </a:extLst>
          </p:cNvPr>
          <p:cNvSpPr>
            <a:spLocks noGrp="1"/>
          </p:cNvSpPr>
          <p:nvPr/>
        </p:nvSpPr>
        <p:spPr>
          <a:xfrm>
            <a:off x="1257300" y="3857625"/>
            <a:ext cx="895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Lessons learned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9595181-E8A1-4147-A158-3D4A1AA45221}"/>
              </a:ext>
            </a:extLst>
          </p:cNvPr>
          <p:cNvSpPr>
            <a:spLocks noGrp="1"/>
          </p:cNvSpPr>
          <p:nvPr/>
        </p:nvSpPr>
        <p:spPr>
          <a:xfrm>
            <a:off x="1257300" y="4257675"/>
            <a:ext cx="8953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same pattern applies across login security and product KPI investigation.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A good answer makes assumptions visible and testable.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end product is a decision system, not a notebook screenshot.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3E2343D-51F4-4DC5-89EE-715EF80C407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44A0E5C-7559-4B96-A7D5-96EF82366C4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3387734-7CDC-451E-925C-5A03A1710759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7859151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Рисунок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4AFE4BD-D1C0-428A-9EE7-E8EFAA44143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A698E27-89D0-4F16-92DA-419CAAB4D2F0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E395FAF-87D8-45A7-8F41-66063886498C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42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7807A31-B4E2-40DE-9D35-28D2821022D5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Recommended actions move from containment to platform maturity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4500122-62D0-45AF-BCFC-9EA1A87F5AF8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714500" cy="6667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97B9E74-860B-445C-A583-0DAB931D7E8E}"/>
              </a:ext>
            </a:extLst>
          </p:cNvPr>
          <p:cNvSpPr>
            <a:spLocks noGrp="1"/>
          </p:cNvSpPr>
          <p:nvPr/>
        </p:nvSpPr>
        <p:spPr>
          <a:xfrm>
            <a:off x="781050" y="15621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Horizon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855A36C-5AB2-436F-A7A9-0F0FDD6031B6}"/>
              </a:ext>
            </a:extLst>
          </p:cNvPr>
          <p:cNvSpPr>
            <a:spLocks noGrp="1"/>
          </p:cNvSpPr>
          <p:nvPr/>
        </p:nvSpPr>
        <p:spPr>
          <a:xfrm>
            <a:off x="2400300" y="1476375"/>
            <a:ext cx="6953250" cy="6667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87085BD-CF97-41B2-97A9-2873C92322E6}"/>
              </a:ext>
            </a:extLst>
          </p:cNvPr>
          <p:cNvSpPr>
            <a:spLocks noGrp="1"/>
          </p:cNvSpPr>
          <p:nvPr/>
        </p:nvSpPr>
        <p:spPr>
          <a:xfrm>
            <a:off x="2495550" y="1562100"/>
            <a:ext cx="676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4244FF-DE60-4CC2-9BAC-5C2A691EFA09}"/>
              </a:ext>
            </a:extLst>
          </p:cNvPr>
          <p:cNvSpPr>
            <a:spLocks noGrp="1"/>
          </p:cNvSpPr>
          <p:nvPr/>
        </p:nvSpPr>
        <p:spPr>
          <a:xfrm>
            <a:off x="9353550" y="1476375"/>
            <a:ext cx="2152650" cy="6667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E5024F8-ECD5-4254-B351-409CEC6417A6}"/>
              </a:ext>
            </a:extLst>
          </p:cNvPr>
          <p:cNvSpPr>
            <a:spLocks noGrp="1"/>
          </p:cNvSpPr>
          <p:nvPr/>
        </p:nvSpPr>
        <p:spPr>
          <a:xfrm>
            <a:off x="9448800" y="15621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AC705BB-8C32-4B7D-AA13-F042BA0FE322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1714500" cy="6667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2E83DDF-0E8E-4C38-A442-A147427B9548}"/>
              </a:ext>
            </a:extLst>
          </p:cNvPr>
          <p:cNvSpPr>
            <a:spLocks noGrp="1"/>
          </p:cNvSpPr>
          <p:nvPr/>
        </p:nvSpPr>
        <p:spPr>
          <a:xfrm>
            <a:off x="781050" y="2219325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Immediate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61C436D-D99F-4F1C-A345-5B8A30EAB9BB}"/>
              </a:ext>
            </a:extLst>
          </p:cNvPr>
          <p:cNvSpPr>
            <a:spLocks noGrp="1"/>
          </p:cNvSpPr>
          <p:nvPr/>
        </p:nvSpPr>
        <p:spPr>
          <a:xfrm>
            <a:off x="2400300" y="2143125"/>
            <a:ext cx="6953250" cy="6667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ACF8FA4-CF92-488B-A4AC-617647932B8C}"/>
              </a:ext>
            </a:extLst>
          </p:cNvPr>
          <p:cNvSpPr>
            <a:spLocks noGrp="1"/>
          </p:cNvSpPr>
          <p:nvPr/>
        </p:nvSpPr>
        <p:spPr>
          <a:xfrm>
            <a:off x="2495550" y="2219325"/>
            <a:ext cx="676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Block confirmed malicious IPs; reset user_097 and user_003; rate-limit bursts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19DA0D4-B03E-497B-BE0C-4EF25CA21B3D}"/>
              </a:ext>
            </a:extLst>
          </p:cNvPr>
          <p:cNvSpPr>
            <a:spLocks noGrp="1"/>
          </p:cNvSpPr>
          <p:nvPr/>
        </p:nvSpPr>
        <p:spPr>
          <a:xfrm>
            <a:off x="9353550" y="2143125"/>
            <a:ext cx="2152650" cy="6667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8F361EF-BB27-488D-985C-8DFD0F76D560}"/>
              </a:ext>
            </a:extLst>
          </p:cNvPr>
          <p:cNvSpPr>
            <a:spLocks noGrp="1"/>
          </p:cNvSpPr>
          <p:nvPr/>
        </p:nvSpPr>
        <p:spPr>
          <a:xfrm>
            <a:off x="9448800" y="2219325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SOC / IAM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3E29C43-643C-4626-89F0-E7248E3AFADA}"/>
              </a:ext>
            </a:extLst>
          </p:cNvPr>
          <p:cNvSpPr>
            <a:spLocks noGrp="1"/>
          </p:cNvSpPr>
          <p:nvPr/>
        </p:nvSpPr>
        <p:spPr>
          <a:xfrm>
            <a:off x="685800" y="2809875"/>
            <a:ext cx="1714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41CBE2F-8E31-47DE-BDAE-350191858C62}"/>
              </a:ext>
            </a:extLst>
          </p:cNvPr>
          <p:cNvSpPr>
            <a:spLocks noGrp="1"/>
          </p:cNvSpPr>
          <p:nvPr/>
        </p:nvSpPr>
        <p:spPr>
          <a:xfrm>
            <a:off x="781050" y="2886075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Immediate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B573DF-911E-439A-B066-569415D6E12D}"/>
              </a:ext>
            </a:extLst>
          </p:cNvPr>
          <p:cNvSpPr>
            <a:spLocks noGrp="1"/>
          </p:cNvSpPr>
          <p:nvPr/>
        </p:nvSpPr>
        <p:spPr>
          <a:xfrm>
            <a:off x="2400300" y="2809875"/>
            <a:ext cx="6953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87397DD-E391-41B8-9364-C6F15AE684CD}"/>
              </a:ext>
            </a:extLst>
          </p:cNvPr>
          <p:cNvSpPr>
            <a:spLocks noGrp="1"/>
          </p:cNvSpPr>
          <p:nvPr/>
        </p:nvSpPr>
        <p:spPr>
          <a:xfrm>
            <a:off x="2495550" y="2886075"/>
            <a:ext cx="676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Review successful sessions from shared IP 45.139.113.61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7DB6E3D-872E-4BC5-967B-DC02211960E4}"/>
              </a:ext>
            </a:extLst>
          </p:cNvPr>
          <p:cNvSpPr>
            <a:spLocks noGrp="1"/>
          </p:cNvSpPr>
          <p:nvPr/>
        </p:nvSpPr>
        <p:spPr>
          <a:xfrm>
            <a:off x="9353550" y="2809875"/>
            <a:ext cx="21526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1379A87-C8A9-4C4B-B16F-FB5E6F073FDC}"/>
              </a:ext>
            </a:extLst>
          </p:cNvPr>
          <p:cNvSpPr>
            <a:spLocks noGrp="1"/>
          </p:cNvSpPr>
          <p:nvPr/>
        </p:nvSpPr>
        <p:spPr>
          <a:xfrm>
            <a:off x="9448800" y="2886075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SOC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F5040D3-434B-4459-BFDE-B3C918417BED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1714500" cy="6667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9923995-385B-4009-A03E-F315DDFA1E6A}"/>
              </a:ext>
            </a:extLst>
          </p:cNvPr>
          <p:cNvSpPr>
            <a:spLocks noGrp="1"/>
          </p:cNvSpPr>
          <p:nvPr/>
        </p:nvSpPr>
        <p:spPr>
          <a:xfrm>
            <a:off x="781050" y="3552825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Short term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3769226-CCE9-41DC-8FCC-14D6B2E28A70}"/>
              </a:ext>
            </a:extLst>
          </p:cNvPr>
          <p:cNvSpPr>
            <a:spLocks noGrp="1"/>
          </p:cNvSpPr>
          <p:nvPr/>
        </p:nvSpPr>
        <p:spPr>
          <a:xfrm>
            <a:off x="2400300" y="3476625"/>
            <a:ext cx="6953250" cy="6667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A50FD02-CD9D-4553-880B-B0F6A2D916F0}"/>
              </a:ext>
            </a:extLst>
          </p:cNvPr>
          <p:cNvSpPr>
            <a:spLocks noGrp="1"/>
          </p:cNvSpPr>
          <p:nvPr/>
        </p:nvSpPr>
        <p:spPr>
          <a:xfrm>
            <a:off x="2495550" y="3552825"/>
            <a:ext cx="676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Add MFA, geo checks, ASN, user-agent, and session telemetry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CE467C4-9302-495E-885F-4F98315AEAFC}"/>
              </a:ext>
            </a:extLst>
          </p:cNvPr>
          <p:cNvSpPr>
            <a:spLocks noGrp="1"/>
          </p:cNvSpPr>
          <p:nvPr/>
        </p:nvSpPr>
        <p:spPr>
          <a:xfrm>
            <a:off x="9353550" y="3476625"/>
            <a:ext cx="2152650" cy="6667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50EABD3-15AA-4FC6-B613-1DE0F20E6E02}"/>
              </a:ext>
            </a:extLst>
          </p:cNvPr>
          <p:cNvSpPr>
            <a:spLocks noGrp="1"/>
          </p:cNvSpPr>
          <p:nvPr/>
        </p:nvSpPr>
        <p:spPr>
          <a:xfrm>
            <a:off x="9448800" y="3552825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Security engineering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0454892-3B3C-4F7D-B127-5F011943BD94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1714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A0167E8-CBDA-4C00-A244-ACD34BB68E08}"/>
              </a:ext>
            </a:extLst>
          </p:cNvPr>
          <p:cNvSpPr>
            <a:spLocks noGrp="1"/>
          </p:cNvSpPr>
          <p:nvPr/>
        </p:nvSpPr>
        <p:spPr>
          <a:xfrm>
            <a:off x="781050" y="4219575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Medium term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24415BE-477C-42C9-835D-D78ED55BBB94}"/>
              </a:ext>
            </a:extLst>
          </p:cNvPr>
          <p:cNvSpPr>
            <a:spLocks noGrp="1"/>
          </p:cNvSpPr>
          <p:nvPr/>
        </p:nvSpPr>
        <p:spPr>
          <a:xfrm>
            <a:off x="2400300" y="4143375"/>
            <a:ext cx="6953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000A588-3F11-4003-8EFB-A0DDC2128C93}"/>
              </a:ext>
            </a:extLst>
          </p:cNvPr>
          <p:cNvSpPr>
            <a:spLocks noGrp="1"/>
          </p:cNvSpPr>
          <p:nvPr/>
        </p:nvSpPr>
        <p:spPr>
          <a:xfrm>
            <a:off x="2495550" y="4219575"/>
            <a:ext cx="676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Create behavioral risk scoring and calibrated dashboards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2573C9A0-3B7E-4F52-A6A6-4120D1EBB645}"/>
              </a:ext>
            </a:extLst>
          </p:cNvPr>
          <p:cNvSpPr>
            <a:spLocks noGrp="1"/>
          </p:cNvSpPr>
          <p:nvPr/>
        </p:nvSpPr>
        <p:spPr>
          <a:xfrm>
            <a:off x="9353550" y="4143375"/>
            <a:ext cx="21526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8C31161-45C5-4B0F-ACF3-C1C4578099BE}"/>
              </a:ext>
            </a:extLst>
          </p:cNvPr>
          <p:cNvSpPr>
            <a:spLocks noGrp="1"/>
          </p:cNvSpPr>
          <p:nvPr/>
        </p:nvSpPr>
        <p:spPr>
          <a:xfrm>
            <a:off x="9448800" y="4219575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Analytics / detection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F8AB480F-9DEE-4001-872A-F30B3844F518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714500" cy="6667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110C478B-E0BE-4E6B-83B0-AA9AAADED1E8}"/>
              </a:ext>
            </a:extLst>
          </p:cNvPr>
          <p:cNvSpPr>
            <a:spLocks noGrp="1"/>
          </p:cNvSpPr>
          <p:nvPr/>
        </p:nvSpPr>
        <p:spPr>
          <a:xfrm>
            <a:off x="781050" y="4886325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Long term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149B1A8E-C63B-4829-8593-DCEFCD7320F7}"/>
              </a:ext>
            </a:extLst>
          </p:cNvPr>
          <p:cNvSpPr>
            <a:spLocks noGrp="1"/>
          </p:cNvSpPr>
          <p:nvPr/>
        </p:nvSpPr>
        <p:spPr>
          <a:xfrm>
            <a:off x="2400300" y="4810125"/>
            <a:ext cx="6953250" cy="6667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99C16E6-5390-4E4B-A88A-C2F09F5F16EF}"/>
              </a:ext>
            </a:extLst>
          </p:cNvPr>
          <p:cNvSpPr>
            <a:spLocks noGrp="1"/>
          </p:cNvSpPr>
          <p:nvPr/>
        </p:nvSpPr>
        <p:spPr>
          <a:xfrm>
            <a:off x="2495550" y="4886325"/>
            <a:ext cx="676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Move to streaming detection with analyst feedback and model governance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D7E5FD4-316E-49CF-A944-AA13344A1E48}"/>
              </a:ext>
            </a:extLst>
          </p:cNvPr>
          <p:cNvSpPr>
            <a:spLocks noGrp="1"/>
          </p:cNvSpPr>
          <p:nvPr/>
        </p:nvSpPr>
        <p:spPr>
          <a:xfrm>
            <a:off x="9353550" y="4810125"/>
            <a:ext cx="2152650" cy="6667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563CD711-C57A-4DCA-85FB-DDF949C7536F}"/>
              </a:ext>
            </a:extLst>
          </p:cNvPr>
          <p:cNvSpPr>
            <a:spLocks noGrp="1"/>
          </p:cNvSpPr>
          <p:nvPr/>
        </p:nvSpPr>
        <p:spPr>
          <a:xfrm>
            <a:off x="9448800" y="4886325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Platform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D132E2DC-9D4F-48D6-94D1-DDD5AA28BA32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3061F330-C2D9-4E67-8F45-C322A78D55B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033693F-1B29-4FFC-8FF9-E751A4CC0816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9926862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BDCE003-0BB5-46B2-BE21-CDD050AEB7C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617EF8-9DB6-4F65-A0FD-23A704DBC338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E58D79-70DB-40DD-8396-467C662A9BE7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43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2EB3DC6-9205-4F0F-8F95-C09675A08BE3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At Palo Alto scale, this becomes an enterprise security analytics platform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6450CA1-8A8E-4419-8885-C30BA5907D4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576513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24F8279-756A-4524-806B-DB8E470FD118}"/>
              </a:ext>
            </a:extLst>
          </p:cNvPr>
          <p:cNvSpPr>
            <a:spLocks noGrp="1"/>
          </p:cNvSpPr>
          <p:nvPr/>
        </p:nvSpPr>
        <p:spPr>
          <a:xfrm>
            <a:off x="800100" y="1981200"/>
            <a:ext cx="234791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Streaming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E45590A-F01C-44D6-864F-835EE2FBF421}"/>
              </a:ext>
            </a:extLst>
          </p:cNvPr>
          <p:cNvSpPr>
            <a:spLocks noGrp="1"/>
          </p:cNvSpPr>
          <p:nvPr/>
        </p:nvSpPr>
        <p:spPr>
          <a:xfrm>
            <a:off x="3281363" y="20193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BA59737-CD94-4D3A-A7D0-8C54791E0B2E}"/>
              </a:ext>
            </a:extLst>
          </p:cNvPr>
          <p:cNvSpPr>
            <a:spLocks noGrp="1"/>
          </p:cNvSpPr>
          <p:nvPr/>
        </p:nvSpPr>
        <p:spPr>
          <a:xfrm>
            <a:off x="3433763" y="1809750"/>
            <a:ext cx="2576513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D7E7A44-5676-43CA-9384-804E15FC29D9}"/>
              </a:ext>
            </a:extLst>
          </p:cNvPr>
          <p:cNvSpPr>
            <a:spLocks noGrp="1"/>
          </p:cNvSpPr>
          <p:nvPr/>
        </p:nvSpPr>
        <p:spPr>
          <a:xfrm>
            <a:off x="3548063" y="1981200"/>
            <a:ext cx="234791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Feature store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8DDC7EC-83F8-4E83-8033-93767AF47BBB}"/>
              </a:ext>
            </a:extLst>
          </p:cNvPr>
          <p:cNvSpPr>
            <a:spLocks noGrp="1"/>
          </p:cNvSpPr>
          <p:nvPr/>
        </p:nvSpPr>
        <p:spPr>
          <a:xfrm>
            <a:off x="6029325" y="20193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A719FB4-7F02-47C7-A6AD-8F5A2D63AB63}"/>
              </a:ext>
            </a:extLst>
          </p:cNvPr>
          <p:cNvSpPr>
            <a:spLocks noGrp="1"/>
          </p:cNvSpPr>
          <p:nvPr/>
        </p:nvSpPr>
        <p:spPr>
          <a:xfrm>
            <a:off x="6181725" y="1809750"/>
            <a:ext cx="2576513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AC91092-B95B-4273-99CB-4AA9B9A0BD00}"/>
              </a:ext>
            </a:extLst>
          </p:cNvPr>
          <p:cNvSpPr>
            <a:spLocks noGrp="1"/>
          </p:cNvSpPr>
          <p:nvPr/>
        </p:nvSpPr>
        <p:spPr>
          <a:xfrm>
            <a:off x="6296025" y="1981200"/>
            <a:ext cx="234791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Behavior profiles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F74BB33-3AED-47C6-AD80-F825E2C9A859}"/>
              </a:ext>
            </a:extLst>
          </p:cNvPr>
          <p:cNvSpPr>
            <a:spLocks noGrp="1"/>
          </p:cNvSpPr>
          <p:nvPr/>
        </p:nvSpPr>
        <p:spPr>
          <a:xfrm>
            <a:off x="8777288" y="20193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0A412A9-6CEB-44FC-9C28-5991B5DEBE75}"/>
              </a:ext>
            </a:extLst>
          </p:cNvPr>
          <p:cNvSpPr>
            <a:spLocks noGrp="1"/>
          </p:cNvSpPr>
          <p:nvPr/>
        </p:nvSpPr>
        <p:spPr>
          <a:xfrm>
            <a:off x="8929688" y="1809750"/>
            <a:ext cx="2576513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5201529-CAEC-4C26-99C4-A3C1A6DFED8C}"/>
              </a:ext>
            </a:extLst>
          </p:cNvPr>
          <p:cNvSpPr>
            <a:spLocks noGrp="1"/>
          </p:cNvSpPr>
          <p:nvPr/>
        </p:nvSpPr>
        <p:spPr>
          <a:xfrm>
            <a:off x="9043988" y="1981200"/>
            <a:ext cx="234791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Risk engine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3666CE93-F377-4D5E-9F56-60C7516BB91D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576513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5C491BA-E90F-4E32-90EE-D98A8611651A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234791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SIEM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DFE230-4567-434D-9440-B6A58BEFE66A}"/>
              </a:ext>
            </a:extLst>
          </p:cNvPr>
          <p:cNvSpPr>
            <a:spLocks noGrp="1"/>
          </p:cNvSpPr>
          <p:nvPr/>
        </p:nvSpPr>
        <p:spPr>
          <a:xfrm>
            <a:off x="3281363" y="33147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FF9024BE-A571-4BF9-8FAB-6CC6192E1F96}"/>
              </a:ext>
            </a:extLst>
          </p:cNvPr>
          <p:cNvSpPr>
            <a:spLocks noGrp="1"/>
          </p:cNvSpPr>
          <p:nvPr/>
        </p:nvSpPr>
        <p:spPr>
          <a:xfrm>
            <a:off x="3433763" y="3105150"/>
            <a:ext cx="2576513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F337CD2-8F75-4EB1-B1E5-291FEDA5CD42}"/>
              </a:ext>
            </a:extLst>
          </p:cNvPr>
          <p:cNvSpPr>
            <a:spLocks noGrp="1"/>
          </p:cNvSpPr>
          <p:nvPr/>
        </p:nvSpPr>
        <p:spPr>
          <a:xfrm>
            <a:off x="3548063" y="3276600"/>
            <a:ext cx="234791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SOAR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3E48364-3EA8-4FFD-8B64-38AA84FFC54F}"/>
              </a:ext>
            </a:extLst>
          </p:cNvPr>
          <p:cNvSpPr>
            <a:spLocks noGrp="1"/>
          </p:cNvSpPr>
          <p:nvPr/>
        </p:nvSpPr>
        <p:spPr>
          <a:xfrm>
            <a:off x="6029325" y="33147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6556695D-A007-450D-A6FF-97C19F7F196C}"/>
              </a:ext>
            </a:extLst>
          </p:cNvPr>
          <p:cNvSpPr>
            <a:spLocks noGrp="1"/>
          </p:cNvSpPr>
          <p:nvPr/>
        </p:nvSpPr>
        <p:spPr>
          <a:xfrm>
            <a:off x="6181725" y="3105150"/>
            <a:ext cx="2576513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71F92A9-40B4-496B-9AC0-BD533AB6D36B}"/>
              </a:ext>
            </a:extLst>
          </p:cNvPr>
          <p:cNvSpPr>
            <a:spLocks noGrp="1"/>
          </p:cNvSpPr>
          <p:nvPr/>
        </p:nvSpPr>
        <p:spPr>
          <a:xfrm>
            <a:off x="6296025" y="3276600"/>
            <a:ext cx="234791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Analyst feedback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9E160FF-0E5A-48F7-83A6-296BA4D63071}"/>
              </a:ext>
            </a:extLst>
          </p:cNvPr>
          <p:cNvSpPr>
            <a:spLocks noGrp="1"/>
          </p:cNvSpPr>
          <p:nvPr/>
        </p:nvSpPr>
        <p:spPr>
          <a:xfrm>
            <a:off x="8777288" y="331470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A582D"/>
                </a:solidFill>
              </a:defRPr>
            </a:pPr>
            <a:r>
              <a:rPr sz="165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0BEF1FFB-3A4A-42B2-A313-AD2C6CDDE004}"/>
              </a:ext>
            </a:extLst>
          </p:cNvPr>
          <p:cNvSpPr>
            <a:spLocks noGrp="1"/>
          </p:cNvSpPr>
          <p:nvPr/>
        </p:nvSpPr>
        <p:spPr>
          <a:xfrm>
            <a:off x="8929688" y="3105150"/>
            <a:ext cx="2576513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1FB3DDC-4A9B-4670-882B-8EBD658114FC}"/>
              </a:ext>
            </a:extLst>
          </p:cNvPr>
          <p:cNvSpPr>
            <a:spLocks noGrp="1"/>
          </p:cNvSpPr>
          <p:nvPr/>
        </p:nvSpPr>
        <p:spPr>
          <a:xfrm>
            <a:off x="9043988" y="3276600"/>
            <a:ext cx="234791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Online learning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4B15195-EE0A-4A27-9AA5-6D934CEAFD54}"/>
              </a:ext>
            </a:extLst>
          </p:cNvPr>
          <p:cNvSpPr>
            <a:spLocks noGrp="1"/>
          </p:cNvSpPr>
          <p:nvPr/>
        </p:nvSpPr>
        <p:spPr>
          <a:xfrm>
            <a:off x="685800" y="54768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29EBEE9-0EAF-4E99-9A35-67387CDC0BC9}"/>
              </a:ext>
            </a:extLst>
          </p:cNvPr>
          <p:cNvSpPr>
            <a:spLocks noGrp="1"/>
          </p:cNvSpPr>
          <p:nvPr/>
        </p:nvSpPr>
        <p:spPr>
          <a:xfrm>
            <a:off x="685800" y="54768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53F4FFF-CDF2-4A5A-9D03-E6AA2462ADE9}"/>
              </a:ext>
            </a:extLst>
          </p:cNvPr>
          <p:cNvSpPr>
            <a:spLocks noGrp="1"/>
          </p:cNvSpPr>
          <p:nvPr/>
        </p:nvSpPr>
        <p:spPr>
          <a:xfrm>
            <a:off x="914400" y="55816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assignment can evolve into a high-trust detection platform when feature definitions, feedback, and operations are treated as product surfaces.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61836AB-7B30-4A58-B581-E6DE18AF5464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83189A9-8B1F-4345-A2AB-B7F41682CBF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4398BFD-196F-48F4-B112-6D26CC2E1AB2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5623930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7E33496-0EF9-4380-8B3F-81B32C79ED4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D29C742-390F-45CF-8C77-AC0B78FCD406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3B76A7C-EAE2-4550-992A-3988EF15C6FB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44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373F3A6-6374-4252-8A2F-E9890DB71A51}"/>
              </a:ext>
            </a:extLst>
          </p:cNvPr>
          <p:cNvSpPr>
            <a:spLocks noGrp="1"/>
          </p:cNvSpPr>
          <p:nvPr/>
        </p:nvSpPr>
        <p:spPr>
          <a:xfrm>
            <a:off x="1047750" y="933450"/>
            <a:ext cx="10210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 dirty="0">
                <a:solidFill>
                  <a:srgbClr val="000000"/>
                </a:solidFill>
              </a:rPr>
              <a:t>The final story: explainable, defensible, extensible detection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94BAAB-C228-41A4-AE63-9E89E605E144}"/>
              </a:ext>
            </a:extLst>
          </p:cNvPr>
          <p:cNvSpPr>
            <a:spLocks noGrp="1"/>
          </p:cNvSpPr>
          <p:nvPr/>
        </p:nvSpPr>
        <p:spPr>
          <a:xfrm>
            <a:off x="1047750" y="1543050"/>
            <a:ext cx="100965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 dirty="0">
                <a:solidFill>
                  <a:srgbClr val="111111"/>
                </a:solidFill>
              </a:rPr>
              <a:t>This investigation demonstrates a repeatable analytical framework rather than a collection of isolated findings. I intentionally prioritized interpretable behavioral analytics over more complex machine-learning approaches because the dataset lacked labels and production context. The proposed features, investigation workflow, and dashboard are designed to support security analysts today while providing a clear path toward a production-grade detection platform through enrichment, feedback loops, and gradual automation.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9D8188C-9A41-42D6-8923-166F9FCDD390}"/>
              </a:ext>
            </a:extLst>
          </p:cNvPr>
          <p:cNvSpPr>
            <a:spLocks noGrp="1"/>
          </p:cNvSpPr>
          <p:nvPr/>
        </p:nvSpPr>
        <p:spPr>
          <a:xfrm>
            <a:off x="1047750" y="4114800"/>
            <a:ext cx="876300" cy="47625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8474CAF-5FAC-4FDA-AFAF-D004CC1ECDC6}"/>
              </a:ext>
            </a:extLst>
          </p:cNvPr>
          <p:cNvSpPr>
            <a:spLocks noGrp="1"/>
          </p:cNvSpPr>
          <p:nvPr/>
        </p:nvSpPr>
        <p:spPr>
          <a:xfrm>
            <a:off x="1047750" y="4381500"/>
            <a:ext cx="9525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The goal is not simply to detect suspicious events; it is to design an analytical process that is explainable, defensible, and extensible.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1CD5947-539E-49E8-AEA3-02C169A01F8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5D897F1-6593-43E2-8E03-DFD10C8FC26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4E68B68-7D93-4CD4-8C60-0118AA6C00E9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5949757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6902926-AE2B-4E44-AF07-139E46B6C0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383902"/>
            <a:ext cx="2095500" cy="38472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C7C951-D046-47CE-8D00-43E326EEC5F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95350" cy="5715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3144DFE-41AC-4DEF-8C00-82233E17A98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666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901136E-CDE1-457A-8DCF-104BA7C45776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685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9D9D9"/>
                </a:solidFill>
              </a:defRPr>
            </a:pPr>
            <a:r>
              <a:rPr sz="1800" b="0">
                <a:solidFill>
                  <a:srgbClr val="D9D9D9"/>
                </a:solidFill>
              </a:rPr>
              <a:t>Backup evidence, formulas, SQL equivalents, implementation notes, and interview defense material</a:t>
            </a:r>
          </a:p>
        </p:txBody>
      </p:sp>
    </p:spTree>
    <p:extLst>
      <p:ext uri="{BB962C8B-B14F-4D97-AF65-F5344CB8AC3E}">
        <p14:creationId xmlns:p14="http://schemas.microsoft.com/office/powerpoint/2010/main" val="1165052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77648B4-25D2-48E2-A433-AEDC2988D57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37FCBA0-AEB0-4098-A441-76B85C2C4E39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E89AD05-0EBA-4B67-856D-8E8144BFB34A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46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3A28FDD-3FA4-4A20-877C-B8024ED41662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A1. Dataset overview visual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0EF8F65-63A7-43D8-93F5-F303DEE52D2D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visual from the provided notebook/script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BE1E79F-F180-4D3D-93A5-4C73BD550147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381875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586015"/>
            <a:ext cx="7115175" cy="2086021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BB99010-F3DA-449D-BF18-CDA907EB1529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Defense points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2AAF2F7-D568-4288-8FC3-8906279CA059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78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Shows success/failure mix, daily volume, and hourly distribution.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Useful for proving the analysis starts with normal behavior.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chart is exploratory, not a detector.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25F15D1-010D-48C4-9C2C-F1952D6919F2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086C714-14E5-4854-96D2-EC803044774D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1D4B046-2971-4912-8D84-FDC1C56457BF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slide only when the interviewer wants the detail behind the main-story claim.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A2CEA30-5C55-440D-9CB8-163DDE65093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113E825-DC4B-433A-A545-54A3988EAD1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2D2D1C1-F661-498D-B905-A7D06470364D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7275939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486266-3418-4879-8CB6-3D20FD17D29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E0AE679-6BA8-4189-A3CB-29C2E9261598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6D74D72-F015-42C5-AE41-45E4517424E5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47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758557-001E-4ADB-B489-D39AE254BC85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A2. Baseline daily attempts and failures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AD8B93F-767E-4882-AD49-16CC6E897A4B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visual from the provided notebook/script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B5EDC7F-3BF4-4964-8E57-6678FD84B94C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381875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5320" y="1866900"/>
            <a:ext cx="6682835" cy="352425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F781E1C-69F5-42AE-A533-C87F3753729F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Defense points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94DB65C-6734-47D3-A23E-0103F2E00584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78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Feb 9 spike is the clearest aggregate anomaly.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daily baseline is stable enough to support investigation.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Failure rate is more meaningful than raw failures alone.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FB16D8D-1D16-4965-981A-447F9BB0EC55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2D21682-6E31-406D-99FA-6901CD7F8E8B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01E6F31-9CE4-4FE2-9BAE-91A59F89B975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slide only when the interviewer wants the detail behind the main-story claim.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694966C-3CAC-4A7F-88B8-7950FA7B2821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4787937-8E69-4B38-9EF0-0AA8BFA52B3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7EA64FE-62A1-4B2B-87D0-43798C69CC6C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4762374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82E188-2A88-49C2-9F57-EA2A55CE55F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CD5D2F-E547-4716-9614-9C0C7B434600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D483B06-9743-4594-B87A-0D3297D755F2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48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8B1CE4-D49C-4CBB-BE98-2467B694F9F7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A3. user_097 brute-force evidence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BADA97C-1B86-49C4-9794-E7C2F27E786D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visual from the provided notebook/script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A10102E-A499-4752-937D-2CF31D4A94E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381875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379208"/>
            <a:ext cx="7115175" cy="249963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44346F-FCDE-418C-A0F0-5E1F4E4F8BD8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Defense points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B7A4621-EA16-4EDD-BB8A-8EE1679208D3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78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same user and IP dominate the failure burst.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Daily view shows concentration on Feb 9.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IP breakdown supports targeted containment.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97F91C0-FF45-4ACF-871A-7C6F8A6DB76C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683A687-9EB7-458B-AC2C-10967F3EE6C2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3C03135-492F-4557-B02D-326C3A190D8E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slide only when the interviewer wants the detail behind the main-story claim.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1B532FC-0351-4A25-B73A-3478DF45AB0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0D6169B-95B8-4EED-817B-3E682183432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2629B90-8110-466F-AB3E-A74EC2CA0B51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7659153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B796D02-42A9-486A-A873-9DE79FC835A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4583864-B650-4B1D-8430-8F2ED2F84427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4C8E64-4585-486B-9B59-C59C839EC75F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49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4ED8A38-277E-4AF8-B080-5610B59C2A3B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A4. user_097 two-second burst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2D70577-9943-4E67-B1DF-A803114BB8E0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visual from the provided notebook/script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EE56ABA-4957-45E0-883E-093551FB88F6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381875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69304" y="1866900"/>
            <a:ext cx="6614867" cy="352425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50B876C-A3B0-4548-86C8-96409B9462A4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Defense points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C311C6F-C716-4EAA-82DF-D9476B8E75D2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78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exact timestamp burst is machine-like.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This is higher confidence than generic high failure rate.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Duplicate ingestion should still be checked before automation.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7B3DBD3-5F3D-4EA5-8655-7618171BC530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DEAEDE0-F434-4065-AF6C-F788B165D286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5FB89AF-E11E-408E-971D-B9C960087820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slide only when the interviewer wants the detail behind the main-story claim.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5EB7AB0-D0F1-4770-9AB5-8807009FD0DC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9B24563-BB72-483D-B564-91D958358B0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3ACA2C3-296A-4EC5-8590-7453A1F32EF4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4461699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9706F2-F075-41B1-A77A-E66E0A5FA9B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C3CCBF2-0E3D-49B6-A6B4-14B0883902B7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6C0F6ED-D52E-4F1D-AC65-B877A96B4D4D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50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1AAB09D-2F6C-4535-9F15-59D3D3DDF8AC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A5. user_003 nightly probe heatmap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12F1958-EA4B-429F-9C12-76A9CB83FA63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visual from the provided notebook/script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AD49AE5-AD01-487B-B70C-AB7DDB0416DC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381875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536472"/>
            <a:ext cx="7115175" cy="218510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99322CF-8998-443F-BDBE-9108F9E39BD8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Defense points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5BE41C-364E-4FED-A4EB-9784E5348181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78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20:00 cadence is the key signal.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A scheduled job explanation is more plausible than human behavior.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Final success makes account review urgent.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294D4A2-AD99-422D-A9FD-052E0AB3CDB6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E8F76E3-659D-4DD4-9816-6DF5FDFC955F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09258FD-7645-4100-96BC-3162193E2717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slide only when the interviewer wants the detail behind the main-story claim.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8D7ED55-370F-463F-BEB6-F0D5A82FDCE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19E45DC-7F41-44B9-8DB6-6D573E46140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29858AB-6DBC-4B14-9F3E-73E7E3E1744B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3833966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75A8866-5371-44A8-B5E7-3FA553CC1981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8515397-AA02-4BC7-AF99-302BDEF05CE7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D702D3F-3E2B-46D7-A93D-1C14141F73DC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51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AFDBAC-1DA1-4A54-8E63-FFB30658C45B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A6. user_003 low-and-slow timeline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85E767D-8C2C-4539-8A32-DE873A35C867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visual from the provided notebook/script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EB7F1F5-2382-4F26-A485-F62742334E69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381875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522518"/>
            <a:ext cx="7115175" cy="221301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D939BCA-42EA-4A41-9579-F889C6AE9352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Defense points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0FEACBF-56B1-4B09-A91A-27BFD5F89F89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78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pattern avoids high-velocity thresholds.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Sequence logic is needed for low-and-slow attacks.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A single success after repeated failures changes risk.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366A01C-F85F-484F-B36B-1882952B6795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00F337B-5305-4FC8-8245-1CFCDDFB7C79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CB012B8-22AC-4FA3-BEF5-4A4A4CE2D4CD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slide only when the interviewer wants the detail behind the main-story claim.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D1A9DAD-2C23-42F4-935A-339985B895F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3340963-4B1C-4E67-A91D-B04F71C2882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4A83004-D7FA-457B-BECD-A2573AE6BDF6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0196504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F8112D0-9242-4662-9296-A6C1EDEB53B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18702F6-C4A3-4DC9-98F0-95852BECAB56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4EBA95E-716D-4D3A-8DC3-8A4B72C186DD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52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B35151C-E06C-40D1-8832-2B4F9D2F5788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A7. Shared IP multi-user event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343070F-9868-4149-B293-2F3F2D2AE782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visual from the provided notebook/script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C32B9D8-0E85-4492-B5CB-5C9DD14A5FDD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381875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382788"/>
            <a:ext cx="7115175" cy="249247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CFA60BD-3CE3-4007-8B01-AB2E1243DEDF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Defense points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51294E2-9F63-4969-9BEB-9D09FA4FE583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78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One IP touching many users at the same second is high-confidence.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Successes and failures together suggest partial compromise or replay.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This is a strong candidate for blocking and user enumeration.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B67C808C-F1A0-46FA-817C-D7544786CE0B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57E0E08-4B84-49BF-8392-F4A12C1C2975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38DFEEE-F01F-4E59-8BB7-AA2715C08463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slide only when the interviewer wants the detail behind the main-story claim.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9ECAFBD-BB9E-4422-8822-99D9EA520C58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30DA2F1-DB18-41F3-8B11-1123BBD8E98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8E4F02E-D7D1-4DF6-A96F-0822318900EA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6613907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F14858D-950F-426F-BBC4-514A17627A1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59E895F-623C-453E-9F91-553A91F5DB81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C02FDE-25CC-4426-837E-0D376F0D4670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53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731C74D-21EB-4826-B5E2-A5AC5B45DFE2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A8. Shared IP user outcome detail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34971F-C192-444C-8A49-8992EAC54770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visual from the provided notebook/script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7538A60-0DAE-49F3-8A75-ED99A2FF98D5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381875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1876617"/>
            <a:ext cx="7115175" cy="350481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286C07C-23FC-4EE2-B886-4F0F79DA4DFC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Defense points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4979275-7B97-4F9D-AF01-37841982832A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78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visual identifies affected users.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Green successes are investigation targets, not reassurance.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Containment should review post-login activity.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23C5F4EC-CA89-443C-9A03-94F83178F623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B15CF3F-8782-4A64-A004-F76F2A49E385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D8EAABB-761E-482A-8674-06CF9FFBFF94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slide only when the interviewer wants the detail behind the main-story claim.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44CB96C-0D3C-4473-8326-B7E7F8406066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50FC228-7AC2-419E-91C4-6E522A16FB8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5530A0-3994-418F-BD24-03ECB0623C65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6746127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9E639B-1D38-4B62-B9B6-9FC1805AAF8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F84ED64-B0B6-423F-AFA9-319D144D864D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DA5F0C-B366-4632-B76A-BF15442CE0EB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54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F5E2E13-6BCC-400E-83B7-44ED5564E381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A9. IP velocity risk matrix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63F462F-1B24-4ABF-9D95-53F769FABCE1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visual from the provided notebook/script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234FB96-4E78-465B-A815-2B561950EDBC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381875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378733"/>
            <a:ext cx="7115175" cy="25005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B8B62CC-C634-4950-BD2D-68E726DFBA90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Defense points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B1AFBCB-2097-4B5F-942E-75BB7C014527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78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feature is useful, but the broad threshold over-flags.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This is a threshold calibration lesson.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Use historical baselines and enrichment in production.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3C9EF7C-EB3B-4524-AA34-EED8966B83A4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C079692-A077-4AA5-B73F-D5713E708C96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08E224C-4806-4858-B2A9-57712A569DEE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slide only when the interviewer wants the detail behind the main-story claim.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02CE29D-31EE-4803-92F2-17A8F9ABDC2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E960095-A822-4EDA-8790-6CF16E42F60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25527B7-CB9E-4D0E-AA3B-B77F1CAA1687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97056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B1082C1-999C-44F4-82A5-CAB350A5E7C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995F63E-9034-4992-8A20-9841D24F54F4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BD1072-35F8-4C95-BD2C-B541BAD4C550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55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AE11BBF-921B-4EDB-B0D5-AF93412DD26D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A10. Off-hours access visual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032D6D9-D68F-4519-9CE7-1172B5EC43C5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visual from the provided notebook/script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DA09DA0-DBE2-4BE5-83E8-704ECA530D0D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381875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317467"/>
            <a:ext cx="7115175" cy="2623117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EF8C24A-45A6-493F-A637-5A4B1B0BDC2E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Defense points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2C6337D-8360-466B-96FB-2996B0717300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78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Off-hours is weak alone but useful as a risk multiplier.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user_009 is interesting because timing combines with high IP spread.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Timezone context would reduce false positives.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83D0388-5CC7-4C42-9989-EA46209F0CEE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569663-02B3-445C-B4C2-C52041076FE5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1FA2DD9-058D-4AB2-902B-A29513FD1EB0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slide only when the interviewer wants the detail behind the main-story claim.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B70EDEE-6E97-4B64-A5A1-BD09A1D90C0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9A5EF30-9A29-4586-A587-F1587C96BCA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9B7CB06-08D3-4215-868A-E608AC12C9FF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20116653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45D741F-7F77-4095-9692-FBA2C80963A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7BCEA7-D854-4B1F-93BC-F14C5E0FE2D5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A902E9-02E3-461E-A467-CE5C6919C5D1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56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EBF6FE0-1FDF-4F42-A4E8-7AD419DEA8A3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A11. Log integrity visual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6FC5BD2-162C-4D42-B2F0-150CB5063CE1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visual from the provided notebook/script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A305980-6F2B-4276-BBFA-0BC74D94967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381875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130282"/>
            <a:ext cx="7115175" cy="2997486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622C273-A81C-49CA-BD08-033DE7026CB1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Defense points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295670-92AA-4D32-9338-4B5FE313B742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78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Quality issues are small in count but large in security impact.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Missing IP breaks source-based rules.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Schema validation belongs in production monitoring.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6E85FCD-A191-4C65-B8C9-2C9AF5003862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9B189D7-3DFB-49DC-B140-C53679D4C3A7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9F73759-67C2-44C6-9FFE-848F6DE2E321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slide only when the interviewer wants the detail behind the main-story claim.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907D89-4817-4B31-B81D-513ECE90704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8C3E31C-649A-406B-9E64-3236AD30246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C1AACD6-840A-4FAB-97E4-E8CDEB58FE73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1065375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7B3E3F0-6865-4D28-A843-1F27CAF64FD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AED8D7B-B2DF-46A8-8B84-E13A3F3F2E56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930A4A-7672-4E05-8551-E482AD584ABA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57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35ED5D9-6B2F-4129-913A-3A711351AD30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A12. Product KPI dashboard visual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B89061C-1040-4951-86CE-F84BD3D19921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visual from the provided notebook/script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FE7404E-DD8E-4B0D-8005-02095FD60622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381875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012029" y="1866900"/>
            <a:ext cx="4729418" cy="352425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C65F42-A8B1-4A15-A51E-D27282175DFB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Defense points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A4FE5C1-CF7C-432B-B7A7-F4B8241D0833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78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dashboard asks whether a signup spike is healthy.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Quality metrics prevent over-celebrating volume.</a:t>
            </a:r>
          </a:p>
          <a:p>
            <a:pPr algn="l">
              <a:defRPr sz="1350" b="0">
                <a:solidFill>
                  <a:srgbClr val="2A2A2A"/>
                </a:solidFill>
              </a:defRPr>
            </a:pPr>
            <a:r>
              <a:rPr sz="1350" b="0">
                <a:solidFill>
                  <a:srgbClr val="2A2A2A"/>
                </a:solidFill>
              </a:rPr>
              <a:t>- The same investigative pattern applies to product analytics.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A6D3D55-EA2E-4069-81F2-4B2D2E4F3682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99C68AA-D6A2-44D7-B508-C032F569BE47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D2D8BC0-E81C-4045-B493-EEEB521F9513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slide only when the interviewer wants the detail behind the main-story claim.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99EC052-55B1-484D-878B-EBF35F7E5B4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71151FD-8290-462E-9791-64B4DA3F60A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A69EBCC-AD68-4A97-9C8E-AB802ACDCF26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8670708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4461565-63D1-4EE5-8C06-6E55C202989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750D916-FBC4-4C9E-8680-D613FCF5181B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E45E91-FBD3-4DE9-9D73-09BFD84DECE8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58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65A27FE-7873-4858-889E-6311FA220CBE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A13. Feature defense: Failure rate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9552163-10C9-4034-8960-1626EAAED00E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Definition, rationale, and production hardening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3D194F2-C08E-4257-A27C-9006BC5D4B19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6198AE6-73E1-43F9-92D5-9F9A68874BE1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8A940D8-035D-416B-A731-359B93D18BBD}"/>
              </a:ext>
            </a:extLst>
          </p:cNvPr>
          <p:cNvSpPr>
            <a:spLocks noGrp="1"/>
          </p:cNvSpPr>
          <p:nvPr/>
        </p:nvSpPr>
        <p:spPr>
          <a:xfrm>
            <a:off x="3114675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B324EE-1339-4726-A0E4-3A838A0461A9}"/>
              </a:ext>
            </a:extLst>
          </p:cNvPr>
          <p:cNvSpPr>
            <a:spLocks noGrp="1"/>
          </p:cNvSpPr>
          <p:nvPr/>
        </p:nvSpPr>
        <p:spPr>
          <a:xfrm>
            <a:off x="3209925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Notebook formula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C3F4AD-4091-41BF-A0E4-AC09B6A1749B}"/>
              </a:ext>
            </a:extLst>
          </p:cNvPr>
          <p:cNvSpPr>
            <a:spLocks noGrp="1"/>
          </p:cNvSpPr>
          <p:nvPr/>
        </p:nvSpPr>
        <p:spPr>
          <a:xfrm>
            <a:off x="5829300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0518E65-AB6B-428B-8396-6BE9BDC4127C}"/>
              </a:ext>
            </a:extLst>
          </p:cNvPr>
          <p:cNvSpPr>
            <a:spLocks noGrp="1"/>
          </p:cNvSpPr>
          <p:nvPr/>
        </p:nvSpPr>
        <p:spPr>
          <a:xfrm>
            <a:off x="5924550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5DEC44D-100F-4BF6-A26C-1035330FFA1D}"/>
              </a:ext>
            </a:extLst>
          </p:cNvPr>
          <p:cNvSpPr>
            <a:spLocks noGrp="1"/>
          </p:cNvSpPr>
          <p:nvPr/>
        </p:nvSpPr>
        <p:spPr>
          <a:xfrm>
            <a:off x="8543925" y="1762125"/>
            <a:ext cx="29622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0E733E4-D7BD-40FD-ABC7-3038C318EC9B}"/>
              </a:ext>
            </a:extLst>
          </p:cNvPr>
          <p:cNvSpPr>
            <a:spLocks noGrp="1"/>
          </p:cNvSpPr>
          <p:nvPr/>
        </p:nvSpPr>
        <p:spPr>
          <a:xfrm>
            <a:off x="8639175" y="1847850"/>
            <a:ext cx="27717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Production note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A00C6F3-3D0A-455C-B1AC-577F4C1CEAE0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24288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16FEB32-7CD1-431E-844C-2914D8B95663}"/>
              </a:ext>
            </a:extLst>
          </p:cNvPr>
          <p:cNvSpPr>
            <a:spLocks noGrp="1"/>
          </p:cNvSpPr>
          <p:nvPr/>
        </p:nvSpPr>
        <p:spPr>
          <a:xfrm>
            <a:off x="781050" y="258127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Failure rate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C7E806D-1ABA-47D0-ADCE-080B84BDA84F}"/>
              </a:ext>
            </a:extLst>
          </p:cNvPr>
          <p:cNvSpPr>
            <a:spLocks noGrp="1"/>
          </p:cNvSpPr>
          <p:nvPr/>
        </p:nvSpPr>
        <p:spPr>
          <a:xfrm>
            <a:off x="3114675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3BF2596-3DEB-4544-872B-B2D2C6852008}"/>
              </a:ext>
            </a:extLst>
          </p:cNvPr>
          <p:cNvSpPr>
            <a:spLocks noGrp="1"/>
          </p:cNvSpPr>
          <p:nvPr/>
        </p:nvSpPr>
        <p:spPr>
          <a:xfrm>
            <a:off x="3209925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failures / attempts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7DF6E07-BF30-4E1E-BAC4-61E81AFCB7F7}"/>
              </a:ext>
            </a:extLst>
          </p:cNvPr>
          <p:cNvSpPr>
            <a:spLocks noGrp="1"/>
          </p:cNvSpPr>
          <p:nvPr/>
        </p:nvSpPr>
        <p:spPr>
          <a:xfrm>
            <a:off x="5829300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607A81E-4C47-4EAE-9610-5530B65A7353}"/>
              </a:ext>
            </a:extLst>
          </p:cNvPr>
          <p:cNvSpPr>
            <a:spLocks noGrp="1"/>
          </p:cNvSpPr>
          <p:nvPr/>
        </p:nvSpPr>
        <p:spPr>
          <a:xfrm>
            <a:off x="5924550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Password guessing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F3E02E8-2B3E-4196-BF4B-95F7D5E6A7AC}"/>
              </a:ext>
            </a:extLst>
          </p:cNvPr>
          <p:cNvSpPr>
            <a:spLocks noGrp="1"/>
          </p:cNvSpPr>
          <p:nvPr/>
        </p:nvSpPr>
        <p:spPr>
          <a:xfrm>
            <a:off x="8543925" y="2505075"/>
            <a:ext cx="29622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290475C-8782-49B7-BEFD-7AEB0D9B3959}"/>
              </a:ext>
            </a:extLst>
          </p:cNvPr>
          <p:cNvSpPr>
            <a:spLocks noGrp="1"/>
          </p:cNvSpPr>
          <p:nvPr/>
        </p:nvSpPr>
        <p:spPr>
          <a:xfrm>
            <a:off x="8639175" y="258127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Tune by user and IP window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FFEF9AA-EFE6-46AB-9410-055A12E6B6FD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2428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444B64B-9C3F-4635-91BE-3D3614E21AA9}"/>
              </a:ext>
            </a:extLst>
          </p:cNvPr>
          <p:cNvSpPr>
            <a:spLocks noGrp="1"/>
          </p:cNvSpPr>
          <p:nvPr/>
        </p:nvSpPr>
        <p:spPr>
          <a:xfrm>
            <a:off x="781050" y="332422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False-positive check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E25DAF8-2E84-456D-9B18-1629419B54C3}"/>
              </a:ext>
            </a:extLst>
          </p:cNvPr>
          <p:cNvSpPr>
            <a:spLocks noGrp="1"/>
          </p:cNvSpPr>
          <p:nvPr/>
        </p:nvSpPr>
        <p:spPr>
          <a:xfrm>
            <a:off x="3114675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228A56A-EC77-4721-9262-EE4596FCF8AB}"/>
              </a:ext>
            </a:extLst>
          </p:cNvPr>
          <p:cNvSpPr>
            <a:spLocks noGrp="1"/>
          </p:cNvSpPr>
          <p:nvPr/>
        </p:nvSpPr>
        <p:spPr>
          <a:xfrm>
            <a:off x="3209925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Review alternatives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B2C1DFE-4350-4A1F-9FDD-0B7259FC3D54}"/>
              </a:ext>
            </a:extLst>
          </p:cNvPr>
          <p:cNvSpPr>
            <a:spLocks noGrp="1"/>
          </p:cNvSpPr>
          <p:nvPr/>
        </p:nvSpPr>
        <p:spPr>
          <a:xfrm>
            <a:off x="5829300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D9A3364-A193-4770-802B-97B3FDC9FAFB}"/>
              </a:ext>
            </a:extLst>
          </p:cNvPr>
          <p:cNvSpPr>
            <a:spLocks noGrp="1"/>
          </p:cNvSpPr>
          <p:nvPr/>
        </p:nvSpPr>
        <p:spPr>
          <a:xfrm>
            <a:off x="5924550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Avoid over-blocking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F1542F53-9672-4214-AEF0-CD07CEB1A197}"/>
              </a:ext>
            </a:extLst>
          </p:cNvPr>
          <p:cNvSpPr>
            <a:spLocks noGrp="1"/>
          </p:cNvSpPr>
          <p:nvPr/>
        </p:nvSpPr>
        <p:spPr>
          <a:xfrm>
            <a:off x="8543925" y="3248025"/>
            <a:ext cx="29622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AD63504-C361-4EBA-8B54-7CBA1518DCCB}"/>
              </a:ext>
            </a:extLst>
          </p:cNvPr>
          <p:cNvSpPr>
            <a:spLocks noGrp="1"/>
          </p:cNvSpPr>
          <p:nvPr/>
        </p:nvSpPr>
        <p:spPr>
          <a:xfrm>
            <a:off x="8639175" y="332422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Require analyst feedback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0EE5BF7-6669-4BB2-9108-55BAE562B7EB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7939F65-8CCF-4DE5-9519-6EBBF090DBF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F8C3465-9EAB-4E0E-B933-456952697435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7670420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464E00-A63B-44A1-8740-3AFA7DC94E8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594C78C-E252-40A2-AFE3-DDBD6DB39516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4C2BF35-30E6-442B-89A7-98E629B7115C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59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93AC96D-0300-4A5C-8DC8-C42E02A1B751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A14. Feature defense: IP velocity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9EDCEA-1C48-4812-A763-148066FF0725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Definition, rationale, and production hardening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8E8ABEF-BCC0-48BD-AF5B-4C2CFFDC9854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D9EF378-FD2F-44B3-8D1D-9BAEC1BB1A81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AF6B728-68BF-40E2-9518-1CF18C1CB9BD}"/>
              </a:ext>
            </a:extLst>
          </p:cNvPr>
          <p:cNvSpPr>
            <a:spLocks noGrp="1"/>
          </p:cNvSpPr>
          <p:nvPr/>
        </p:nvSpPr>
        <p:spPr>
          <a:xfrm>
            <a:off x="3114675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11F59A4-8AD6-4FAB-80E0-F71552A1BC5E}"/>
              </a:ext>
            </a:extLst>
          </p:cNvPr>
          <p:cNvSpPr>
            <a:spLocks noGrp="1"/>
          </p:cNvSpPr>
          <p:nvPr/>
        </p:nvSpPr>
        <p:spPr>
          <a:xfrm>
            <a:off x="3209925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Notebook formula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4B238BE-8BDC-47C0-BEC5-3BF9FD3A1D45}"/>
              </a:ext>
            </a:extLst>
          </p:cNvPr>
          <p:cNvSpPr>
            <a:spLocks noGrp="1"/>
          </p:cNvSpPr>
          <p:nvPr/>
        </p:nvSpPr>
        <p:spPr>
          <a:xfrm>
            <a:off x="5829300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B535A35-04A2-4608-9C26-D569152BDE6D}"/>
              </a:ext>
            </a:extLst>
          </p:cNvPr>
          <p:cNvSpPr>
            <a:spLocks noGrp="1"/>
          </p:cNvSpPr>
          <p:nvPr/>
        </p:nvSpPr>
        <p:spPr>
          <a:xfrm>
            <a:off x="5924550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8F4E25-4D40-4C54-B853-BFBA3B580A14}"/>
              </a:ext>
            </a:extLst>
          </p:cNvPr>
          <p:cNvSpPr>
            <a:spLocks noGrp="1"/>
          </p:cNvSpPr>
          <p:nvPr/>
        </p:nvSpPr>
        <p:spPr>
          <a:xfrm>
            <a:off x="8543925" y="1762125"/>
            <a:ext cx="29622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0DB15D7-ADA7-4B4A-8849-8D9AA6F7AE4D}"/>
              </a:ext>
            </a:extLst>
          </p:cNvPr>
          <p:cNvSpPr>
            <a:spLocks noGrp="1"/>
          </p:cNvSpPr>
          <p:nvPr/>
        </p:nvSpPr>
        <p:spPr>
          <a:xfrm>
            <a:off x="8639175" y="1847850"/>
            <a:ext cx="27717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Production note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01E4F73-1DD3-4F51-9DF3-EC557CFFAE4D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24288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B20E8C7-5C69-4FDB-A3DC-787DD2E49777}"/>
              </a:ext>
            </a:extLst>
          </p:cNvPr>
          <p:cNvSpPr>
            <a:spLocks noGrp="1"/>
          </p:cNvSpPr>
          <p:nvPr/>
        </p:nvSpPr>
        <p:spPr>
          <a:xfrm>
            <a:off x="781050" y="258127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IP velocity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23C486F-6CFA-41EE-8925-C4535DA1D988}"/>
              </a:ext>
            </a:extLst>
          </p:cNvPr>
          <p:cNvSpPr>
            <a:spLocks noGrp="1"/>
          </p:cNvSpPr>
          <p:nvPr/>
        </p:nvSpPr>
        <p:spPr>
          <a:xfrm>
            <a:off x="3114675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31EBD6B-8837-4F7A-8CA4-9A31C473A629}"/>
              </a:ext>
            </a:extLst>
          </p:cNvPr>
          <p:cNvSpPr>
            <a:spLocks noGrp="1"/>
          </p:cNvSpPr>
          <p:nvPr/>
        </p:nvSpPr>
        <p:spPr>
          <a:xfrm>
            <a:off x="3209925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unique IPs / attempts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8EC36AA-BAD8-453C-A9D6-3BD45E7B6BF7}"/>
              </a:ext>
            </a:extLst>
          </p:cNvPr>
          <p:cNvSpPr>
            <a:spLocks noGrp="1"/>
          </p:cNvSpPr>
          <p:nvPr/>
        </p:nvSpPr>
        <p:spPr>
          <a:xfrm>
            <a:off x="5829300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4D05B0F-C892-4EDC-9BC2-3EE3794FFE1E}"/>
              </a:ext>
            </a:extLst>
          </p:cNvPr>
          <p:cNvSpPr>
            <a:spLocks noGrp="1"/>
          </p:cNvSpPr>
          <p:nvPr/>
        </p:nvSpPr>
        <p:spPr>
          <a:xfrm>
            <a:off x="5924550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Proxy or botnet rotation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BEB0ACB-C337-4069-A323-55A90E50E404}"/>
              </a:ext>
            </a:extLst>
          </p:cNvPr>
          <p:cNvSpPr>
            <a:spLocks noGrp="1"/>
          </p:cNvSpPr>
          <p:nvPr/>
        </p:nvSpPr>
        <p:spPr>
          <a:xfrm>
            <a:off x="8543925" y="2505075"/>
            <a:ext cx="29622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99CEC31-1C00-496A-81E3-9F58CF2A27CD}"/>
              </a:ext>
            </a:extLst>
          </p:cNvPr>
          <p:cNvSpPr>
            <a:spLocks noGrp="1"/>
          </p:cNvSpPr>
          <p:nvPr/>
        </p:nvSpPr>
        <p:spPr>
          <a:xfrm>
            <a:off x="8639175" y="258127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Normalize by history and ASN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3A4E535-713A-4EA1-AC52-3DCE2EDF7C4D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2428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91EB3C2-2FC4-4C1D-969B-B59AB0E3F07A}"/>
              </a:ext>
            </a:extLst>
          </p:cNvPr>
          <p:cNvSpPr>
            <a:spLocks noGrp="1"/>
          </p:cNvSpPr>
          <p:nvPr/>
        </p:nvSpPr>
        <p:spPr>
          <a:xfrm>
            <a:off x="781050" y="332422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False-positive check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D5D0D22-D234-4C29-83AF-BCF2B95AE217}"/>
              </a:ext>
            </a:extLst>
          </p:cNvPr>
          <p:cNvSpPr>
            <a:spLocks noGrp="1"/>
          </p:cNvSpPr>
          <p:nvPr/>
        </p:nvSpPr>
        <p:spPr>
          <a:xfrm>
            <a:off x="3114675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D847416-D560-4696-8DD0-9A4692365495}"/>
              </a:ext>
            </a:extLst>
          </p:cNvPr>
          <p:cNvSpPr>
            <a:spLocks noGrp="1"/>
          </p:cNvSpPr>
          <p:nvPr/>
        </p:nvSpPr>
        <p:spPr>
          <a:xfrm>
            <a:off x="3209925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Review alternatives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5AA31BA-B69A-4AF9-98AE-777DE03B7184}"/>
              </a:ext>
            </a:extLst>
          </p:cNvPr>
          <p:cNvSpPr>
            <a:spLocks noGrp="1"/>
          </p:cNvSpPr>
          <p:nvPr/>
        </p:nvSpPr>
        <p:spPr>
          <a:xfrm>
            <a:off x="5829300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6F33485-3CC1-4A7E-8C38-44071422C672}"/>
              </a:ext>
            </a:extLst>
          </p:cNvPr>
          <p:cNvSpPr>
            <a:spLocks noGrp="1"/>
          </p:cNvSpPr>
          <p:nvPr/>
        </p:nvSpPr>
        <p:spPr>
          <a:xfrm>
            <a:off x="5924550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Avoid over-blocking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62F43C0-A11E-4ADA-A008-58EE1D488CCE}"/>
              </a:ext>
            </a:extLst>
          </p:cNvPr>
          <p:cNvSpPr>
            <a:spLocks noGrp="1"/>
          </p:cNvSpPr>
          <p:nvPr/>
        </p:nvSpPr>
        <p:spPr>
          <a:xfrm>
            <a:off x="8543925" y="3248025"/>
            <a:ext cx="29622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E97FC02-9C99-4C90-B57F-A5DDA9D74D33}"/>
              </a:ext>
            </a:extLst>
          </p:cNvPr>
          <p:cNvSpPr>
            <a:spLocks noGrp="1"/>
          </p:cNvSpPr>
          <p:nvPr/>
        </p:nvSpPr>
        <p:spPr>
          <a:xfrm>
            <a:off x="8639175" y="332422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Require analyst feedback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1030854-DF5A-4068-845D-0D916149298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B50CE72-BBE2-4AA7-A629-AE78CF51D2F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C7AC207-2EBF-497A-919E-8B68F0DB149F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4493533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1D65C4-5CB7-454A-B7EA-71AB0065627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E90700-E08F-47CB-924E-40D635218357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F7655A4-15C0-4BB0-88EE-5635B34D1622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60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47C1C69-4E46-4355-80CB-CD01099BE6BF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A15. Feature defense: Unique IP count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792316D-780A-498C-AA6A-E7B9533CD9D6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Definition, rationale, and production hardening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38B2C4-AF4B-472D-8E2E-B90E8E0F69F9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6B713D1-C298-4A42-940E-1C9917FFC163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0DE514-7CD0-4E38-8E01-5E99C4F7CF9F}"/>
              </a:ext>
            </a:extLst>
          </p:cNvPr>
          <p:cNvSpPr>
            <a:spLocks noGrp="1"/>
          </p:cNvSpPr>
          <p:nvPr/>
        </p:nvSpPr>
        <p:spPr>
          <a:xfrm>
            <a:off x="3114675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3B3B689-043C-4862-A12F-298782D5E186}"/>
              </a:ext>
            </a:extLst>
          </p:cNvPr>
          <p:cNvSpPr>
            <a:spLocks noGrp="1"/>
          </p:cNvSpPr>
          <p:nvPr/>
        </p:nvSpPr>
        <p:spPr>
          <a:xfrm>
            <a:off x="3209925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Notebook formula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26CF625-31AB-4CB5-8F6A-C062DEF3F8BC}"/>
              </a:ext>
            </a:extLst>
          </p:cNvPr>
          <p:cNvSpPr>
            <a:spLocks noGrp="1"/>
          </p:cNvSpPr>
          <p:nvPr/>
        </p:nvSpPr>
        <p:spPr>
          <a:xfrm>
            <a:off x="5829300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4569CCB-FC11-43ED-AF6B-D3A00DD46FFF}"/>
              </a:ext>
            </a:extLst>
          </p:cNvPr>
          <p:cNvSpPr>
            <a:spLocks noGrp="1"/>
          </p:cNvSpPr>
          <p:nvPr/>
        </p:nvSpPr>
        <p:spPr>
          <a:xfrm>
            <a:off x="5924550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1B2DACE-7765-4C74-8A22-568A8F76EEE1}"/>
              </a:ext>
            </a:extLst>
          </p:cNvPr>
          <p:cNvSpPr>
            <a:spLocks noGrp="1"/>
          </p:cNvSpPr>
          <p:nvPr/>
        </p:nvSpPr>
        <p:spPr>
          <a:xfrm>
            <a:off x="8543925" y="1762125"/>
            <a:ext cx="29622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33386C0-41D7-448F-A085-A28005B2AEDB}"/>
              </a:ext>
            </a:extLst>
          </p:cNvPr>
          <p:cNvSpPr>
            <a:spLocks noGrp="1"/>
          </p:cNvSpPr>
          <p:nvPr/>
        </p:nvSpPr>
        <p:spPr>
          <a:xfrm>
            <a:off x="8639175" y="1847850"/>
            <a:ext cx="27717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Production note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D0D5008-3C96-4C65-A32A-774059473309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24288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A81A420-4DA0-4B9A-BCFE-8D4D84E297D3}"/>
              </a:ext>
            </a:extLst>
          </p:cNvPr>
          <p:cNvSpPr>
            <a:spLocks noGrp="1"/>
          </p:cNvSpPr>
          <p:nvPr/>
        </p:nvSpPr>
        <p:spPr>
          <a:xfrm>
            <a:off x="781050" y="258127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Unique IP count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104B4C0-84B5-41FC-B4FD-0F284637D642}"/>
              </a:ext>
            </a:extLst>
          </p:cNvPr>
          <p:cNvSpPr>
            <a:spLocks noGrp="1"/>
          </p:cNvSpPr>
          <p:nvPr/>
        </p:nvSpPr>
        <p:spPr>
          <a:xfrm>
            <a:off x="3114675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DA5AB7E-695A-46DD-B896-DFD4F98FE446}"/>
              </a:ext>
            </a:extLst>
          </p:cNvPr>
          <p:cNvSpPr>
            <a:spLocks noGrp="1"/>
          </p:cNvSpPr>
          <p:nvPr/>
        </p:nvSpPr>
        <p:spPr>
          <a:xfrm>
            <a:off x="3209925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nunique(ip)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29F82C7-5314-4583-B75B-BF7C773DA6F1}"/>
              </a:ext>
            </a:extLst>
          </p:cNvPr>
          <p:cNvSpPr>
            <a:spLocks noGrp="1"/>
          </p:cNvSpPr>
          <p:nvPr/>
        </p:nvSpPr>
        <p:spPr>
          <a:xfrm>
            <a:off x="5829300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4A4EC5B-A875-4F4E-B81C-D9BF50DC52AF}"/>
              </a:ext>
            </a:extLst>
          </p:cNvPr>
          <p:cNvSpPr>
            <a:spLocks noGrp="1"/>
          </p:cNvSpPr>
          <p:nvPr/>
        </p:nvSpPr>
        <p:spPr>
          <a:xfrm>
            <a:off x="5924550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Wide source spread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64230F-5665-4011-9CAE-75CFB31584B0}"/>
              </a:ext>
            </a:extLst>
          </p:cNvPr>
          <p:cNvSpPr>
            <a:spLocks noGrp="1"/>
          </p:cNvSpPr>
          <p:nvPr/>
        </p:nvSpPr>
        <p:spPr>
          <a:xfrm>
            <a:off x="8543925" y="2505075"/>
            <a:ext cx="29622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D067F2A-5152-42C4-AF1F-68A41F8F671D}"/>
              </a:ext>
            </a:extLst>
          </p:cNvPr>
          <p:cNvSpPr>
            <a:spLocks noGrp="1"/>
          </p:cNvSpPr>
          <p:nvPr/>
        </p:nvSpPr>
        <p:spPr>
          <a:xfrm>
            <a:off x="8639175" y="258127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Normalize by active days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9D7AF0E-12BD-4EDD-9FCF-C7EA48F63096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2428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60432CD-328D-40FF-A3DD-74FD3AEAA53D}"/>
              </a:ext>
            </a:extLst>
          </p:cNvPr>
          <p:cNvSpPr>
            <a:spLocks noGrp="1"/>
          </p:cNvSpPr>
          <p:nvPr/>
        </p:nvSpPr>
        <p:spPr>
          <a:xfrm>
            <a:off x="781050" y="332422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False-positive check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72DAB15-0CB5-4D21-8FDE-0B0F8943DF94}"/>
              </a:ext>
            </a:extLst>
          </p:cNvPr>
          <p:cNvSpPr>
            <a:spLocks noGrp="1"/>
          </p:cNvSpPr>
          <p:nvPr/>
        </p:nvSpPr>
        <p:spPr>
          <a:xfrm>
            <a:off x="3114675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5EFCAF0-6BE2-4BBB-B159-1A11AF382B2D}"/>
              </a:ext>
            </a:extLst>
          </p:cNvPr>
          <p:cNvSpPr>
            <a:spLocks noGrp="1"/>
          </p:cNvSpPr>
          <p:nvPr/>
        </p:nvSpPr>
        <p:spPr>
          <a:xfrm>
            <a:off x="3209925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Review alternatives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F3917FB-3A5C-4BFE-BCFE-F78706F62FE0}"/>
              </a:ext>
            </a:extLst>
          </p:cNvPr>
          <p:cNvSpPr>
            <a:spLocks noGrp="1"/>
          </p:cNvSpPr>
          <p:nvPr/>
        </p:nvSpPr>
        <p:spPr>
          <a:xfrm>
            <a:off x="5829300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E94ADA7-22DB-49C9-BD99-6A48C4D44555}"/>
              </a:ext>
            </a:extLst>
          </p:cNvPr>
          <p:cNvSpPr>
            <a:spLocks noGrp="1"/>
          </p:cNvSpPr>
          <p:nvPr/>
        </p:nvSpPr>
        <p:spPr>
          <a:xfrm>
            <a:off x="5924550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Avoid over-blocking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6AF1448-CD7F-4B5E-A3F3-6A6521F87324}"/>
              </a:ext>
            </a:extLst>
          </p:cNvPr>
          <p:cNvSpPr>
            <a:spLocks noGrp="1"/>
          </p:cNvSpPr>
          <p:nvPr/>
        </p:nvSpPr>
        <p:spPr>
          <a:xfrm>
            <a:off x="8543925" y="3248025"/>
            <a:ext cx="29622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D4830B-AD1F-46FE-B407-CD80BE7B2E85}"/>
              </a:ext>
            </a:extLst>
          </p:cNvPr>
          <p:cNvSpPr>
            <a:spLocks noGrp="1"/>
          </p:cNvSpPr>
          <p:nvPr/>
        </p:nvSpPr>
        <p:spPr>
          <a:xfrm>
            <a:off x="8639175" y="332422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Require analyst feedback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90687AB-64D2-4D1D-B9AF-BE08526468B8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8052DF1-BBCA-4E27-8C1B-B6C1E6C0DF8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201343D-F511-4DF6-A091-A7280A9C8B95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0444357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932275E-371E-468E-8323-04A78264EB1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4C726BB-FAFB-44E1-860A-8C10C8986844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24C9BB0-0A80-4A54-967F-010B5C821206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61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85A8719-DC01-4E28-BBE1-F8DB39727143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A16. Feature defense: Attempt velocity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E3F755F-8519-4156-8678-0D4CEF421A5A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Definition, rationale, and production hardening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CDF76BB-D552-4706-BCDD-463FE1237AEA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F158D03-2132-4E6B-9E4B-DAF1AD5CE0C4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C171B86-D6CD-4CEE-B2FD-D54AD4702A02}"/>
              </a:ext>
            </a:extLst>
          </p:cNvPr>
          <p:cNvSpPr>
            <a:spLocks noGrp="1"/>
          </p:cNvSpPr>
          <p:nvPr/>
        </p:nvSpPr>
        <p:spPr>
          <a:xfrm>
            <a:off x="3114675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40AEA7F-38AF-48AD-A2DE-B0767DAB6136}"/>
              </a:ext>
            </a:extLst>
          </p:cNvPr>
          <p:cNvSpPr>
            <a:spLocks noGrp="1"/>
          </p:cNvSpPr>
          <p:nvPr/>
        </p:nvSpPr>
        <p:spPr>
          <a:xfrm>
            <a:off x="3209925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Notebook formula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AB3529A-F518-4DB4-889D-683429719C84}"/>
              </a:ext>
            </a:extLst>
          </p:cNvPr>
          <p:cNvSpPr>
            <a:spLocks noGrp="1"/>
          </p:cNvSpPr>
          <p:nvPr/>
        </p:nvSpPr>
        <p:spPr>
          <a:xfrm>
            <a:off x="5829300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F169D3B-0D02-4E55-9622-9CACD186895B}"/>
              </a:ext>
            </a:extLst>
          </p:cNvPr>
          <p:cNvSpPr>
            <a:spLocks noGrp="1"/>
          </p:cNvSpPr>
          <p:nvPr/>
        </p:nvSpPr>
        <p:spPr>
          <a:xfrm>
            <a:off x="5924550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9EBF4EF-7366-48CC-8B8A-0B9E6E951D8F}"/>
              </a:ext>
            </a:extLst>
          </p:cNvPr>
          <p:cNvSpPr>
            <a:spLocks noGrp="1"/>
          </p:cNvSpPr>
          <p:nvPr/>
        </p:nvSpPr>
        <p:spPr>
          <a:xfrm>
            <a:off x="8543925" y="1762125"/>
            <a:ext cx="29622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6E8F4DF-709F-41EF-8C9D-D81F38F4C57D}"/>
              </a:ext>
            </a:extLst>
          </p:cNvPr>
          <p:cNvSpPr>
            <a:spLocks noGrp="1"/>
          </p:cNvSpPr>
          <p:nvPr/>
        </p:nvSpPr>
        <p:spPr>
          <a:xfrm>
            <a:off x="8639175" y="1847850"/>
            <a:ext cx="27717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Production note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1ED984B-0E20-433D-AEBA-537496E9EB6E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24288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3C14FD8-6AF3-4D38-BC1B-6E173912BA19}"/>
              </a:ext>
            </a:extLst>
          </p:cNvPr>
          <p:cNvSpPr>
            <a:spLocks noGrp="1"/>
          </p:cNvSpPr>
          <p:nvPr/>
        </p:nvSpPr>
        <p:spPr>
          <a:xfrm>
            <a:off x="781050" y="258127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Attempt velocity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827F154-B3DD-4AA1-BFED-7E8B6CCFD787}"/>
              </a:ext>
            </a:extLst>
          </p:cNvPr>
          <p:cNvSpPr>
            <a:spLocks noGrp="1"/>
          </p:cNvSpPr>
          <p:nvPr/>
        </p:nvSpPr>
        <p:spPr>
          <a:xfrm>
            <a:off x="3114675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89E4FBD-CD7E-4E48-8158-7821F65AF8FF}"/>
              </a:ext>
            </a:extLst>
          </p:cNvPr>
          <p:cNvSpPr>
            <a:spLocks noGrp="1"/>
          </p:cNvSpPr>
          <p:nvPr/>
        </p:nvSpPr>
        <p:spPr>
          <a:xfrm>
            <a:off x="3209925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count / time bucket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56F554C-487F-462A-B014-0E431CA66AF0}"/>
              </a:ext>
            </a:extLst>
          </p:cNvPr>
          <p:cNvSpPr>
            <a:spLocks noGrp="1"/>
          </p:cNvSpPr>
          <p:nvPr/>
        </p:nvSpPr>
        <p:spPr>
          <a:xfrm>
            <a:off x="5829300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5588F74-3FB9-4F40-97C4-A40ABAD44616}"/>
              </a:ext>
            </a:extLst>
          </p:cNvPr>
          <p:cNvSpPr>
            <a:spLocks noGrp="1"/>
          </p:cNvSpPr>
          <p:nvPr/>
        </p:nvSpPr>
        <p:spPr>
          <a:xfrm>
            <a:off x="5924550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Automation burst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132BFE5-7A1D-4FFD-93F0-B093B2F9ED77}"/>
              </a:ext>
            </a:extLst>
          </p:cNvPr>
          <p:cNvSpPr>
            <a:spLocks noGrp="1"/>
          </p:cNvSpPr>
          <p:nvPr/>
        </p:nvSpPr>
        <p:spPr>
          <a:xfrm>
            <a:off x="8543925" y="2505075"/>
            <a:ext cx="29622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00DAD44-27A2-49FD-B4FE-7E070B76CAE7}"/>
              </a:ext>
            </a:extLst>
          </p:cNvPr>
          <p:cNvSpPr>
            <a:spLocks noGrp="1"/>
          </p:cNvSpPr>
          <p:nvPr/>
        </p:nvSpPr>
        <p:spPr>
          <a:xfrm>
            <a:off x="8639175" y="258127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Deduplicate event IDs first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D001CF6-F360-495D-9420-0FB561E96402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2428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F880330-990C-48A2-9B92-9F2066A5ED6F}"/>
              </a:ext>
            </a:extLst>
          </p:cNvPr>
          <p:cNvSpPr>
            <a:spLocks noGrp="1"/>
          </p:cNvSpPr>
          <p:nvPr/>
        </p:nvSpPr>
        <p:spPr>
          <a:xfrm>
            <a:off x="781050" y="332422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False-positive check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871E746-66D9-4FBD-B3B9-7F7402DE43F5}"/>
              </a:ext>
            </a:extLst>
          </p:cNvPr>
          <p:cNvSpPr>
            <a:spLocks noGrp="1"/>
          </p:cNvSpPr>
          <p:nvPr/>
        </p:nvSpPr>
        <p:spPr>
          <a:xfrm>
            <a:off x="3114675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AC2A513-EAC8-4EB7-A226-20C06004E0A0}"/>
              </a:ext>
            </a:extLst>
          </p:cNvPr>
          <p:cNvSpPr>
            <a:spLocks noGrp="1"/>
          </p:cNvSpPr>
          <p:nvPr/>
        </p:nvSpPr>
        <p:spPr>
          <a:xfrm>
            <a:off x="3209925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Review alternatives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411BF3D-2359-49AB-8E60-7BFD7C681594}"/>
              </a:ext>
            </a:extLst>
          </p:cNvPr>
          <p:cNvSpPr>
            <a:spLocks noGrp="1"/>
          </p:cNvSpPr>
          <p:nvPr/>
        </p:nvSpPr>
        <p:spPr>
          <a:xfrm>
            <a:off x="5829300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348D0BA-E392-4C1D-B9A0-A26346911B61}"/>
              </a:ext>
            </a:extLst>
          </p:cNvPr>
          <p:cNvSpPr>
            <a:spLocks noGrp="1"/>
          </p:cNvSpPr>
          <p:nvPr/>
        </p:nvSpPr>
        <p:spPr>
          <a:xfrm>
            <a:off x="5924550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Avoid over-blocking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4D458EE-8D94-483B-8929-AC5276D76412}"/>
              </a:ext>
            </a:extLst>
          </p:cNvPr>
          <p:cNvSpPr>
            <a:spLocks noGrp="1"/>
          </p:cNvSpPr>
          <p:nvPr/>
        </p:nvSpPr>
        <p:spPr>
          <a:xfrm>
            <a:off x="8543925" y="3248025"/>
            <a:ext cx="29622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B334987-43BB-413B-ABB5-FE906F6E2D53}"/>
              </a:ext>
            </a:extLst>
          </p:cNvPr>
          <p:cNvSpPr>
            <a:spLocks noGrp="1"/>
          </p:cNvSpPr>
          <p:nvPr/>
        </p:nvSpPr>
        <p:spPr>
          <a:xfrm>
            <a:off x="8639175" y="332422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Require analyst feedback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A5482C0-2E5C-466A-A533-71220371ACCA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15518DD-50A7-4CF7-8BDA-51FC2F4C65B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589FD0B-F9C3-4E0E-8A90-D844EA2CD4D8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6541049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2001031-72B5-4590-A63C-7F7B1929BEC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27CF924-78FB-4A70-80DD-A7347C1771BD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FAC1C7B-20FD-4F0C-A27E-65E2BD2FD466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62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19AF16D-1738-4905-B407-4C25C3C73A4E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A17. Feature defense: Off-hours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1E3241A-0FCA-4E08-AE7B-EDDC3B676F70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Definition, rationale, and production hardening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FFC6115-7AD8-42A2-BB31-33398FFE3A49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56E200C-7FA6-4445-9240-BB94FE8E1FA0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6AF78DB-6BC3-40C3-A651-08B48AFE144A}"/>
              </a:ext>
            </a:extLst>
          </p:cNvPr>
          <p:cNvSpPr>
            <a:spLocks noGrp="1"/>
          </p:cNvSpPr>
          <p:nvPr/>
        </p:nvSpPr>
        <p:spPr>
          <a:xfrm>
            <a:off x="3114675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95DC4B2-1DAC-4631-95E1-7485FE28CC50}"/>
              </a:ext>
            </a:extLst>
          </p:cNvPr>
          <p:cNvSpPr>
            <a:spLocks noGrp="1"/>
          </p:cNvSpPr>
          <p:nvPr/>
        </p:nvSpPr>
        <p:spPr>
          <a:xfrm>
            <a:off x="3209925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Notebook formula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83B085F-0F67-4E76-9614-3C9124DB91B7}"/>
              </a:ext>
            </a:extLst>
          </p:cNvPr>
          <p:cNvSpPr>
            <a:spLocks noGrp="1"/>
          </p:cNvSpPr>
          <p:nvPr/>
        </p:nvSpPr>
        <p:spPr>
          <a:xfrm>
            <a:off x="5829300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CA5A63-5F1D-4F83-963D-CA4697040CEE}"/>
              </a:ext>
            </a:extLst>
          </p:cNvPr>
          <p:cNvSpPr>
            <a:spLocks noGrp="1"/>
          </p:cNvSpPr>
          <p:nvPr/>
        </p:nvSpPr>
        <p:spPr>
          <a:xfrm>
            <a:off x="5924550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995EAE6-7F03-4D1E-A6B6-B07C05EF5DAA}"/>
              </a:ext>
            </a:extLst>
          </p:cNvPr>
          <p:cNvSpPr>
            <a:spLocks noGrp="1"/>
          </p:cNvSpPr>
          <p:nvPr/>
        </p:nvSpPr>
        <p:spPr>
          <a:xfrm>
            <a:off x="8543925" y="1762125"/>
            <a:ext cx="29622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4735FC4-A559-4CDC-9BC5-280A84D199C6}"/>
              </a:ext>
            </a:extLst>
          </p:cNvPr>
          <p:cNvSpPr>
            <a:spLocks noGrp="1"/>
          </p:cNvSpPr>
          <p:nvPr/>
        </p:nvSpPr>
        <p:spPr>
          <a:xfrm>
            <a:off x="8639175" y="1847850"/>
            <a:ext cx="27717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Production note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4D85C1F-C90D-4837-8FC4-8EA3A064ED47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24288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3E14429-CC97-4731-97C1-F6932C9CF46A}"/>
              </a:ext>
            </a:extLst>
          </p:cNvPr>
          <p:cNvSpPr>
            <a:spLocks noGrp="1"/>
          </p:cNvSpPr>
          <p:nvPr/>
        </p:nvSpPr>
        <p:spPr>
          <a:xfrm>
            <a:off x="781050" y="258127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Off-hours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12D52FB-50BA-4FE8-85F8-EA58C523E1C1}"/>
              </a:ext>
            </a:extLst>
          </p:cNvPr>
          <p:cNvSpPr>
            <a:spLocks noGrp="1"/>
          </p:cNvSpPr>
          <p:nvPr/>
        </p:nvSpPr>
        <p:spPr>
          <a:xfrm>
            <a:off x="3114675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A220043-F0E0-4C10-B735-7EF8269C925A}"/>
              </a:ext>
            </a:extLst>
          </p:cNvPr>
          <p:cNvSpPr>
            <a:spLocks noGrp="1"/>
          </p:cNvSpPr>
          <p:nvPr/>
        </p:nvSpPr>
        <p:spPr>
          <a:xfrm>
            <a:off x="3209925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hour outside profile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1EB7D57-972A-4A28-A4E4-5F1B101CA923}"/>
              </a:ext>
            </a:extLst>
          </p:cNvPr>
          <p:cNvSpPr>
            <a:spLocks noGrp="1"/>
          </p:cNvSpPr>
          <p:nvPr/>
        </p:nvSpPr>
        <p:spPr>
          <a:xfrm>
            <a:off x="5829300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8DE389C-9C71-4BF2-AAD7-7FB506BA6A7C}"/>
              </a:ext>
            </a:extLst>
          </p:cNvPr>
          <p:cNvSpPr>
            <a:spLocks noGrp="1"/>
          </p:cNvSpPr>
          <p:nvPr/>
        </p:nvSpPr>
        <p:spPr>
          <a:xfrm>
            <a:off x="5924550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Timezone or compromise clue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A7A9B5C-5C00-482D-AE40-DCE085BDE1A8}"/>
              </a:ext>
            </a:extLst>
          </p:cNvPr>
          <p:cNvSpPr>
            <a:spLocks noGrp="1"/>
          </p:cNvSpPr>
          <p:nvPr/>
        </p:nvSpPr>
        <p:spPr>
          <a:xfrm>
            <a:off x="8543925" y="2505075"/>
            <a:ext cx="29622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30E75DF-A946-4191-B14B-4643A1A86C56}"/>
              </a:ext>
            </a:extLst>
          </p:cNvPr>
          <p:cNvSpPr>
            <a:spLocks noGrp="1"/>
          </p:cNvSpPr>
          <p:nvPr/>
        </p:nvSpPr>
        <p:spPr>
          <a:xfrm>
            <a:off x="8639175" y="258127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Combine with novelty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BB5D4ED-0B01-4C07-A444-5AD14AEFCD90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2428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5CBA8F2-4C2F-469D-8078-71BC901AC9C0}"/>
              </a:ext>
            </a:extLst>
          </p:cNvPr>
          <p:cNvSpPr>
            <a:spLocks noGrp="1"/>
          </p:cNvSpPr>
          <p:nvPr/>
        </p:nvSpPr>
        <p:spPr>
          <a:xfrm>
            <a:off x="781050" y="332422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False-positive check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0789B97-46EF-47ED-93FA-9C55F8C6AA1A}"/>
              </a:ext>
            </a:extLst>
          </p:cNvPr>
          <p:cNvSpPr>
            <a:spLocks noGrp="1"/>
          </p:cNvSpPr>
          <p:nvPr/>
        </p:nvSpPr>
        <p:spPr>
          <a:xfrm>
            <a:off x="3114675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D6F42C9-5719-468C-9B19-A0F58D65B4F1}"/>
              </a:ext>
            </a:extLst>
          </p:cNvPr>
          <p:cNvSpPr>
            <a:spLocks noGrp="1"/>
          </p:cNvSpPr>
          <p:nvPr/>
        </p:nvSpPr>
        <p:spPr>
          <a:xfrm>
            <a:off x="3209925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Review alternatives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289D26B-EF45-449A-95C6-92E290045B23}"/>
              </a:ext>
            </a:extLst>
          </p:cNvPr>
          <p:cNvSpPr>
            <a:spLocks noGrp="1"/>
          </p:cNvSpPr>
          <p:nvPr/>
        </p:nvSpPr>
        <p:spPr>
          <a:xfrm>
            <a:off x="5829300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61254A9-D258-4944-B9ED-3C2F796812D0}"/>
              </a:ext>
            </a:extLst>
          </p:cNvPr>
          <p:cNvSpPr>
            <a:spLocks noGrp="1"/>
          </p:cNvSpPr>
          <p:nvPr/>
        </p:nvSpPr>
        <p:spPr>
          <a:xfrm>
            <a:off x="5924550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Avoid over-blocking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5B560CE-3BD4-498F-A226-B704628B87AB}"/>
              </a:ext>
            </a:extLst>
          </p:cNvPr>
          <p:cNvSpPr>
            <a:spLocks noGrp="1"/>
          </p:cNvSpPr>
          <p:nvPr/>
        </p:nvSpPr>
        <p:spPr>
          <a:xfrm>
            <a:off x="8543925" y="3248025"/>
            <a:ext cx="29622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F73E471-1A9A-42C8-94D6-3AC0D7F78F38}"/>
              </a:ext>
            </a:extLst>
          </p:cNvPr>
          <p:cNvSpPr>
            <a:spLocks noGrp="1"/>
          </p:cNvSpPr>
          <p:nvPr/>
        </p:nvSpPr>
        <p:spPr>
          <a:xfrm>
            <a:off x="8639175" y="332422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Require analyst feedback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2FE1656-F3D0-499B-84C0-05DEE07E3DD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4396957-7943-436C-9CDF-A54E5F454F8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E3EF83E-F6EC-4CA2-B9D4-3A3E643B60FE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296367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63B8F48-6510-4218-A0DE-95FAA077E6F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1123DFA-8EB4-40BF-B850-18577A4A876A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A3D723E-07AB-4BCC-9820-BB91CC280420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63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280E990-B268-411E-B1BC-5BC3C69BFD94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A18. Feature defense: Daily baseline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922F7C9-896F-4B19-8847-C73E90910322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Definition, rationale, and production hardening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D0C812-C612-43A2-87D0-91EA8DCC8D95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18827FE-8C79-4A76-BEAA-D25B465841EA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740F22C-F81D-45F5-97DF-BCDBE761591D}"/>
              </a:ext>
            </a:extLst>
          </p:cNvPr>
          <p:cNvSpPr>
            <a:spLocks noGrp="1"/>
          </p:cNvSpPr>
          <p:nvPr/>
        </p:nvSpPr>
        <p:spPr>
          <a:xfrm>
            <a:off x="3114675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A2CB15F-745E-4D00-AA34-1A5760BF9658}"/>
              </a:ext>
            </a:extLst>
          </p:cNvPr>
          <p:cNvSpPr>
            <a:spLocks noGrp="1"/>
          </p:cNvSpPr>
          <p:nvPr/>
        </p:nvSpPr>
        <p:spPr>
          <a:xfrm>
            <a:off x="3209925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Notebook formula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88E7EAF-03AD-40CE-AA28-ACC58ECD91CB}"/>
              </a:ext>
            </a:extLst>
          </p:cNvPr>
          <p:cNvSpPr>
            <a:spLocks noGrp="1"/>
          </p:cNvSpPr>
          <p:nvPr/>
        </p:nvSpPr>
        <p:spPr>
          <a:xfrm>
            <a:off x="5829300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4DC0515-C715-42B4-BDAF-67A85C647C7B}"/>
              </a:ext>
            </a:extLst>
          </p:cNvPr>
          <p:cNvSpPr>
            <a:spLocks noGrp="1"/>
          </p:cNvSpPr>
          <p:nvPr/>
        </p:nvSpPr>
        <p:spPr>
          <a:xfrm>
            <a:off x="5924550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2800C52-0600-4235-ABD9-EDFA2FF40F2C}"/>
              </a:ext>
            </a:extLst>
          </p:cNvPr>
          <p:cNvSpPr>
            <a:spLocks noGrp="1"/>
          </p:cNvSpPr>
          <p:nvPr/>
        </p:nvSpPr>
        <p:spPr>
          <a:xfrm>
            <a:off x="8543925" y="1762125"/>
            <a:ext cx="29622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A9E6625-1C15-45F6-9E54-A2EA64776416}"/>
              </a:ext>
            </a:extLst>
          </p:cNvPr>
          <p:cNvSpPr>
            <a:spLocks noGrp="1"/>
          </p:cNvSpPr>
          <p:nvPr/>
        </p:nvSpPr>
        <p:spPr>
          <a:xfrm>
            <a:off x="8639175" y="1847850"/>
            <a:ext cx="27717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Production note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DBEAACD-E584-468E-A89B-668D32D94487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24288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FCF11D9-A34F-4B87-A951-DADB6985A9EA}"/>
              </a:ext>
            </a:extLst>
          </p:cNvPr>
          <p:cNvSpPr>
            <a:spLocks noGrp="1"/>
          </p:cNvSpPr>
          <p:nvPr/>
        </p:nvSpPr>
        <p:spPr>
          <a:xfrm>
            <a:off x="781050" y="258127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Daily baseline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24E1B13-92E6-48C6-8AA4-30ACDDED8273}"/>
              </a:ext>
            </a:extLst>
          </p:cNvPr>
          <p:cNvSpPr>
            <a:spLocks noGrp="1"/>
          </p:cNvSpPr>
          <p:nvPr/>
        </p:nvSpPr>
        <p:spPr>
          <a:xfrm>
            <a:off x="3114675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0555D44-6374-431C-BC74-5BE3B31E5C53}"/>
              </a:ext>
            </a:extLst>
          </p:cNvPr>
          <p:cNvSpPr>
            <a:spLocks noGrp="1"/>
          </p:cNvSpPr>
          <p:nvPr/>
        </p:nvSpPr>
        <p:spPr>
          <a:xfrm>
            <a:off x="3209925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rolling daily metrics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6A6D89E-AB06-4100-A8A5-B4ED7F9F7814}"/>
              </a:ext>
            </a:extLst>
          </p:cNvPr>
          <p:cNvSpPr>
            <a:spLocks noGrp="1"/>
          </p:cNvSpPr>
          <p:nvPr/>
        </p:nvSpPr>
        <p:spPr>
          <a:xfrm>
            <a:off x="5829300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995077E-A56B-41CC-BA3E-39B73263FEFA}"/>
              </a:ext>
            </a:extLst>
          </p:cNvPr>
          <p:cNvSpPr>
            <a:spLocks noGrp="1"/>
          </p:cNvSpPr>
          <p:nvPr/>
        </p:nvSpPr>
        <p:spPr>
          <a:xfrm>
            <a:off x="5924550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System-level anomaly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DFBE690-F811-46B8-AFF1-7574D43971F4}"/>
              </a:ext>
            </a:extLst>
          </p:cNvPr>
          <p:cNvSpPr>
            <a:spLocks noGrp="1"/>
          </p:cNvSpPr>
          <p:nvPr/>
        </p:nvSpPr>
        <p:spPr>
          <a:xfrm>
            <a:off x="8543925" y="2505075"/>
            <a:ext cx="29622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B27E2B9-06DB-4B34-A6D1-ABEC88E6675B}"/>
              </a:ext>
            </a:extLst>
          </p:cNvPr>
          <p:cNvSpPr>
            <a:spLocks noGrp="1"/>
          </p:cNvSpPr>
          <p:nvPr/>
        </p:nvSpPr>
        <p:spPr>
          <a:xfrm>
            <a:off x="8639175" y="258127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Seasonality-aware windows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4D3F0EE-F158-4F5E-A42E-605732F7F1F3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2428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D8739C1-902D-425F-B7A9-31BFE3922AD3}"/>
              </a:ext>
            </a:extLst>
          </p:cNvPr>
          <p:cNvSpPr>
            <a:spLocks noGrp="1"/>
          </p:cNvSpPr>
          <p:nvPr/>
        </p:nvSpPr>
        <p:spPr>
          <a:xfrm>
            <a:off x="781050" y="332422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False-positive check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E4E9B61-A064-4E67-8583-C937B64174EE}"/>
              </a:ext>
            </a:extLst>
          </p:cNvPr>
          <p:cNvSpPr>
            <a:spLocks noGrp="1"/>
          </p:cNvSpPr>
          <p:nvPr/>
        </p:nvSpPr>
        <p:spPr>
          <a:xfrm>
            <a:off x="3114675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9C844EF-A90E-46EF-A48E-5CB6C3194920}"/>
              </a:ext>
            </a:extLst>
          </p:cNvPr>
          <p:cNvSpPr>
            <a:spLocks noGrp="1"/>
          </p:cNvSpPr>
          <p:nvPr/>
        </p:nvSpPr>
        <p:spPr>
          <a:xfrm>
            <a:off x="3209925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Review alternatives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B109B6F-170C-46F1-9A49-2DD630D34E41}"/>
              </a:ext>
            </a:extLst>
          </p:cNvPr>
          <p:cNvSpPr>
            <a:spLocks noGrp="1"/>
          </p:cNvSpPr>
          <p:nvPr/>
        </p:nvSpPr>
        <p:spPr>
          <a:xfrm>
            <a:off x="5829300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7249E25-6ABA-4788-8DEB-FFCB45F8D68C}"/>
              </a:ext>
            </a:extLst>
          </p:cNvPr>
          <p:cNvSpPr>
            <a:spLocks noGrp="1"/>
          </p:cNvSpPr>
          <p:nvPr/>
        </p:nvSpPr>
        <p:spPr>
          <a:xfrm>
            <a:off x="5924550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Avoid over-blocking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D863F34-23CE-4C43-8CE4-8D36F0C86D62}"/>
              </a:ext>
            </a:extLst>
          </p:cNvPr>
          <p:cNvSpPr>
            <a:spLocks noGrp="1"/>
          </p:cNvSpPr>
          <p:nvPr/>
        </p:nvSpPr>
        <p:spPr>
          <a:xfrm>
            <a:off x="8543925" y="3248025"/>
            <a:ext cx="29622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F46AC14-3CCE-4C5F-9B06-0798ED53AA27}"/>
              </a:ext>
            </a:extLst>
          </p:cNvPr>
          <p:cNvSpPr>
            <a:spLocks noGrp="1"/>
          </p:cNvSpPr>
          <p:nvPr/>
        </p:nvSpPr>
        <p:spPr>
          <a:xfrm>
            <a:off x="8639175" y="332422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Require analyst feedback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96A6F5E-F2FC-408B-90FB-B8BD8583E79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3C6E5FA2-13C6-489B-B8EC-427B39022D2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7CA9BA6-1C1F-4CCA-BEF8-FBE299EAFBBC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2410055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FB4B620-6F4D-422B-B1F5-58F54875DF4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3E31AD-0A47-4FAA-8015-12B3677D8C29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513649-DFBD-4E66-B9D0-7B602760CC77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64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4A3DC22-BA18-4002-9303-B6D932BBB976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A19. Feature defense: Composite risk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2713478-0FB3-4417-8554-FDF3D8575136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Definition, rationale, and production hardening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D7F2B51-FA0E-4F0F-93A4-34BFA66C3984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CFF665C-3364-4C2C-8B1E-62E829D023D5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62FC8C2-DDD5-4C42-A72B-16A30131637B}"/>
              </a:ext>
            </a:extLst>
          </p:cNvPr>
          <p:cNvSpPr>
            <a:spLocks noGrp="1"/>
          </p:cNvSpPr>
          <p:nvPr/>
        </p:nvSpPr>
        <p:spPr>
          <a:xfrm>
            <a:off x="3114675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CC732EE-163F-4108-AFC7-87845D7C7B69}"/>
              </a:ext>
            </a:extLst>
          </p:cNvPr>
          <p:cNvSpPr>
            <a:spLocks noGrp="1"/>
          </p:cNvSpPr>
          <p:nvPr/>
        </p:nvSpPr>
        <p:spPr>
          <a:xfrm>
            <a:off x="3209925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Notebook formula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7E35C9A-B3DD-4378-A1D2-8C7E826A5567}"/>
              </a:ext>
            </a:extLst>
          </p:cNvPr>
          <p:cNvSpPr>
            <a:spLocks noGrp="1"/>
          </p:cNvSpPr>
          <p:nvPr/>
        </p:nvSpPr>
        <p:spPr>
          <a:xfrm>
            <a:off x="5829300" y="1762125"/>
            <a:ext cx="271462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C591D22-5688-49C8-A8BC-152A7EE3ACB9}"/>
              </a:ext>
            </a:extLst>
          </p:cNvPr>
          <p:cNvSpPr>
            <a:spLocks noGrp="1"/>
          </p:cNvSpPr>
          <p:nvPr/>
        </p:nvSpPr>
        <p:spPr>
          <a:xfrm>
            <a:off x="5924550" y="1847850"/>
            <a:ext cx="252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3D2C720-C898-447C-9862-B1B9B1D513BB}"/>
              </a:ext>
            </a:extLst>
          </p:cNvPr>
          <p:cNvSpPr>
            <a:spLocks noGrp="1"/>
          </p:cNvSpPr>
          <p:nvPr/>
        </p:nvSpPr>
        <p:spPr>
          <a:xfrm>
            <a:off x="8543925" y="1762125"/>
            <a:ext cx="2962275" cy="7429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107CDCC-29D3-4198-978A-ACB53C6FC5C2}"/>
              </a:ext>
            </a:extLst>
          </p:cNvPr>
          <p:cNvSpPr>
            <a:spLocks noGrp="1"/>
          </p:cNvSpPr>
          <p:nvPr/>
        </p:nvSpPr>
        <p:spPr>
          <a:xfrm>
            <a:off x="8639175" y="1847850"/>
            <a:ext cx="27717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Production note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8F9680C-3F57-46C3-B0A1-EE7CF27158F3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24288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12F7BF6-92D6-4AAE-965C-4938952BE381}"/>
              </a:ext>
            </a:extLst>
          </p:cNvPr>
          <p:cNvSpPr>
            <a:spLocks noGrp="1"/>
          </p:cNvSpPr>
          <p:nvPr/>
        </p:nvSpPr>
        <p:spPr>
          <a:xfrm>
            <a:off x="781050" y="258127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Composite risk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58E7B63-4CDA-4743-99FA-7D308C5A6112}"/>
              </a:ext>
            </a:extLst>
          </p:cNvPr>
          <p:cNvSpPr>
            <a:spLocks noGrp="1"/>
          </p:cNvSpPr>
          <p:nvPr/>
        </p:nvSpPr>
        <p:spPr>
          <a:xfrm>
            <a:off x="3114675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BB8869A-F574-4BFF-9CFC-23217178AE94}"/>
              </a:ext>
            </a:extLst>
          </p:cNvPr>
          <p:cNvSpPr>
            <a:spLocks noGrp="1"/>
          </p:cNvSpPr>
          <p:nvPr/>
        </p:nvSpPr>
        <p:spPr>
          <a:xfrm>
            <a:off x="3209925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weighted features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6F82761-532B-4534-BD5A-4AA3ADAC5A36}"/>
              </a:ext>
            </a:extLst>
          </p:cNvPr>
          <p:cNvSpPr>
            <a:spLocks noGrp="1"/>
          </p:cNvSpPr>
          <p:nvPr/>
        </p:nvSpPr>
        <p:spPr>
          <a:xfrm>
            <a:off x="5829300" y="2505075"/>
            <a:ext cx="271462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E91F26A-FEDE-4AA4-8985-0F80EEF0DE71}"/>
              </a:ext>
            </a:extLst>
          </p:cNvPr>
          <p:cNvSpPr>
            <a:spLocks noGrp="1"/>
          </p:cNvSpPr>
          <p:nvPr/>
        </p:nvSpPr>
        <p:spPr>
          <a:xfrm>
            <a:off x="5924550" y="258127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SOC prioritization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A1755C7-5309-4BE4-A7F6-3013A2BB0B25}"/>
              </a:ext>
            </a:extLst>
          </p:cNvPr>
          <p:cNvSpPr>
            <a:spLocks noGrp="1"/>
          </p:cNvSpPr>
          <p:nvPr/>
        </p:nvSpPr>
        <p:spPr>
          <a:xfrm>
            <a:off x="8543925" y="2505075"/>
            <a:ext cx="2962275" cy="7429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E3DC629-EC7D-40F8-8C76-A897A1462E62}"/>
              </a:ext>
            </a:extLst>
          </p:cNvPr>
          <p:cNvSpPr>
            <a:spLocks noGrp="1"/>
          </p:cNvSpPr>
          <p:nvPr/>
        </p:nvSpPr>
        <p:spPr>
          <a:xfrm>
            <a:off x="8639175" y="258127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Calibrate with feedback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549547C-64A1-4005-A406-A32A030F6804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2428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26047DE-4EED-4B1C-AD0F-D9A7A5624405}"/>
              </a:ext>
            </a:extLst>
          </p:cNvPr>
          <p:cNvSpPr>
            <a:spLocks noGrp="1"/>
          </p:cNvSpPr>
          <p:nvPr/>
        </p:nvSpPr>
        <p:spPr>
          <a:xfrm>
            <a:off x="781050" y="3324225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A2A2A"/>
                </a:solidFill>
              </a:defRPr>
            </a:pPr>
            <a:r>
              <a:rPr sz="1200" b="1">
                <a:solidFill>
                  <a:srgbClr val="2A2A2A"/>
                </a:solidFill>
              </a:rPr>
              <a:t>False-positive check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BB08385-05D7-443D-9435-EF4C255EFE6F}"/>
              </a:ext>
            </a:extLst>
          </p:cNvPr>
          <p:cNvSpPr>
            <a:spLocks noGrp="1"/>
          </p:cNvSpPr>
          <p:nvPr/>
        </p:nvSpPr>
        <p:spPr>
          <a:xfrm>
            <a:off x="3114675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8FD0366-B686-46A6-A11F-1F08B74AC733}"/>
              </a:ext>
            </a:extLst>
          </p:cNvPr>
          <p:cNvSpPr>
            <a:spLocks noGrp="1"/>
          </p:cNvSpPr>
          <p:nvPr/>
        </p:nvSpPr>
        <p:spPr>
          <a:xfrm>
            <a:off x="3209925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Review alternatives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1BC1975-8309-4F5A-A2D1-D3E861459FD2}"/>
              </a:ext>
            </a:extLst>
          </p:cNvPr>
          <p:cNvSpPr>
            <a:spLocks noGrp="1"/>
          </p:cNvSpPr>
          <p:nvPr/>
        </p:nvSpPr>
        <p:spPr>
          <a:xfrm>
            <a:off x="5829300" y="32480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EB72D88-4896-40DD-A49E-A5B2750C7964}"/>
              </a:ext>
            </a:extLst>
          </p:cNvPr>
          <p:cNvSpPr>
            <a:spLocks noGrp="1"/>
          </p:cNvSpPr>
          <p:nvPr/>
        </p:nvSpPr>
        <p:spPr>
          <a:xfrm>
            <a:off x="5924550" y="3324225"/>
            <a:ext cx="2524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Avoid over-blocking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4C38F67-93EE-430F-AB01-B16785313271}"/>
              </a:ext>
            </a:extLst>
          </p:cNvPr>
          <p:cNvSpPr>
            <a:spLocks noGrp="1"/>
          </p:cNvSpPr>
          <p:nvPr/>
        </p:nvSpPr>
        <p:spPr>
          <a:xfrm>
            <a:off x="8543925" y="3248025"/>
            <a:ext cx="29622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469C273A-A229-402D-A4FC-E09BB1F7FF5A}"/>
              </a:ext>
            </a:extLst>
          </p:cNvPr>
          <p:cNvSpPr>
            <a:spLocks noGrp="1"/>
          </p:cNvSpPr>
          <p:nvPr/>
        </p:nvSpPr>
        <p:spPr>
          <a:xfrm>
            <a:off x="8639175" y="3324225"/>
            <a:ext cx="2771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Require analyst feedback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4EB8977-D265-45D9-BCDC-7A9B49A9D76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CA7382D-5979-41B7-BFC0-688664ADB22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CA25F77-FAFF-4122-A609-7CA98F470036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8744588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BA9A26-9748-4A52-9794-720CEB25E70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3A11421-98EA-487E-A417-46AAED9638D2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EEDCF64-1C8E-4CEC-A618-E1E7D5A667E2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65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A12603B-3E71-4091-A850-6CC42042A7B1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A20. Threshold rationale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25C9969-7123-4759-96D2-6FBED9B9AC9A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Risk controls and caveats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3B0BB93-CFF8-4881-88DD-F70C0D4FEB2C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Start with interpretable thresholds because the dataset has no labels.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Validate thresholds against known baselines before alerting.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Treat broad flags as evidence that calibration is needed.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Thresholds should rank review priority before they automate containment.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512F61B-2EFC-4EF7-B159-8512F2F8FAE8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20FB3FF-5B4B-49A4-AEC9-23F54812AAB1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5685A4B-EC99-423A-8D92-D74265785F61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Thresholds should rank review priority before they automate containment.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A87A7EB-89BA-49B8-809E-73236A5870B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E102464-50EE-467E-8F64-058A6900811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ECCD168-7189-43A3-BED8-E06B66204A6D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20630377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558B31F-E32B-47F4-8995-F8646A25EED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B05A5D-D7FC-47BE-B39A-A5DE629778C1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5542C4-8215-460A-85B3-BAA62E7894BA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66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B0C1696-E1B9-49BC-88D5-33B0CFF026C1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A21. Assumptions to disclose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BC6CC1F-9D5A-4ADE-9868-E56E4338F94A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Risk controls and caveats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E6174A-9BC9-4726-88B7-3716908B795E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The notebook treats missing successful_login as failure after initial inspection.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Dates are interpreted in the source timestamp timezone because no user timezone exists.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IP velocity is considered suspicious only when paired with other context.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No malicious label is assumed without SOC confirmation.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F53E063-BD15-40FF-9B4C-611AFD9FE6E4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675233-9720-4798-B1B2-4994ED91B8F1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F40C7A3-C678-4E3C-9F9F-516564A4D960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No malicious label is assumed without SOC confirmation.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727D73F-85BD-4C6C-BB4A-12E64C30C1C6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8D1772C-F882-4BAE-BAB0-62859EDEABB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98D60B1-F7C6-4F1B-93C5-8B52D66F052C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2027416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C30C91-866D-401E-B0F8-E965F391E34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C36D753-4823-4A97-B7BA-BA7B60D9FBCA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2D53AE-F1D3-4D75-82E3-98BDD85A6AED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67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6BDDA39-4A0A-4F4E-A348-36D310799E08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A22. Alternative explanations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7F67288-F359-4620-A402-CD423AB336CC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Risk controls and caveats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5015A62-0DF3-41A4-AAD2-9E0D5D5EA959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VPN use can create many IPs.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Travel and on-call work can create off-hours logins.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Application outage can create repeated failures.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Duplicate ingestion can mimic impossible velocity.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6EF2006-B6C7-4449-8490-D899C93DFE49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CA2A2A1-3FE4-4983-AF54-C1290B645C75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9864775-11F8-472D-8BE6-238CEA4A980B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Duplicate ingestion can mimic impossible velocity.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FE94773-D27C-48FD-BC79-BD340328BF6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C40367E-16A5-4D2A-A034-E72CB3DC149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C2DE5C4-BEF5-43BC-860B-E8E1E8141597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2686009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65ABFE7-3F31-4FB2-8908-C3F96E326161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B313488-DB91-4CE0-ADD9-9D48068700A9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48EEC2D-BA5C-446D-8825-A1FA74745FB6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68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CE5D936-A3DC-4F84-B08F-B689BC16AE6A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A23. Additional data needed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FB14733-3108-4EDC-9B9A-CC25372583BC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Risk controls and caveats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26BEE8D-D040-45C3-B314-8E4840F9A363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Geo, city, and ASN for impossible travel and risky infrastructure.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User-agent and browser fingerprint for spoofing and automation.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MFA status and failure reason for attack-stage diagnosis.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Session duration and post-login actions for account takeover confirmation.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A9B6D34-C3FE-452A-8800-02C31E8525C7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8DA4D0-8855-4929-A4C6-E34CB4349F81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54F9816-EC60-4F84-94E3-6B5551373A71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Session duration and post-login actions for account takeover confirmation.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9F591F7-6251-4B60-9075-0371BD2474B4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BBEB1A7-4611-4960-B205-4BED04A8393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1639556-AE25-4DCA-AE3A-6BE66B80BC4A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8020538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30B4A1D-B8DF-40CA-8B7A-8CA5C815827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69CD8B3-810D-4919-A66D-2C5BBE21F2D7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55348B9-E0CA-444A-951E-261A30664D4E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69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9F2311A-10EB-4CF9-84E5-E9F199A26825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A24. Patterns to monitor next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E7628D-8405-4DDA-8DEF-EF2EB565A64F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Risk controls and caveats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57F40CF-F5DB-4FD4-A504-91C2426050C6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Password spray by subnet or ASN.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Dormant account sudden activity.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New device plus new IP plus off-hours.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Successful login followed by sensitive account changes.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0C192A4-DE5B-402A-8A29-914838BDBFCE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B4BF4A1-BE47-450E-985E-0544DB74734B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28BE462-58E1-4B16-B13C-D21B73F8E93B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Successful login followed by sensitive account changes.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F12EFA7-7E92-43F3-AEEE-86363B06FAD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527F186-BE20-406F-A37C-2273CBF0993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AAB8234-9013-4B19-8F79-E958A9794A0D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5369430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14CB8F-02D1-4534-9FA7-1F957BD1A311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C97D4E1-306E-4232-8EAA-2808D2529652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CF5F35-FDA3-47F9-81B7-B18694520A6B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70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8746FB0-6EB7-4AA1-9642-93CFB75BD7FD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A25. SQL: daily login baseline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5745E7B-1BB8-4AEE-8843-D721E929FB21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SQL equivalent for defending pandas transformations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D064EDC-7428-40FC-991A-FCD3A9D3BC00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3429000"/>
          </a:xfrm>
          <a:prstGeom prst="roundRect">
            <a:avLst>
              <a:gd name="adj" fmla="val 2222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6C4D7C3-B9D9-4F0C-9A03-0BD5093BE6B7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SELECT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CAST(datetime AS DATE) AS login_date,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COUNT(*) AS attempts,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SUM(CASE WHEN successful_login = 0 THEN 1 ELSE 0 END) AS failures,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AVG(CASE WHEN successful_login = 0 THEN 1.0 ELSE 0.0 END) AS failure_rate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FROM login_events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GROUP BY CAST(datetime AS DATE)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ORDER BY login_date;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CF6C550-74E4-47C1-A5C2-FC9871D7E6F3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1D621EA-DE85-4B08-8E8B-ADE8E6173840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3C3DAAB-8E28-4A28-9A5E-6ED3A6E1632B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This is the SQL counterpart to the notebook's daily baseline table.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0787914-D188-4DBF-BF9A-0C4AE4890621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D9FC190-BA63-4A7C-BFD9-10FB7D60002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A4A4AA0-1266-48D7-9A5D-A77B5BAE6E69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7861294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00665AD-2840-41D4-9916-99F11D2AF5D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21B7D46-B091-48F0-BC3F-659751FE9EC1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02DCA30-2E85-4FDF-83DF-50C2A9555109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71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531C433-8D73-44A3-92C8-1C2CE7BB3116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A26. SQL: user-level risk features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0A1CC91-1DE7-4545-8FD9-CCD405D81985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SQL equivalent for defending pandas transformations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AB41C62-E001-4E8C-8334-7FE33F01386F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3429000"/>
          </a:xfrm>
          <a:prstGeom prst="roundRect">
            <a:avLst>
              <a:gd name="adj" fmla="val 2222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31147DF-4927-4590-8D78-674C3940507A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SELECT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user,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COUNT(*) AS total_attempts,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COUNT(DISTINCT ip) AS unique_ips,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SUM(CASE WHEN successful_login = 0 THEN 1 ELSE 0 END) AS failures,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1.0 * SUM(CASE WHEN successful_login = 0 THEN 1 ELSE 0 END) / COUNT(*) AS fail_rate,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1.0 * COUNT(DISTINCT ip) / COUNT(*) AS ip_velocity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FROM login_events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GROUP BY user;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ED4415A9-1A30-4BE0-9D61-30531DB0DCDB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0FD2874-C0F7-4010-836B-5A54ACE619FB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1E3C9F-6815-4038-B6AD-40BED84CC382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This makes the notebook feature engineering auditable in a warehouse.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5CAA55D-F711-42F9-A015-A59C0A46DD18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C9B2A51-5925-409C-BE5E-F4F0081FDD6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8DD7CC5-0DB9-4E02-8CF6-6C89A40E9E5D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9097531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9EC9D47-A028-4088-85E8-7CA10F471F4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C2AD83-07E7-4E6E-A9A4-F3B34C4980EA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CA977B0-3AFE-4AF6-9A93-83825918A025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72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85F25F2-5670-4A20-B27E-9C660D7B7520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A27. SQL: per-second burst detection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B430B3F-6A3D-4B36-AC44-8AE5A3EDA655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SQL equivalent for defending pandas transformations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8934369-D012-4559-AB27-C97DFAD6205C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3429000"/>
          </a:xfrm>
          <a:prstGeom prst="roundRect">
            <a:avLst>
              <a:gd name="adj" fmla="val 2222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1A9F5BD-E753-473A-8165-2A7C5C305DBD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SELECT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user,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ip,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datetime,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COUNT(*) AS attempts,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SUM(CASE WHEN successful_login = 0 THEN 1 ELSE 0 END) AS failures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FROM login_events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GROUP BY user, ip, datetime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HAVING COUNT(*) &gt;= 10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ORDER BY attempts DESC;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4975FCA-0E48-4B46-BFF4-63BD4FAD3A8E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6E749E4-C06D-44DD-80DF-4D084B82EC6B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F29D1DA-6072-4751-A1C2-6D50CF58F5E6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this to catch humanly impossible bursts like user_097.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1761F0A-ECA0-427A-85B0-71F3EE454E11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E7B12EA-C6E5-4778-BB3F-0C3C9692B26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691A0CD-083D-4185-953C-C53D8A49F869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0784151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C099E7-F4D7-4DEE-BDF8-BA201220559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451FD5E-6428-4648-8FD1-615F9E0B3E62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4D809D-09FC-452E-83BA-00AEFF3D566A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73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CA90535-35F9-4D64-BEAE-8C633AC5C61D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A28. SQL: shared-IP spray detection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90EB76-2F9B-46BC-8342-AC353FB0DA90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SQL equivalent for defending pandas transformations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DAB8618-1EB5-4345-8ACA-B8BFBED060E7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3429000"/>
          </a:xfrm>
          <a:prstGeom prst="roundRect">
            <a:avLst>
              <a:gd name="adj" fmla="val 2222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BD180D6-E340-4EF5-9C17-583925698D05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SELECT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ip,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datetime,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COUNT(*) AS attempts,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COUNT(DISTINCT user) AS distinct_users,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SUM(CASE WHEN successful_login = 0 THEN 1 ELSE 0 END) AS failures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FROM login_events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GROUP BY ip, datetime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HAVING COUNT(DISTINCT user) &gt;= 10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ORDER BY distinct_users DESC;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6F63E49-36B2-412F-BB23-CF7DA69540AB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C5077C7-D538-4A31-A275-37CC687884C0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AD510A1-50FE-4FF5-85AD-E064D88102EE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This captures one IP touching many users in the same instant.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B5E990F-E5AC-44F1-83A0-39EDFD011D7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6514129-F26C-4E33-9C81-1BFCE685D33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AE1A0A1-F089-46D6-8C7A-E3BF9C058DCF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882672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17069C6-7F48-4E1E-842E-8A1A429CA0A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7C9AE0-A25B-40E1-A91F-13776182EC37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D254AB5-7CED-41AD-B4D2-2901AF2CA2AF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74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B072DA8-F8CC-45AC-BCC3-C541D6820BEE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A29. SQL: off-hours candidates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443495A-FB6A-4A33-A835-CCDCEA3A7412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SQL equivalent for defending pandas transformations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BBD2B29-E84C-4FE4-B2E2-5AD8EE3DED32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3429000"/>
          </a:xfrm>
          <a:prstGeom prst="roundRect">
            <a:avLst>
              <a:gd name="adj" fmla="val 2222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6F098B6-70F2-4F05-A975-6F10E304ADDB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SELECT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user,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COUNT(*) AS offhour_logins,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COUNT(DISTINCT ip) AS unique_ips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FROM login_events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WHERE EXTRACT(HOUR FROM datetime) BETWEEN 0 AND 5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GROUP BY user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ORDER BY offhour_logins DESC, unique_ips DESC;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F49E208-5C84-473F-9996-F16F2FAF851E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E3FD2EA-8999-4555-99F3-C5EA6EF51033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82660F-0740-48F1-80F6-0C3517C583CE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Off-hours should be combined with novelty and account history.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30B08EF-55B3-49F2-A919-0B1DD7FAB2E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9F9F7D0-1FD5-421E-AFB5-44C517677B3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EC1BA01-53EC-4199-84EC-8389EA00314B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3023219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0990D55-87A3-4982-8DDD-C295C0D5064B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87C340D-9F3F-4BCB-A0A5-33B83BFDAB0A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A8C9B41-7612-4DAE-A26D-E9C172EE678F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75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184728-4BEF-4E85-A581-33ADED538A72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A30. SQL: data quality checks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55CC535-8EF1-45A0-BADC-942B540893C8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SQL equivalent for defending pandas transformations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37B84E7-1E2C-4D01-ADC4-45792FB4AB80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3429000"/>
          </a:xfrm>
          <a:prstGeom prst="roundRect">
            <a:avLst>
              <a:gd name="adj" fmla="val 2222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38D4F3B-D4FB-4EA1-830E-FD7427934C7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SELECT 'missing_ip' AS check_name, COUNT(*) AS rows FROM login_events WHERE ip IS NULL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UNION ALL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SELECT 'missing_device_type', COUNT(*) FROM login_events WHERE device_type IS NULL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UNION ALL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SELECT 'missing_network_type', COUNT(*) FROM login_events WHERE network_type IS NULL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UNION ALL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SELECT 'missing_successful_login', COUNT(*) FROM login_events WHERE successful_login IS NULL;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3D573AA-8F76-49B8-A0D7-616673AF3CFD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80D86E-DCF5-4E46-8FBE-31010511569F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1AB68CD-D119-458B-B3B3-385EB3FC1036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Production alerting needs quality checks before scoring.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71B86BA-5AB0-48B5-8823-4F5252A72CD2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5315CA-5781-4636-A637-0E4F7E6113E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C3CBF06-D267-43EC-8AB4-A4E3EDEFDB2A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3507595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955CEAB-7B19-46C2-AEAF-94B8F50BFB7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91EDA80-109E-41EA-84C9-1D656E6C3814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4834C89-510F-4E6B-A215-EDF2E0005FF5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76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C89CA5-FDF6-40C5-A342-A086C698A37A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A31. Stream processing implementation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8ADD6E-7AF1-455E-B93E-8A60169997A5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Implementation detail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6E01CF2-91B2-4D22-84EF-711192E0ACDC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Parse login events with schema validation.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Compute rolling counts by user, IP, ASN, subnet, and device.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Emit both raw signals and composite risk score.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Store all feature versions for auditability.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4C17AE9-43C4-4ABA-A95D-3A0DCA07492E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99EAB8C-36DB-4FEF-9B33-BCB5C4515224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CFE210C-582C-415B-9F09-8F028DA36F4A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Store all feature versions for auditability.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6887A4F-F587-440A-B6A5-926B1D1F94B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BB7E194-53A1-4292-8C71-F8A04DC99D7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568C7B9-864C-409A-85B5-1461ADE67A10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9565795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68F2D25-7DC7-4972-885E-BDE3BD5B22C1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3B843AA-E1BA-4421-867F-71CE02017A98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E039DDD-7609-48D5-8B79-4B90D27C08A3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77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3B8F046-661A-4C7D-B28A-210F1506B690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A32. Feature store design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A8FB8E6-C1FC-4FC0-B613-5C7844D6661B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Implementation detail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D566E9F-2BFF-4083-BB0B-6B767EBCC430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Offline and online features must share definitions.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Keys should include user, IP, subnet, device, and time window.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Backfills should be reproducible from immutable event logs.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Feature freshness must be monitored.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EB449CF-CDE8-499F-A7B9-A13ECDF4AD89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B45BA0D-E8F8-437C-8BB7-1535A7463106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DB2E0F9-EA80-4E0F-B504-D2A95B5C3909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Feature freshness must be monitored.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EA7E803-823B-4C3A-B0C5-5C86310FB29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9D96AF8-81E5-4C52-857A-98422E46B58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010FED3-CC0E-4CE1-AB36-BB109221EB2D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7936244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34B8B31-8E4D-49F3-8C23-9EA38930E86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6FEC6C0-1D92-4C1B-9BBD-B28CD3877EB1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58369DF-1442-4865-B61D-3D327C16FE5D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78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10CA368-183E-4FCE-BC64-750C072A126E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A33. SOAR playbook design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A2346CE-4FE2-48BE-9152-BA28993678C4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Implementation detail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4BB49A5-3FD2-4FB1-825E-C7722F052D49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Critical burst: block IP and force reset.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Shared IP success: open case and inspect session activity.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Low-and-slow probe: step-up MFA and watchlist.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Broad IP velocity: enrich before containment.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EAE42A9-0319-4537-82D8-F9F6C61AD36A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55D3795-EA17-42C1-834B-257CE1B583B8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12C518F-94A6-43AF-8043-2D76511FBA69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Broad IP velocity: enrich before containment.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6F863F7-5917-4130-8D79-1389946469B4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48219DB-C850-4B7C-A63B-DF10AC466E2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3429CE1-AF83-4C01-98A4-125F31DF877C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0042367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D49565B-FFB7-426B-9D09-916DBAA4FBD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E3D7287-7582-4727-A843-DB3C790A1A17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0B5E3B-FCDD-4BCF-AFA0-EFD2C6AB6B0E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79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3651A22-0B6B-4FF8-AF1F-E2792E4D4CA1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A34. Analyst feedback loop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20B4082-BFF9-4D49-BC8F-1B69139BCF88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Implementation detail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94C6ECF-D8DD-407D-A69C-30326C3C016B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Every alert needs close reason and true/false-positive label.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Thresholds should be reviewed weekly during ramp.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Precision by rule is more important than total alert count.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Feedback creates the training data for future ML.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CAC5391-C7A3-4EDD-A007-5F39EECF1EC9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68639C5-EBA6-42E1-A3C1-8E0F3C33C478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4BC9F3E-6893-4C6C-AB8C-EA2D9B08C792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Feedback creates the training data for future ML.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7BAC204-13B9-40B1-BC69-8C5A69ACD72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24209EB-25F5-4BDE-B50C-0786564E5F2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7C76E59-728D-4F19-96B3-0538CA8900F1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4474227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130D8EB-A824-45FB-9C5D-CD3735E8826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33BAFF5-9CB6-4489-B222-BD0266C30DBC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404350D-6223-49CC-82CE-AF60D5EEC4BC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80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2C5CBCF-6C18-4560-A5B8-5B6AA5CEAA97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A35. Interview Q&amp;A: analytics choices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A5961B-CE5C-4771-8CAE-9D07331C2951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talking points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F6BDA7A-218E-4EDE-9F1A-8AB1B9BB8F0C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Why not start with ML? A: no labels and explainability matters.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Why is baseline important? A: anomalies require a normal reference.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What would you do differently with more data? A: calibrate thresholds by user history.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416FBE5-AB97-46B0-9637-1341FB0AB011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DBE8D92-B88F-491E-B93E-78D28F401E34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303F876-45DD-4A64-9C1C-653A50BF89F5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Q: What would you do differently with more data? A: calibrate thresholds by user history.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345CFD7-2645-437B-B6C4-B5D6494E429C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D08E553-C64E-4A11-8BF6-C4AA3BB7F00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048B33D-6442-48E8-8FF6-65A38F95D13A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9492225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96132A-FEB2-43E7-A54F-68A1AF6277B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0F03955-F2A3-4860-A257-EB05C4B3E9D2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61A1315-0339-4CB3-BFD7-FE5241DC7B26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81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2F24E5-991E-4619-B7B6-23889EFB26F9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A36. Interview Q&amp;A: security judgment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FFBA68-705E-4D55-A555-4EC36DB8DFA7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talking points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950CB43-DDE4-4271-8DEB-00A3A404F5C8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Is this proof of attack? A: no, it is high-confidence evidence.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What would you contain first? A: bursts and shared-IP simultaneous events.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What reduces false positives? A: enrichment, combinations of signals, analyst review.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1CA451F-DAE0-4746-90B6-B1DCDBB0AC90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36A410-1B5F-4D43-9F0A-EA2A9F96BD00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B96FDF8-2010-4C35-82B3-BE0E247FB317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Q: What reduces false positives? A: enrichment, combinations of signals, analyst review.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8667745-2921-415F-9F54-A617526D33D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3AC465C-39E2-4F66-A202-9B219371A13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469D0F7-FEDC-48AD-87E8-F1D78DD54295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64382670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C5A137-6BF6-476F-9E9A-CC65319233DB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F1615F5-3776-4D83-9117-728EF5092C3D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AA5277F-478E-4B96-9AB1-4FBA959BD808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82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711D8F9-C546-4EDE-91EA-170DBE5A4A4D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A37. Interview Q&amp;A: product KPI case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DD7B4CF-85FE-4080-9D50-C88D0958386D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talking points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0E7290B-CE1A-4D8F-BE8B-8C47A72587E4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Is a signup spike good? A: only if quality metrics hold.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Which segments first? A: channel, geo, device, verification, activation.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How find a tracking bug? A: reconcile raw events, dedupe, and schema changes.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9E2E7D0-9F97-47BE-8EB8-BB55C197A9C9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7D2C81B-4A55-4859-91C7-587A75F7F5BF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2074621-3A05-4F06-8F03-B4EA1CE87670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Q: How find a tracking bug? A: reconcile raw events, dedupe, and schema changes.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30A350C-B343-4AA3-B966-84BD94E5AF38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454012D-1EAF-4B54-8B0B-7A514D6EA65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1B13735-C273-47F2-9195-722A50D8F47E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0149681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A580D2-492D-458C-A315-5DDABD8E204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D28387A-87C8-4B0A-9788-DAC517101382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686FBA2-235D-41FA-A218-64D81A57E7DC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83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B7A1FD-7E09-4220-B6DC-BAE922CA20BE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A38. Interview Q&amp;A: production readiness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1FE31EA-4442-4E1A-AC07-96395874FBBC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talking points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403D9C0-046E-49BE-94C8-02919FC64E9E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What breaks in production? A: latency, schema drift, data gaps, alert fatigue.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How monitor the detector? A: precision, false positives, freshness, drift.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What is the first platform investment? A: enrichment and a governed feature store.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07C738E-07CB-4645-A800-13F863FA72BE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934C8D-2773-43CE-A88F-FF707DF04582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17FBF7B-0039-417E-8374-A5C1E267A695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Q: What is the first platform investment? A: enrichment and a governed feature store.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EBD7518-218E-446C-AA7B-4DA6D11B5EFE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8E4A53C-8BC3-4DFF-A7DE-1EE12037E14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7FA8891-7A19-4476-B2BC-F616E7E4250D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9552975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08148B-DB40-4EC9-9011-C183D25E22F5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D7E6D29-F3FB-43EB-B0A9-D8D76540320E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1D60F6D-754D-4277-AE15-030AC641452A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84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4A30D1-D241-4CBA-A215-3C086E84C19C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A39. Interview Q&amp;A: limitations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0EF1400-072C-4C47-93B1-C5BFC7928ED1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talking points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1C68DF2-6965-4748-A23B-C9FAC9BF4C33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Biggest limitation? A: no ground truth labels.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Weakest feature? A: off-hours alone, because context matters.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Q: How defend thresholds? A: present them as triage heuristics, not final rules.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B96688F-10B2-4F38-8D45-6F4BAA0CF425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A23782-6C1B-43F4-9D4A-313286854A88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3E3087A-D337-4A3F-BEE7-C6E9538565E9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Q: How defend thresholds? A: present them as triage heuristics, not final rules.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80B41C2-25B7-4B5E-9DE5-5D4A9EEAA788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C64924D-FCBD-42C4-BEA4-D59A796A4F5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2DC264F-D5E5-47FF-A389-641591E1D3E5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10506113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59D2C54-35FD-4B2B-B204-D261F95F84B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68BE309-3174-46A0-9D59-CDD8561CD360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SECURITY LOGIN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3C64B99-D9E6-4DCE-8BA8-77156051A906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85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9C17AC-3013-4E03-92BA-AE96E7FD3814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A40. Source and asset provenance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E9D1063-2414-4FE3-B68C-B792490D7776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Backup talking points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AC16D46-6F06-47BC-93E0-53BD47E25E28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0965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Analytical charts: generated from the provided notebook/script and login workbook.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Assignment brief: provided Word document in Downloads.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Palo Alto Networks logo: Wikimedia Commons PNG preview of the 2020 SVG logo.</a:t>
            </a:r>
          </a:p>
          <a:p>
            <a:pPr algn="l">
              <a:defRPr sz="1650" b="0">
                <a:solidFill>
                  <a:srgbClr val="2A2A2A"/>
                </a:solidFill>
              </a:defRPr>
            </a:pPr>
            <a:r>
              <a:rPr sz="1650" b="0">
                <a:solidFill>
                  <a:srgbClr val="2A2A2A"/>
                </a:solidFill>
              </a:rPr>
              <a:t>- Non-analytical hero/topology visuals: generated with image generation for this deck.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A0007C8-C861-4B6D-892B-092B66D67448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6B6FDCD-7F6A-4058-8177-D0A2809B8CA7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5720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06CE250-3A28-4FD5-9425-F7A4A04D6BD7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Non-analytical hero/topology visuals: generated with image generation for this deck.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1E0C204-1B73-4D37-BCC3-621419913C04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28B0F97-30C8-4AFE-B339-CE8ABCF6BA7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54AD7FA-53D9-4502-A7F2-CCB59A769B89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Notebook visuals only for analytical evidence</a:t>
            </a:r>
          </a:p>
        </p:txBody>
      </p:sp>
    </p:spTree>
    <p:extLst>
      <p:ext uri="{BB962C8B-B14F-4D97-AF65-F5344CB8AC3E}">
        <p14:creationId xmlns:p14="http://schemas.microsoft.com/office/powerpoint/2010/main" val="16882111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7310</Words>
  <Application>Microsoft Office PowerPoint</Application>
  <DocSecurity>0</DocSecurity>
  <PresentationFormat>Широкоэкранный</PresentationFormat>
  <Paragraphs>1491</Paragraphs>
  <Slides>85</Slides>
  <Notes>85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85</vt:i4>
      </vt:variant>
    </vt:vector>
  </HeadingPairs>
  <TitlesOfParts>
    <vt:vector size="87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Stasy</cp:lastModifiedBy>
  <cp:revision>1</cp:revision>
  <dcterms:created xsi:type="dcterms:W3CDTF">2026-07-06T08:11:36Z</dcterms:created>
  <dcterms:modified xsi:type="dcterms:W3CDTF">2026-07-06T08:21:42Z</dcterms:modified>
</cp:coreProperties>
</file>