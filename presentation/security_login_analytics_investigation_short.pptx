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67a11c0e3d4fee" /><Relationship Type="http://schemas.openxmlformats.org/officeDocument/2006/relationships/extended-properties" Target="/docProps/app.xml" Id="R48342699d14f4db4" /><Relationship Type="http://schemas.openxmlformats.org/officeDocument/2006/relationships/officeDocument" Target="/ppt/presentation.xml" Id="Ra3f37ce96e5242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c8cfd730db4fda"/>
  </p:sldMasterIdLst>
  <p:notesMasterIdLst>
    <p:notesMasterId xmlns:r="http://schemas.openxmlformats.org/officeDocument/2006/relationships" r:id="R7da90634d8ce4352"/>
  </p:notesMasterIdLst>
  <p:sldIdLst>
    <p:sldId xmlns:r="http://schemas.openxmlformats.org/officeDocument/2006/relationships" id="256" r:id="R8805293bf5a740d7"/>
    <p:sldId xmlns:r="http://schemas.openxmlformats.org/officeDocument/2006/relationships" id="257" r:id="Rea7d76ea8bd24c19"/>
    <p:sldId xmlns:r="http://schemas.openxmlformats.org/officeDocument/2006/relationships" id="258" r:id="Re9b78069b6114bf4"/>
    <p:sldId xmlns:r="http://schemas.openxmlformats.org/officeDocument/2006/relationships" id="259" r:id="R5498d12aa98f430f"/>
    <p:sldId xmlns:r="http://schemas.openxmlformats.org/officeDocument/2006/relationships" id="260" r:id="Rb305ed8c22e1472d"/>
    <p:sldId xmlns:r="http://schemas.openxmlformats.org/officeDocument/2006/relationships" id="261" r:id="Re08209c66831446e"/>
    <p:sldId xmlns:r="http://schemas.openxmlformats.org/officeDocument/2006/relationships" id="262" r:id="R7293d770362141bd"/>
    <p:sldId xmlns:r="http://schemas.openxmlformats.org/officeDocument/2006/relationships" id="263" r:id="R4f3a36dc94854ecf"/>
    <p:sldId xmlns:r="http://schemas.openxmlformats.org/officeDocument/2006/relationships" id="264" r:id="R5dc515f019ea4c33"/>
    <p:sldId xmlns:r="http://schemas.openxmlformats.org/officeDocument/2006/relationships" id="265" r:id="R5a4ed6e9eac6400c"/>
    <p:sldId xmlns:r="http://schemas.openxmlformats.org/officeDocument/2006/relationships" id="266" r:id="R171bcb03fcd44184"/>
    <p:sldId xmlns:r="http://schemas.openxmlformats.org/officeDocument/2006/relationships" id="267" r:id="R04aba351c20b4c75"/>
    <p:sldId xmlns:r="http://schemas.openxmlformats.org/officeDocument/2006/relationships" id="268" r:id="R3c595b13e34b480a"/>
    <p:sldId xmlns:r="http://schemas.openxmlformats.org/officeDocument/2006/relationships" id="269" r:id="R2a4752e48b424470"/>
    <p:sldId xmlns:r="http://schemas.openxmlformats.org/officeDocument/2006/relationships" id="270" r:id="R87536d787c7f49a2"/>
    <p:sldId xmlns:r="http://schemas.openxmlformats.org/officeDocument/2006/relationships" id="271" r:id="R4fe0ca9894f54c3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effe8a7d274828" /><Relationship Type="http://schemas.openxmlformats.org/officeDocument/2006/relationships/slideMaster" Target="/ppt/slideMasters/slideMaster1.xml" Id="Rd9c8cfd730db4fda" /><Relationship Type="http://schemas.openxmlformats.org/officeDocument/2006/relationships/notesMaster" Target="/ppt/notesMasters/notesMaster1.xml" Id="R7da90634d8ce4352" /><Relationship Type="http://schemas.openxmlformats.org/officeDocument/2006/relationships/presProps" Target="/ppt/presProps.xml" Id="Ra3d0b584878245cd" /><Relationship Type="http://schemas.openxmlformats.org/officeDocument/2006/relationships/tableStyles" Target="/ppt/tableStyles.xml" Id="Rb256dfa044414328" /><Relationship Type="http://schemas.openxmlformats.org/officeDocument/2006/relationships/slide" Target="/ppt/slides/slide1.xml" Id="R8805293bf5a740d7" /><Relationship Type="http://schemas.openxmlformats.org/officeDocument/2006/relationships/slide" Target="/ppt/slides/slide2.xml" Id="Rea7d76ea8bd24c19" /><Relationship Type="http://schemas.openxmlformats.org/officeDocument/2006/relationships/slide" Target="/ppt/slides/slide3.xml" Id="Re9b78069b6114bf4" /><Relationship Type="http://schemas.openxmlformats.org/officeDocument/2006/relationships/slide" Target="/ppt/slides/slide4.xml" Id="R5498d12aa98f430f" /><Relationship Type="http://schemas.openxmlformats.org/officeDocument/2006/relationships/slide" Target="/ppt/slides/slide5.xml" Id="Rb305ed8c22e1472d" /><Relationship Type="http://schemas.openxmlformats.org/officeDocument/2006/relationships/slide" Target="/ppt/slides/slide6.xml" Id="Re08209c66831446e" /><Relationship Type="http://schemas.openxmlformats.org/officeDocument/2006/relationships/slide" Target="/ppt/slides/slide7.xml" Id="R7293d770362141bd" /><Relationship Type="http://schemas.openxmlformats.org/officeDocument/2006/relationships/slide" Target="/ppt/slides/slide8.xml" Id="R4f3a36dc94854ecf" /><Relationship Type="http://schemas.openxmlformats.org/officeDocument/2006/relationships/slide" Target="/ppt/slides/slide9.xml" Id="R5dc515f019ea4c33" /><Relationship Type="http://schemas.openxmlformats.org/officeDocument/2006/relationships/slide" Target="/ppt/slides/slide10.xml" Id="R5a4ed6e9eac6400c" /><Relationship Type="http://schemas.openxmlformats.org/officeDocument/2006/relationships/slide" Target="/ppt/slides/slide11.xml" Id="R171bcb03fcd44184" /><Relationship Type="http://schemas.openxmlformats.org/officeDocument/2006/relationships/slide" Target="/ppt/slides/slide12.xml" Id="R04aba351c20b4c75" /><Relationship Type="http://schemas.openxmlformats.org/officeDocument/2006/relationships/slide" Target="/ppt/slides/slide13.xml" Id="R3c595b13e34b480a" /><Relationship Type="http://schemas.openxmlformats.org/officeDocument/2006/relationships/slide" Target="/ppt/slides/slide14.xml" Id="R2a4752e48b424470" /><Relationship Type="http://schemas.openxmlformats.org/officeDocument/2006/relationships/slide" Target="/ppt/slides/slide15.xml" Id="R87536d787c7f49a2" /><Relationship Type="http://schemas.openxmlformats.org/officeDocument/2006/relationships/slide" Target="/ppt/slides/slide16.xml" Id="R4fe0ca9894f54c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99ef41a7f684c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7116da794149ba" /><Relationship Type="http://schemas.openxmlformats.org/officeDocument/2006/relationships/notesMaster" Target="/ppt/notesMasters/notesMaster1.xml" Id="Rdf9c1aaa755147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60aa9414bb42a7" /><Relationship Type="http://schemas.openxmlformats.org/officeDocument/2006/relationships/notesMaster" Target="/ppt/notesMasters/notesMaster1.xml" Id="R8c64aabf1ba24c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3aed4e7fae413f" /><Relationship Type="http://schemas.openxmlformats.org/officeDocument/2006/relationships/notesMaster" Target="/ppt/notesMasters/notesMaster1.xml" Id="R44a5fcb9b03c44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16c0bb110643e6" /><Relationship Type="http://schemas.openxmlformats.org/officeDocument/2006/relationships/notesMaster" Target="/ppt/notesMasters/notesMaster1.xml" Id="Rad1ee7f7b0e14f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d1502bfe7849d7" /><Relationship Type="http://schemas.openxmlformats.org/officeDocument/2006/relationships/notesMaster" Target="/ppt/notesMasters/notesMaster1.xml" Id="Rba4ee9259b0c40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e53199296443f8" /><Relationship Type="http://schemas.openxmlformats.org/officeDocument/2006/relationships/notesMaster" Target="/ppt/notesMasters/notesMaster1.xml" Id="Racd8b740881e47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ef1ff6129949d7" /><Relationship Type="http://schemas.openxmlformats.org/officeDocument/2006/relationships/notesMaster" Target="/ppt/notesMasters/notesMaster1.xml" Id="R063f7a2ebaf64b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9b136c00282446e" /><Relationship Type="http://schemas.openxmlformats.org/officeDocument/2006/relationships/notesMaster" Target="/ppt/notesMasters/notesMaster1.xml" Id="R5e15a36cd4be40b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534caf93721485b" /><Relationship Type="http://schemas.openxmlformats.org/officeDocument/2006/relationships/notesMaster" Target="/ppt/notesMasters/notesMaster1.xml" Id="R302e9f46186f40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71403b87f7f44e2" /><Relationship Type="http://schemas.openxmlformats.org/officeDocument/2006/relationships/notesMaster" Target="/ppt/notesMasters/notesMaster1.xml" Id="R8860a79651de425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0c5997da9db47a1" /><Relationship Type="http://schemas.openxmlformats.org/officeDocument/2006/relationships/notesMaster" Target="/ppt/notesMasters/notesMaster1.xml" Id="R1d74ea0d1f75470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73712aa85854e71" /><Relationship Type="http://schemas.openxmlformats.org/officeDocument/2006/relationships/notesMaster" Target="/ppt/notesMasters/notesMaster1.xml" Id="Raa7d804ac1a04dd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6625472caad4229" /><Relationship Type="http://schemas.openxmlformats.org/officeDocument/2006/relationships/notesMaster" Target="/ppt/notesMasters/notesMaster1.xml" Id="R381969262d3346a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d8c5c9960da4558" /><Relationship Type="http://schemas.openxmlformats.org/officeDocument/2006/relationships/notesMaster" Target="/ppt/notesMasters/notesMaster1.xml" Id="R54fe827d77e34f8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a053258e3d84c25" /><Relationship Type="http://schemas.openxmlformats.org/officeDocument/2006/relationships/notesMaster" Target="/ppt/notesMasters/notesMaster1.xml" Id="Rdf3309617d36427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55ceaf4902e4b8e" /><Relationship Type="http://schemas.openxmlformats.org/officeDocument/2006/relationships/notesMaster" Target="/ppt/notesMasters/notesMaster1.xml" Id="Rb30b3e84c81547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c9e886425f4f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861dc6ff874078" /><Relationship Type="http://schemas.openxmlformats.org/officeDocument/2006/relationships/slideLayout" Target="/ppt/slideLayouts/slideLayout1.xml" Id="Rd2b8b28074e843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b8b28074e843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ff82c16184c80" /><Relationship Type="http://schemas.openxmlformats.org/officeDocument/2006/relationships/image" Target="/ppt/media/image.png" Id="R1666a83c07fb4872" /><Relationship Type="http://schemas.openxmlformats.org/officeDocument/2006/relationships/image" Target="/ppt/media/image2.png" Id="R452be0688aa94274" /><Relationship Type="http://schemas.openxmlformats.org/officeDocument/2006/relationships/notesSlide" Target="/ppt/notesSlides/notesSlide1.xml" Id="R96a37c81f0124e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df46ce872f4a2a" /><Relationship Type="http://schemas.openxmlformats.org/officeDocument/2006/relationships/image" Target="/ppt/media/image3.png" Id="R139531c3a63b404a" /><Relationship Type="http://schemas.openxmlformats.org/officeDocument/2006/relationships/notesSlide" Target="/ppt/notesSlides/notesSlide2.xml" Id="Rcbadade562bb47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2325d4129b441d" /><Relationship Type="http://schemas.openxmlformats.org/officeDocument/2006/relationships/image" Target="/ppt/media/image4.png" Id="R2ea533e81e2346bf" /><Relationship Type="http://schemas.openxmlformats.org/officeDocument/2006/relationships/notesSlide" Target="/ppt/notesSlides/notesSlide3.xml" Id="Rf0bd13750d0f44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7b4f29a9e2499d" /><Relationship Type="http://schemas.openxmlformats.org/officeDocument/2006/relationships/image" Target="/ppt/media/image5.png" Id="R614f2ef422c64f97" /><Relationship Type="http://schemas.openxmlformats.org/officeDocument/2006/relationships/notesSlide" Target="/ppt/notesSlides/notesSlide4.xml" Id="Ra391cc2f08fa49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5e69038d49477a" /><Relationship Type="http://schemas.openxmlformats.org/officeDocument/2006/relationships/image" Target="/ppt/media/image6.png" Id="R30e8c33f208a46b1" /><Relationship Type="http://schemas.openxmlformats.org/officeDocument/2006/relationships/notesSlide" Target="/ppt/notesSlides/notesSlide5.xml" Id="R7de39281fb6041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9f84ec97e4c8d" /><Relationship Type="http://schemas.openxmlformats.org/officeDocument/2006/relationships/image" Target="/ppt/media/image7.png" Id="R8aff836fc50a4a99" /><Relationship Type="http://schemas.openxmlformats.org/officeDocument/2006/relationships/image" Target="/ppt/media/image8.png" Id="Rbee8562f324c4f68" /><Relationship Type="http://schemas.openxmlformats.org/officeDocument/2006/relationships/notesSlide" Target="/ppt/notesSlides/notesSlide6.xml" Id="R3c715ba98ae7412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7c129f384488e" /><Relationship Type="http://schemas.openxmlformats.org/officeDocument/2006/relationships/image" Target="/ppt/media/image9.png" Id="R063d4dda432c4c53" /><Relationship Type="http://schemas.openxmlformats.org/officeDocument/2006/relationships/notesSlide" Target="/ppt/notesSlides/notesSlide7.xml" Id="R100ace64c7df43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22da19a5942f3" /><Relationship Type="http://schemas.openxmlformats.org/officeDocument/2006/relationships/image" Target="/ppt/media/image10.png" Id="Rda67d3266cba4e1d" /><Relationship Type="http://schemas.openxmlformats.org/officeDocument/2006/relationships/notesSlide" Target="/ppt/notesSlides/notesSlide8.xml" Id="R2457ffd438704e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d055834f240bc" /><Relationship Type="http://schemas.openxmlformats.org/officeDocument/2006/relationships/image" Target="/ppt/media/image11.png" Id="R4a11af2659ca41b2" /><Relationship Type="http://schemas.openxmlformats.org/officeDocument/2006/relationships/notesSlide" Target="/ppt/notesSlides/notesSlide9.xml" Id="R86b30de7cf994d9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c42ff17c0d402a" /><Relationship Type="http://schemas.openxmlformats.org/officeDocument/2006/relationships/image" Target="/ppt/media/image12.png" Id="R83b00a430dae4cf4" /><Relationship Type="http://schemas.openxmlformats.org/officeDocument/2006/relationships/image" Target="/ppt/media/image13.png" Id="R351e0452d92e452f" /><Relationship Type="http://schemas.openxmlformats.org/officeDocument/2006/relationships/notesSlide" Target="/ppt/notesSlides/notesSlide10.xml" Id="Rf265e13b950f408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fd8ae08bc74e13" /><Relationship Type="http://schemas.openxmlformats.org/officeDocument/2006/relationships/image" Target="/ppt/media/image14.png" Id="R13760a138de34ed6" /><Relationship Type="http://schemas.openxmlformats.org/officeDocument/2006/relationships/image" Target="/ppt/media/image15.png" Id="R5895d6cb0f434926" /><Relationship Type="http://schemas.openxmlformats.org/officeDocument/2006/relationships/image" Target="/ppt/media/image16.png" Id="R7e67fd38b077496c" /><Relationship Type="http://schemas.openxmlformats.org/officeDocument/2006/relationships/notesSlide" Target="/ppt/notesSlides/notesSlide11.xml" Id="R55b7cce3bfed43d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2fab00e674fdf" /><Relationship Type="http://schemas.openxmlformats.org/officeDocument/2006/relationships/image" Target="/ppt/media/image17.png" Id="R292925f954314db9" /><Relationship Type="http://schemas.openxmlformats.org/officeDocument/2006/relationships/image" Target="/ppt/media/image18.png" Id="R4b4a3bff9a68499d" /><Relationship Type="http://schemas.openxmlformats.org/officeDocument/2006/relationships/image" Target="/ppt/media/image19.png" Id="R36cccf15643941cc" /><Relationship Type="http://schemas.openxmlformats.org/officeDocument/2006/relationships/notesSlide" Target="/ppt/notesSlides/notesSlide12.xml" Id="R0d2dd770477a4ae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38d4301c424b03" /><Relationship Type="http://schemas.openxmlformats.org/officeDocument/2006/relationships/image" Target="/ppt/media/image20.png" Id="Rc22696daecd54846" /><Relationship Type="http://schemas.openxmlformats.org/officeDocument/2006/relationships/image" Target="/ppt/media/image21.png" Id="R3131ce52d31d4a65" /><Relationship Type="http://schemas.openxmlformats.org/officeDocument/2006/relationships/notesSlide" Target="/ppt/notesSlides/notesSlide13.xml" Id="R2fe48cb5f2074a7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1b3cb23c3441d" /><Relationship Type="http://schemas.openxmlformats.org/officeDocument/2006/relationships/image" Target="/ppt/media/image22.png" Id="Re3b9fa1c4f0b4e2f" /><Relationship Type="http://schemas.openxmlformats.org/officeDocument/2006/relationships/notesSlide" Target="/ppt/notesSlides/notesSlide14.xml" Id="R31ac03986adf4b3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d9655985b04243" /><Relationship Type="http://schemas.openxmlformats.org/officeDocument/2006/relationships/image" Target="/ppt/media/image23.png" Id="Rbb8f57d2642c44b5" /><Relationship Type="http://schemas.openxmlformats.org/officeDocument/2006/relationships/notesSlide" Target="/ppt/notesSlides/notesSlide15.xml" Id="Re916e422f4df476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891eb79bc2449c" /><Relationship Type="http://schemas.openxmlformats.org/officeDocument/2006/relationships/image" Target="/ppt/media/image24.png" Id="R14a4da5940c047f3" /><Relationship Type="http://schemas.openxmlformats.org/officeDocument/2006/relationships/notesSlide" Target="/ppt/notesSlides/notesSlide16.xml" Id="Rcccf21f2994f45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66a83c07fb487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88AFFA-FA37-4E88-926E-072A4664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57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2be0688aa94274"/>
          <a:stretch xmlns:a="http://schemas.openxmlformats.org/drawingml/2006/main"/>
        </p:blipFill>
        <p:spPr>
          <a:xfrm xmlns:a="http://schemas.openxmlformats.org/drawingml/2006/main">
            <a:off x="685800" y="383902"/>
            <a:ext cx="2095500" cy="38472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07D1D-3CEE-4967-8D6D-B3958C80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857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58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2307B8-E13A-468E-B766-ED993F8F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095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Security Login Analytics Investigation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3C58CC-1667-4C9A-8539-CBC2C85D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Short Technical 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3A989-A125-49C2-99E7-3F90BBDB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466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9D9D9"/>
                </a:solidFill>
              </a:defRPr>
            </a:pPr>
            <a:r>
              <a:rPr sz="1575" b="0">
                <a:solidFill>
                  <a:srgbClr val="D9D9D9"/>
                </a:solidFill>
              </a:rPr>
              <a:t>All key decisions, anomaly evidence, product analytics, and production design in one compact deck.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526D7A-976D-4D8C-84A7-2370B7B4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581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9D9D9"/>
                </a:solidFill>
              </a:defRPr>
            </a:pPr>
            <a:r>
              <a:rPr sz="1125" b="0">
                <a:solidFill>
                  <a:srgbClr val="D9D9D9"/>
                </a:solidFill>
              </a:rPr>
              <a:t>Prepared by Stasy | 10 158 login events | 2024-01-01 to 2024-03-29</a:t>
            </a:r>
          </a:p>
        </p:txBody>
      </p:sp>
    </p:spTree>
    <p:extLst>
      <p:ext uri="{BB962C8B-B14F-4D97-AF65-F5344CB8AC3E}">
        <p14:creationId xmlns:p14="http://schemas.microsoft.com/office/powerpoint/2010/main" val="2209012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9531c3a63b404a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5DDD82-6AAE-44C5-A4A4-4F059E04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891AA-50B3-40BE-A6B2-38E74D8F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SHORT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F41937-55C1-4A6A-A717-1D2E0CE7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8065CC-80A5-48A2-AA4D-B3FBE148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Executive summary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F12DA0-481D-4FC7-B9A9-FED95F27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The investigation identifies repeatable suspicious behaviors and a path to operationalize them.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5E1DC-4C4E-4C66-8A68-331E2039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23336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BC3E9-18FB-4DA3-A059-68CBE68F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28800"/>
            <a:ext cx="1990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F6F"/>
                </a:solidFill>
              </a:defRPr>
            </a:pPr>
            <a:r>
              <a:rPr sz="1050" b="1">
                <a:solidFill>
                  <a:srgbClr val="6F6F6F"/>
                </a:solidFill>
              </a:rPr>
              <a:t>Events analyzed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94D6CF-6A12-4B63-B1DD-6F103AFC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66925"/>
            <a:ext cx="19907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10 158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932BDD-0425-42E4-980B-EBDB6DEA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47925"/>
            <a:ext cx="1990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F6F6F"/>
                </a:solidFill>
              </a:defRPr>
            </a:pPr>
            <a:r>
              <a:rPr sz="938" b="0">
                <a:solidFill>
                  <a:srgbClr val="6F6F6F"/>
                </a:solidFill>
              </a:rPr>
              <a:t>100 users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038541-4638-478E-B793-11AF133E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666875"/>
            <a:ext cx="23336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312558-E438-41CF-A832-68CF6449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28800"/>
            <a:ext cx="1990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F6F"/>
                </a:solidFill>
              </a:defRPr>
            </a:pPr>
            <a:r>
              <a:rPr sz="1050" b="1">
                <a:solidFill>
                  <a:srgbClr val="6F6F6F"/>
                </a:solidFill>
              </a:rPr>
              <a:t>Dataset window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909844-F1FB-458B-AF68-8B6965C8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066925"/>
            <a:ext cx="19907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EA5A4"/>
                </a:solidFill>
              </a:defRPr>
            </a:pPr>
            <a:r>
              <a:rPr sz="2175" b="1">
                <a:solidFill>
                  <a:srgbClr val="0EA5A4"/>
                </a:solidFill>
              </a:rPr>
              <a:t>89 days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79D860-E6F0-4F9C-8BA2-E7A4A3C68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447925"/>
            <a:ext cx="1990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F6F6F"/>
                </a:solidFill>
              </a:defRPr>
            </a:pPr>
            <a:r>
              <a:rPr sz="938" b="0">
                <a:solidFill>
                  <a:srgbClr val="6F6F6F"/>
                </a:solidFill>
              </a:rPr>
              <a:t>2024-01-01 to 2024-03-29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139CBF-46D4-405D-8812-06FBC7B6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66875"/>
            <a:ext cx="23336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53B89C-0C66-47EA-B8AF-FB486468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1990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F6F"/>
                </a:solidFill>
              </a:defRPr>
            </a:pPr>
            <a:r>
              <a:rPr sz="1050" b="1">
                <a:solidFill>
                  <a:srgbClr val="6F6F6F"/>
                </a:solidFill>
              </a:rPr>
              <a:t>Overall failure rate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59BDBA-E0F1-4D7E-B8F5-788B1B5F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66925"/>
            <a:ext cx="19907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B020"/>
                </a:solidFill>
              </a:defRPr>
            </a:pPr>
            <a:r>
              <a:rPr sz="2175" b="1">
                <a:solidFill>
                  <a:srgbClr val="FFB020"/>
                </a:solidFill>
              </a:rPr>
              <a:t>6.2%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8DA2AA-48FD-4AE9-8331-B24DCEBD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47925"/>
            <a:ext cx="1990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F6F6F"/>
                </a:solidFill>
              </a:defRPr>
            </a:pPr>
            <a:r>
              <a:rPr sz="938" b="0">
                <a:solidFill>
                  <a:srgbClr val="6F6F6F"/>
                </a:solidFill>
              </a:rPr>
              <a:t>634 failures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44EFD3-7FCA-4030-9CEC-47DDF893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1666875"/>
            <a:ext cx="267652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618898-B2A6-4528-B080-765706D7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828800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F6F"/>
                </a:solidFill>
              </a:defRPr>
            </a:pPr>
            <a:r>
              <a:rPr sz="1050" b="1">
                <a:solidFill>
                  <a:srgbClr val="6F6F6F"/>
                </a:solidFill>
              </a:rPr>
              <a:t>Sharpest spike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588305-6E08-4468-B640-F26472E7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066925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D92D20"/>
                </a:solidFill>
              </a:defRPr>
            </a:pPr>
            <a:r>
              <a:rPr sz="2175" b="1">
                <a:solidFill>
                  <a:srgbClr val="D92D20"/>
                </a:solidFill>
              </a:rPr>
              <a:t>Feb 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6FB1E2-1CCD-474D-B890-84BB0BBC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447925"/>
            <a:ext cx="2333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F6F6F"/>
                </a:solidFill>
              </a:defRPr>
            </a:pPr>
            <a:r>
              <a:rPr sz="938" b="0">
                <a:solidFill>
                  <a:srgbClr val="6F6F6F"/>
                </a:solidFill>
              </a:rPr>
              <a:t>37.1% failure rate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3FFFB2-766B-49A9-9157-01D48615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3143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54155C-ABD4-4E7A-BE6E-23AA3FA6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Priority finding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A9EDB3-6A84-4287-962A-69F32472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2385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41ED05-BFC5-459C-BC11-988A5BEA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333750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Confidence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DDB798-DA69-49ED-B630-95B6F436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238500"/>
            <a:ext cx="62007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759138-2C43-4C62-87D0-E961DACF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3333750"/>
            <a:ext cx="60102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Why it matters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E7489F-EFA1-4542-959F-30A7BF42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3143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5B1C23-BC92-40B1-9510-43E6F27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A2A2A"/>
                </a:solidFill>
              </a:defRPr>
            </a:pPr>
            <a:r>
              <a:rPr sz="1125" b="1">
                <a:solidFill>
                  <a:srgbClr val="2A2A2A"/>
                </a:solidFill>
              </a:rPr>
              <a:t>Brute-force burst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EE9408-D9BA-4EF4-9463-63849CC9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6957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AAC375-A6AA-43D0-8D1C-9059EA53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71900"/>
            <a:ext cx="128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2A2A"/>
                </a:solidFill>
              </a:defRPr>
            </a:pPr>
            <a:r>
              <a:rPr sz="1125" b="0">
                <a:solidFill>
                  <a:srgbClr val="2A2A2A"/>
                </a:solidFill>
              </a:rPr>
              <a:t>95%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5D01A7-58FA-48DE-9540-65139FAF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695700"/>
            <a:ext cx="62007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BC4B17-6427-4313-8E7C-98222791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3771900"/>
            <a:ext cx="6010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2A2A"/>
                </a:solidFill>
              </a:defRPr>
            </a:pPr>
            <a:r>
              <a:rPr sz="1125" b="0">
                <a:solidFill>
                  <a:srgbClr val="2A2A2A"/>
                </a:solidFill>
              </a:rPr>
              <a:t>Machine-speed timing on user_097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B46B82-B92D-4515-B9F2-74955931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3143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F8B614-1AF7-45EE-A4C9-2D2CF6FD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A2A2A"/>
                </a:solidFill>
              </a:defRPr>
            </a:pPr>
            <a:r>
              <a:rPr sz="1125" b="1">
                <a:solidFill>
                  <a:srgbClr val="2A2A2A"/>
                </a:solidFill>
              </a:rPr>
              <a:t>Shared-IP spray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0879B1-BBBF-4C58-B0BA-09224A99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1529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7992B5-E2DA-4050-87DD-90F7196E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29100"/>
            <a:ext cx="128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2A2A"/>
                </a:solidFill>
              </a:defRPr>
            </a:pPr>
            <a:r>
              <a:rPr sz="1125" b="0">
                <a:solidFill>
                  <a:srgbClr val="2A2A2A"/>
                </a:solidFill>
              </a:rPr>
              <a:t>92%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5B5C777-2F61-4E0A-860F-77F9C4D7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152900"/>
            <a:ext cx="62007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BF338C-D00F-4EA1-921B-5B149207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229100"/>
            <a:ext cx="6010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2A2A"/>
                </a:solidFill>
              </a:defRPr>
            </a:pPr>
            <a:r>
              <a:rPr sz="1125" b="0">
                <a:solidFill>
                  <a:srgbClr val="2A2A2A"/>
                </a:solidFill>
              </a:rPr>
              <a:t>20 users from one IP at one timestamp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4BA7722-9AA2-416F-A5F2-392C8E1E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3143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D0DD494-F870-4C5A-A650-9DAE2A28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A2A2A"/>
                </a:solidFill>
              </a:defRPr>
            </a:pPr>
            <a:r>
              <a:rPr sz="1125" b="1">
                <a:solidFill>
                  <a:srgbClr val="2A2A2A"/>
                </a:solidFill>
              </a:rPr>
              <a:t>Nightly probe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EE39A9F-DE44-4B56-9DF7-B4C06523C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6101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559429-236C-4E6D-86B0-6CBEE0D2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686300"/>
            <a:ext cx="128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2A2A"/>
                </a:solidFill>
              </a:defRPr>
            </a:pPr>
            <a:r>
              <a:rPr sz="1125" b="0">
                <a:solidFill>
                  <a:srgbClr val="2A2A2A"/>
                </a:solidFill>
              </a:rPr>
              <a:t>90%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D4D6C4-771F-423E-A201-C51AEEF8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610100"/>
            <a:ext cx="62007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5B29F95-3651-41AC-A3A3-90BAA1AF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686300"/>
            <a:ext cx="6010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2A2A"/>
                </a:solidFill>
              </a:defRPr>
            </a:pPr>
            <a:r>
              <a:rPr sz="1125" b="0">
                <a:solidFill>
                  <a:srgbClr val="2A2A2A"/>
                </a:solidFill>
              </a:rPr>
              <a:t>Repeated exact 20:00 failures before success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78C002D-EDC2-44F9-A82B-198CF087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3143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B666F9-8054-4E5F-B85B-2D27B4B9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A2A2A"/>
                </a:solidFill>
              </a:defRPr>
            </a:pPr>
            <a:r>
              <a:rPr sz="1125" b="1">
                <a:solidFill>
                  <a:srgbClr val="2A2A2A"/>
                </a:solidFill>
              </a:rPr>
              <a:t>IP velocity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6A64C40-B84F-4E01-9739-25D5E906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0673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E7AE3A-9627-4CE6-AE5F-FD8F67CA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143500"/>
            <a:ext cx="1285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2A2A"/>
                </a:solidFill>
              </a:defRPr>
            </a:pPr>
            <a:r>
              <a:rPr sz="1125" b="0">
                <a:solidFill>
                  <a:srgbClr val="2A2A2A"/>
                </a:solidFill>
              </a:rPr>
              <a:t>70%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ABE095D-6562-42E2-932E-D9FA0343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5067300"/>
            <a:ext cx="62007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7A2C2B4-17A8-4815-A266-FE92D1CF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5143500"/>
            <a:ext cx="6010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A2A2A"/>
                </a:solidFill>
              </a:defRPr>
            </a:pPr>
            <a:r>
              <a:rPr sz="1125" b="0">
                <a:solidFill>
                  <a:srgbClr val="2A2A2A"/>
                </a:solidFill>
              </a:rPr>
              <a:t>Strong signal, but threshold needs calibration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9BCDD13-3525-4E4D-BCBB-45A722F2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8204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C510935-964E-4529-AF01-8853409D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58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34323EA-CA57-4FE0-A661-E12E1D69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007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The strongest answer is a repeatable framework, not a collection of isolated suspicious rows.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33BFC60-6712-42B8-A8C0-4B642ADC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6BAD64B-309D-4A4E-939D-A515F368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D5E8B0F-9C0C-4047-94D0-0AEA2BCB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11480213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533e81e2346bf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AB4691-1BA2-411C-A3E7-6DE99A85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298699-93D4-4EF6-B13B-98EE4024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SHORT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B482D3-01E3-41EA-A132-D042C8C2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9BC6FD-525B-49F4-BDDB-21FF572B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Assignment scope balances security and product analytics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B41EAF-D433-4FEF-B826-46995845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The work treats attack reduction and business growth as equal analytical responsibilities.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7146A3-CA90-4725-AD94-957ACA80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24955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A582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5FDF9D-C16C-49F6-9E96-9179B690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66900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Security analytics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054E0-4B39-417A-80ED-B2DF131A2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90500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47E936-E9AC-49FE-854A-4BE00C24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14500"/>
            <a:ext cx="24955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8EC696-12F3-4152-9DBC-F6F60724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66900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Reduce attacks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A2E42F-7F3D-48B7-9C83-30BF370D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24955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7400CB-B1A2-47D1-9907-5B7C2446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14650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Reduce false positives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A7E311-16C9-4CA0-B440-5AF9B6B8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95275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8DFCD7-FFC6-4E71-B3AE-368C1199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62250"/>
            <a:ext cx="24955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A582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094A62-8EEA-46D7-A8C9-5AC421C0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914650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Protect users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27F0C3-99E5-4E37-9ED1-199BAFAB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14500"/>
            <a:ext cx="24955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A582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18BC4E-23E4-4ACC-B32A-CCF8BCF3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66900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Product analytics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5839D5-76B7-4C07-8278-3B9AF41B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90500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1FDF9E-CCC5-4FA9-9901-6BAFDCCF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14500"/>
            <a:ext cx="24955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BB056A-1D2F-4A13-A250-A302A4CF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866900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Increase acquisition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7328DD-064C-45B5-8D5C-3A84AE5E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62250"/>
            <a:ext cx="24955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D5E2A8-02FF-40F1-AC86-B980DCA6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914650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Maintain quality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45D863-9444-4891-9CA4-46EDF4AA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95275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92B655-06F0-4D11-805E-BBBDBDE8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62250"/>
            <a:ext cx="24955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A582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8D4C0B-72AB-4A55-AACC-55DEAAC5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914650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Improve activation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709E3A-8159-4093-B981-A99F9265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2428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DBF81A-485B-49AC-B9E1-07D14358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43375"/>
            <a:ext cx="2238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49BDD9-0CE2-41F5-A3E6-19C31416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048125"/>
            <a:ext cx="409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679348-8E82-4ADA-AD16-38F48118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Security answer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D7B7FF-F9C5-4468-A961-C28D4CB4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048125"/>
            <a:ext cx="42957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F4E326-ADE8-46B6-A3A8-C215FB19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143375"/>
            <a:ext cx="4105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Product answer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972065-A02C-4F41-A370-EC3300C2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86275"/>
            <a:ext cx="2428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33DFCA-0FF1-49B6-AA2F-508817D9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62475"/>
            <a:ext cx="2238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What changed?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0F7CE0-3761-47D7-B0D4-68845AFF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486275"/>
            <a:ext cx="409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F0CBD3-44D6-49F6-B6D1-7C1DF485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562475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Failure spikes and suspicious sources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DB5D2CF-659D-4D22-9666-09E38D23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486275"/>
            <a:ext cx="42957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8952B5-FC36-447B-90F7-CB240382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562475"/>
            <a:ext cx="41052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Signup volume and channel mix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02F02F4-67C9-4018-BE24-FECF9CA9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4425"/>
            <a:ext cx="2428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B680740-47C7-434A-962C-E8458579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2238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Is it good?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4AEF1A-E565-4040-B625-00E61866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924425"/>
            <a:ext cx="409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8BA400-AD66-4348-B05B-41E07808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000625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Only if false positives are controlled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485016-92EE-4656-BE7F-816749F7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24425"/>
            <a:ext cx="42957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E1F501-F42A-44DD-91FE-1F731BD2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5000625"/>
            <a:ext cx="41052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Only if activation and quality hold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E8926A0-ED78-4F6A-9629-48B6A332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2428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ECCFACD-8BE7-4095-845A-D5633FBD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38775"/>
            <a:ext cx="2238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What action follows?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0402385-DF0B-4A45-BBA8-5432EFD3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362575"/>
            <a:ext cx="409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4C9B1E2-7C5A-443A-9EE7-17B48A63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438775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Triage, enrich, contain, learn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3783FF1-5B04-4B37-BDCD-11F3B456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362575"/>
            <a:ext cx="42957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85101DA-A706-4A1B-BE93-F36F9429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5438775"/>
            <a:ext cx="41052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Segment, verify, improve conversion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B7340DD-6955-4000-B6E4-FB726A96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4A0BA39-F2E8-417B-9757-87E85A0A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D58D48-C259-4235-8F22-731BAAB1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17595594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4f2ef422c64f97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B235A-4B2D-40E6-B80B-BC5502F1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11146-9CCC-4F4A-BC42-F076C2EE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SHORT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62314-20BD-475B-8200-35DFCDA1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7FCC03-5F5F-42EB-85D5-1D8EC5739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Analytical strategy and decision log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4E7923-1EA0-41C8-885C-637A55C9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The approach favors explainable behavioral analytics before machine learning.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C15022-36E1-4510-A9D8-C8CC069A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667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A54FA-7D7E-4DD4-97CE-559D52F4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1DCB08-E302-4078-BA94-5928A402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61925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5CAC6-4AEE-46E4-AF15-29C50B1A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7145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Alternatives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E78773-5CBA-46B2-88FB-070C63FA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19250"/>
            <a:ext cx="5295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A3124A-F9A0-4E68-A2F4-F795B319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14500"/>
            <a:ext cx="5105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Why rejected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74AFF9-9421-4F8A-9B72-B4F61F9AD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667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BEC2D8-9BB2-4D97-8BDA-81CAE6137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2A2A"/>
                </a:solidFill>
              </a:defRPr>
            </a:pPr>
            <a:r>
              <a:rPr sz="1050" b="1">
                <a:solidFill>
                  <a:srgbClr val="2A2A2A"/>
                </a:solidFill>
              </a:rPr>
              <a:t>Rule-based detection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DDCB62-E760-4A07-A03E-F3EA1289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9075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AD0C5-3BF1-4325-8EF4-1A167C73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669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Isolation Forest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D654C3-D447-4F6B-A092-27FA1709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90750"/>
            <a:ext cx="5295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575410-3B67-46CD-A638-31CB5956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66950"/>
            <a:ext cx="510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No labels and lower SOC explainability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D5080A-E22C-4281-B5CE-923D2C9B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2667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608D67-CB03-4D9E-A70B-701F8ACE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384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2A2A"/>
                </a:solidFill>
              </a:defRPr>
            </a:pPr>
            <a:r>
              <a:rPr sz="1050" b="1">
                <a:solidFill>
                  <a:srgbClr val="2A2A2A"/>
                </a:solidFill>
              </a:rPr>
              <a:t>Daily baseline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AEE7EB-602A-48AA-8731-54B44322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6225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9933F7-881D-40AF-B3F2-137DEACA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384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Weekly baseline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E5D805-9D60-4971-B98B-EA7A9D43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62250"/>
            <a:ext cx="5295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9172D6-8022-40DC-9E38-6C7840CF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38450"/>
            <a:ext cx="510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Dataset too short for stable weekly seasonality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877AE3-DFBC-447C-B8DE-59069ED4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2667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944F50-3744-4F97-AFBE-76426469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99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2A2A"/>
                </a:solidFill>
              </a:defRPr>
            </a:pPr>
            <a:r>
              <a:rPr sz="1050" b="1">
                <a:solidFill>
                  <a:srgbClr val="2A2A2A"/>
                </a:solidFill>
              </a:rPr>
              <a:t>Failure rate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34DA2E-E3EA-414A-B4F6-DA49CD56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33375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63AC54-B2B5-45D2-BFA5-B1096F48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4099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Raw failures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4EAA88-392C-455E-A9DD-7A89A1BE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333750"/>
            <a:ext cx="5295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49FEDA-1E77-40D0-9C31-74F7FB2F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09950"/>
            <a:ext cx="510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Normalizes activity across users and sources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4AB4D9-79F4-454B-8DD2-1F55BB25F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667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EA98ED2-E395-48DA-8FEF-989F1FA89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2A2A"/>
                </a:solidFill>
              </a:defRPr>
            </a:pPr>
            <a:r>
              <a:rPr sz="1050" b="1">
                <a:solidFill>
                  <a:srgbClr val="2A2A2A"/>
                </a:solidFill>
              </a:rPr>
              <a:t>IP velocity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34F783-E000-4C4B-BFC6-8C301709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0525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2404F7-B617-43F2-8D98-F1991314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9814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Raw IP count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B506F2-B6FA-43A2-89A0-D9ECD1D0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05250"/>
            <a:ext cx="5295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99569C-6851-4D1A-B4CA-C2851BD8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81450"/>
            <a:ext cx="510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Makes source spread comparable across users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A27F09-140B-404B-8614-7BA852AC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667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0BBFB1-2149-4421-AD83-C8D5DCB6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2A2A"/>
                </a:solidFill>
              </a:defRPr>
            </a:pPr>
            <a:r>
              <a:rPr sz="1050" b="1">
                <a:solidFill>
                  <a:srgbClr val="2A2A2A"/>
                </a:solidFill>
              </a:rPr>
              <a:t>Composite score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74FDE23-41F5-4A7F-9BFF-0106F6EBA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7675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957EDB-F2BD-465D-B0BA-79D8F65AD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5529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Single flag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7E7882-6D20-4033-9F54-A0F49784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76750"/>
            <a:ext cx="5295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E75E929-2CD7-424B-BE62-056D9A1E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52950"/>
            <a:ext cx="510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Combines timing, outcome, source, and novelty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809A8E0-093E-467C-A8A1-76499C99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42DB0C-50D6-4335-8632-2044B7F4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58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7E4E07E-21F6-4AF2-B967-AC422BA9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721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Heuristics are appropriate first because the dataset has no labels, limited context, and requires defensible explanations.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53B19DE-A095-4A1A-849C-08EA541E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D9E457B-CA0F-4149-94E4-25536CA3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44BA9BA-423C-47AA-A81B-0903B581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10214305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8c33f208a46b1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596F6A-A832-433D-A6EA-28A17410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43829E-6642-4280-8813-39D8C884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SHORT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49CC0-B2D3-44C8-A180-5C74999A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76DF5-2F13-419D-889C-DA3B0B72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Dataset and data quality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DDA7F3-C07B-45CC-8853-8EE97211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Small integrity issues can materially distort security scoring when alerts become automated.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B47DC1-1C29-4A71-936C-0C7AB82F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381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A4C9A8-7E0F-48AF-8BEA-C219797B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81175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F6F"/>
                </a:solidFill>
              </a:defRPr>
            </a:pPr>
            <a:r>
              <a:rPr sz="1050" b="1">
                <a:solidFill>
                  <a:srgbClr val="6F6F6F"/>
                </a:solidFill>
              </a:rPr>
              <a:t>Login records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BE0E2-CCEC-454B-B441-AD5D7B5EF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10 158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D3C264-71B2-41D9-A548-B7E0355B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F6F6F"/>
                </a:solidFill>
              </a:defRPr>
            </a:pPr>
            <a:r>
              <a:rPr sz="938" b="0">
                <a:solidFill>
                  <a:srgbClr val="6F6F6F"/>
                </a:solidFill>
              </a:rPr>
              <a:t>Raw authentication events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287BA7-EAAF-4F21-BD31-04EEADD5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619250"/>
            <a:ext cx="2381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D25A75-E97B-47A5-AC05-D2C8AED7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781175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F6F"/>
                </a:solidFill>
              </a:defRPr>
            </a:pPr>
            <a:r>
              <a:rPr sz="1050" b="1">
                <a:solidFill>
                  <a:srgbClr val="6F6F6F"/>
                </a:solidFill>
              </a:rPr>
              <a:t>Duplicates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E93B36-9B3B-4D05-9263-1E82F21C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19300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B020"/>
                </a:solidFill>
              </a:defRPr>
            </a:pPr>
            <a:r>
              <a:rPr sz="2175" b="1">
                <a:solidFill>
                  <a:srgbClr val="FFB020"/>
                </a:solidFill>
              </a:rPr>
              <a:t>88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2ACEA6-C3FA-4B31-B4FB-51056E63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0030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F6F6F"/>
                </a:solidFill>
              </a:defRPr>
            </a:pPr>
            <a:r>
              <a:rPr sz="938" b="0">
                <a:solidFill>
                  <a:srgbClr val="6F6F6F"/>
                </a:solidFill>
              </a:rPr>
              <a:t>Deduplicate before scoring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28DA4E-E78F-48C0-97EB-79EE010A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19250"/>
            <a:ext cx="2381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C4DF60-D0DA-4836-A4F5-2F7F9C2F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81175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F6F"/>
                </a:solidFill>
              </a:defRPr>
            </a:pPr>
            <a:r>
              <a:rPr sz="1050" b="1">
                <a:solidFill>
                  <a:srgbClr val="6F6F6F"/>
                </a:solidFill>
              </a:rPr>
              <a:t>Missing IP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5BA46D-5A04-446A-B172-A8228A925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19300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D92D20"/>
                </a:solidFill>
              </a:defRPr>
            </a:pPr>
            <a:r>
              <a:rPr sz="2175" b="1">
                <a:solidFill>
                  <a:srgbClr val="D92D20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49AB8B-FB86-494E-BAE1-60699871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0030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F6F6F"/>
                </a:solidFill>
              </a:defRPr>
            </a:pPr>
            <a:r>
              <a:rPr sz="938" b="0">
                <a:solidFill>
                  <a:srgbClr val="6F6F6F"/>
                </a:solidFill>
              </a:rPr>
              <a:t>Weakens source analytics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96789C-1688-4304-99CD-A83C7C63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619250"/>
            <a:ext cx="25336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252290-A3A5-4167-A7CF-4766872B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8117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F6F"/>
                </a:solidFill>
              </a:defRPr>
            </a:pPr>
            <a:r>
              <a:rPr sz="1050" b="1">
                <a:solidFill>
                  <a:srgbClr val="6F6F6F"/>
                </a:solidFill>
              </a:rPr>
              <a:t>Missing outcome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170F56-8855-4F87-BB0C-9EED521D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193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D92D20"/>
                </a:solidFill>
              </a:defRPr>
            </a:pPr>
            <a:r>
              <a:rPr sz="2175" b="1">
                <a:solidFill>
                  <a:srgbClr val="D92D20"/>
                </a:solidFill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59901F-AB01-4BD3-9BDF-D1A1AE55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003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F6F6F"/>
                </a:solidFill>
              </a:defRPr>
            </a:pPr>
            <a:r>
              <a:rPr sz="938" b="0">
                <a:solidFill>
                  <a:srgbClr val="6F6F6F"/>
                </a:solidFill>
              </a:rPr>
              <a:t>Affects failure metrics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220BF8-4288-4B61-976C-EBFC3B34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B496EE-A16F-47DA-A85A-93245691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81375"/>
            <a:ext cx="2047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Issue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9A247D-45EE-4C1C-B556-FF0A96DCA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286125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DB5B4C-1DE7-4C29-9D08-3DAE0C75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381375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Count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5837FB-5483-4618-AE56-8A4DB146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32861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BF135B-D2A2-4DB5-9B14-84807A53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381375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Business impact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C4C52E-9A2E-4DE5-A8DA-0A145DB1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286125"/>
            <a:ext cx="3438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DA2B5B-2DAE-44F0-9347-40A5A092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381375"/>
            <a:ext cx="32480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EEFBB0-C947-4D2C-9DFF-7B1FE26C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43325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C7EE87-1274-4B03-903A-ABEC4144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9525"/>
            <a:ext cx="2047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Missing IP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0D6718-6B2F-4488-A6E1-DDF0EE08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743325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AAFBEB-8ACC-40F0-A023-9C9A128A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819525"/>
            <a:ext cx="85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7E2188-B007-4E75-9240-DC4EED51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3743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39B2D2-985C-4D10-B11F-4B9AD91A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819525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Weakens IP-based detection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6BBFB9-1975-4D97-8867-FBA368C7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743325"/>
            <a:ext cx="3438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464F5C-2962-4CDA-89D0-94F11F7F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819525"/>
            <a:ext cx="3248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Investigate upstream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D9E6D8-98EC-406C-B07E-488EB26D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00525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9EEAD9-226D-4F4B-85FD-8FE301C0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76725"/>
            <a:ext cx="2047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Missing outcome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257286A-C878-4251-9808-D8B37E1E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200525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6C0C014-16D5-432B-9210-8463F929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276725"/>
            <a:ext cx="85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AC8B5A-C069-472C-A224-5C1016F7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42005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0CAEEC2-6CB0-47A0-8CF0-A7663FBA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276725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Affects failure metrics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457C7FC-A94E-4D2D-B82D-CC365D44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200525"/>
            <a:ext cx="3438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A308E9-3577-4EAB-B887-44F43188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276725"/>
            <a:ext cx="3248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Conservative handling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87DEBD5-1775-4278-8C81-A25A674AF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8EA9CFA-96AC-4C82-A498-825A30DD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2047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Duplicates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0B74816-DCE9-4160-8E27-4698BAC0B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657725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6C8103E-649E-418E-9004-6C318338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733925"/>
            <a:ext cx="85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88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671B02D-8DE7-4978-A9B5-E501CDE6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46577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3AD1DD1-F346-45C2-AC8C-E0ABBA10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733925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Inflates alerts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9FAC5C0-2CD6-473B-96BF-B77D18D7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657725"/>
            <a:ext cx="3438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747DFD3-2870-4A58-88F1-6CB3F8D9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733925"/>
            <a:ext cx="3248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Deduplicate before scoring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8D5D31B-D164-4EF9-B0CD-77A40586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14925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FC9DF2-56E8-4989-AFD8-526D2076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91125"/>
            <a:ext cx="2047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Invalid labels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61D4B25-31A6-4132-9043-F30DA3A7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5114925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8CBA673-791B-4B7A-AE23-56A93963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5191125"/>
            <a:ext cx="85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2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680CA30-A2EA-40EA-A4C5-51EFCEEB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51149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A5314BB-D36B-4C79-B6EF-74741DF6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5191125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Schema inconsistency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EEB26F7-2547-4AC5-A53F-EACE5919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114925"/>
            <a:ext cx="34385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DA61382-454D-47CE-889C-6A5636BB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5191125"/>
            <a:ext cx="3248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Normalize values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9CA49E1-B93E-4C01-8458-345788AA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530D9E0-CB97-4534-A3EA-573ADC66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3284A58-9E41-490E-B31A-33C127E6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2350312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ff836fc50a4a99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545EC7-989A-406D-8DF6-AA8CE8FA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42F7F9-C688-40FC-9854-CF0C1770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SHORT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544C93-64B5-43F6-8569-571733E5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B3FEE-950A-42D4-A2A7-CB07C687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Baseline and Feb 9 spike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64AA4D-3A5F-48B9-8AA0-F689D0FB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Aggregate trends identify when to drill into user and IP behavior.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E18BAB-95F9-4DC1-BA37-34974E87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7667625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e8562f324c4f68"/>
          <a:stretch xmlns:a="http://schemas.openxmlformats.org/drawingml/2006/main"/>
        </p:blipFill>
        <p:spPr>
          <a:xfrm xmlns:a="http://schemas.openxmlformats.org/drawingml/2006/main">
            <a:off x="1160133" y="1752600"/>
            <a:ext cx="6718959" cy="35433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7BBBA4-9442-4181-BFE5-450A4AEB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90700"/>
            <a:ext cx="2476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20A9E6-A4E7-414D-9729-B5AD6801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52625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F6F"/>
                </a:solidFill>
              </a:defRPr>
            </a:pPr>
            <a:r>
              <a:rPr sz="1050" b="1">
                <a:solidFill>
                  <a:srgbClr val="6F6F6F"/>
                </a:solidFill>
              </a:rPr>
              <a:t>Feb 9 attempts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BACBFB-A0B5-4265-9E69-CA411C312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9075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259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1FD72-C30A-4324-BEE5-A7E71E8C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57175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F6F6F"/>
                </a:solidFill>
              </a:defRPr>
            </a:pPr>
            <a:r>
              <a:rPr sz="938" b="0">
                <a:solidFill>
                  <a:srgbClr val="6F6F6F"/>
                </a:solidFill>
              </a:rPr>
              <a:t>Dataset-level spike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27A239-0545-44C3-B1D9-04F229F7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476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8998F-4560-43CD-BB9B-4A8B1330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171825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F6F"/>
                </a:solidFill>
              </a:defRPr>
            </a:pPr>
            <a:r>
              <a:rPr sz="1050" b="1">
                <a:solidFill>
                  <a:srgbClr val="6F6F6F"/>
                </a:solidFill>
              </a:rPr>
              <a:t>Feb 9 failures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8D1B2F-CCFE-4CE4-B9B4-F15BCF72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40995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D92D20"/>
                </a:solidFill>
              </a:defRPr>
            </a:pPr>
            <a:r>
              <a:rPr sz="2175" b="1">
                <a:solidFill>
                  <a:srgbClr val="D92D20"/>
                </a:solidFill>
              </a:rPr>
              <a:t>96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CCC43A-19D4-4C41-9767-357AB342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79095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F6F6F"/>
                </a:solidFill>
              </a:defRPr>
            </a:pPr>
            <a:r>
              <a:rPr sz="938" b="0">
                <a:solidFill>
                  <a:srgbClr val="6F6F6F"/>
                </a:solidFill>
              </a:rPr>
              <a:t>Concentrated failures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71A1A2-C21A-45A8-8DE3-557C0BC5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29100"/>
            <a:ext cx="2476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933AED-C65B-40A7-B13B-EBDF7F6D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391025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F6F"/>
                </a:solidFill>
              </a:defRPr>
            </a:pPr>
            <a:r>
              <a:rPr sz="1050" b="1">
                <a:solidFill>
                  <a:srgbClr val="6F6F6F"/>
                </a:solidFill>
              </a:rPr>
              <a:t>Failure rate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527236-2993-4208-8D59-92409073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62915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A582D"/>
                </a:solidFill>
              </a:defRPr>
            </a:pPr>
            <a:r>
              <a:rPr sz="2175" b="1">
                <a:solidFill>
                  <a:srgbClr val="FA582D"/>
                </a:solidFill>
              </a:rPr>
              <a:t>37.1%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6CDEED-B10F-4C81-9A9A-D542D047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01015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F6F6F"/>
                </a:solidFill>
              </a:defRPr>
            </a:pPr>
            <a:r>
              <a:rPr sz="938" b="0">
                <a:solidFill>
                  <a:srgbClr val="6F6F6F"/>
                </a:solidFill>
              </a:rPr>
              <a:t>Far above baseline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6BE8B7-99B7-439A-9FBC-DB3407B8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8204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FF9EE2-1782-4C67-8AC9-512C61AF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58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9F650D-78A5-481D-B30F-8514DCE7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388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Feb 9 is not the conclusion; it is the signpost that points to concentrated attacks.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1D9B7F-E144-4FF3-9007-D965D5D4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6D0C5D-F3B0-44C5-8682-54CDADB4F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099E22-63A9-4152-8F7F-8D670153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16784068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3d4dda432c4c53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9E57AB-7C59-4468-B604-691FAE73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3DA28-7F84-4736-AAAA-719CCB43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SHORT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1A556A-2760-4B65-A25E-CB8DD959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476653-2AD5-4E3A-BECC-0B41C5B0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Behavioral features used for scoring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389778-EB61-4179-A999-9DD1164C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Raw events are converted into comparable user, IP, and timing signals.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92DA32-E655-450F-BE5D-E0B2C7D7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47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1E0C79-C9C8-41BF-8005-D7BA6765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EB8F83-AE01-40E2-B714-2333E46B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619250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B26F90-19A8-41BA-B0CB-7DE798B4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145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What it captures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BEE76-FF7B-45CD-8793-0A5EC63B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19250"/>
            <a:ext cx="4914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8A9EEC-2CE4-4676-8185-02731750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14500"/>
            <a:ext cx="472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Why it is better than raw rows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2B5368-D32F-4834-87F1-17FDBCBE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7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85D236-84A2-4AD3-830D-D757F9C0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2885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Failure 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41CDBD-C98F-4007-A284-A645B008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52650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F36A62-B0C8-401E-B449-8BF3D5E1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288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Failures / attempts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9E262E-9601-4CD9-BF89-C297D49E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52650"/>
            <a:ext cx="4914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7C274D-E0E1-497E-8A53-F9DAEF96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2885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Normalizes activity volume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FDC7A7-8D10-45AD-B14D-374A9837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247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8F641E-5F48-4D48-89AF-EC4C0E83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IP velocity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A122F2-B2AF-4FBF-ADDD-1FEFD709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86050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118891-49B2-4ADE-A566-35834653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622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Distinct IPs / attempts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7902F8-65C9-439B-9CBC-65F73CC3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86050"/>
            <a:ext cx="4914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F28918-9D49-4BE5-93D5-76016BFA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76225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Detects rotating sources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083311-63F8-4F60-9502-62E9B23B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47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887446-1261-4963-A485-2A1FA428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Attempt velocity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E90CDC-D4BA-4CD0-8994-0B2C8073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19450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49A4AE-9F1B-45D1-A42D-531C228E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2956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Events in tight windows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E911FF-CB56-477D-A969-07B67DA8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19450"/>
            <a:ext cx="4914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140711-DA37-4D26-85C5-EA2F75A2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Finds automation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F121F0-C111-46DD-80B0-D396DFE1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247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9EAD24-B4B1-4DE9-A9AD-E8CEE4473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Shared-IP spread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45F6E5-73AB-4371-8D0A-2317D3BF0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752850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460F2C-E765-45A4-B631-B69AA227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290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Users per IP per timestamp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26D19E-1C8E-4506-8BE3-21A07079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752850"/>
            <a:ext cx="4914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4ADD79-2E8D-4296-9C9D-B9B0395F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82905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Finds spraying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79D2F3-0A28-4400-BA5D-113B643D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247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06181F-3F3C-4085-A4EF-979C7831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Off-hours access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49FF76A-FBEC-40D3-BCE1-A90A131D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286250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3AF618-9850-4A7E-A465-A4A79FDF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624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00:00 to 05:00 logins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D67B06-2FE0-4C8C-AEA7-F633DFD3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86250"/>
            <a:ext cx="4914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47EBC8-D00B-40D8-A268-0BDB34662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62450"/>
            <a:ext cx="472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Adds context when paired with novelty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ED3ECF4-C9F9-433A-8DE2-3E0129B0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8204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9B99DD1-08C0-4A55-8241-319001F3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58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0AB122-6591-4B23-B0B0-4EDADF4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8167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Each feature is interpretable enough for an analyst to validate without trusting a black box.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6C9A43F-D7A1-4738-AE14-0058C9A0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BAED492-07E0-48F6-B8BD-AD02B403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5B9D4C7-F0AA-4225-AC0B-D5934838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19002153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67d3266cba4e1d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368DF-8E2B-45A7-B197-8C589B0AB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FBDE8D-403F-497A-9D83-7EDB2975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SHORT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ABA58D-00D9-4DEE-968A-D9A3538C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600267-0833-4DF5-A730-4915DCEE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Threat kill chain mapping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8D3E2-6B46-461A-8867-2076134B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Each anomaly is mapped to where it likely appears in an attack path.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053966-72D6-47FB-BAF0-DE18642E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2590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A582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FFBA44-FF29-4F67-BD1B-CBFA339E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243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111"/>
                </a:solidFill>
              </a:defRPr>
            </a:pPr>
            <a:r>
              <a:rPr sz="1088" b="1">
                <a:solidFill>
                  <a:srgbClr val="111111"/>
                </a:solidFill>
              </a:rPr>
              <a:t>Recon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E0C735-C582-455E-98AD-53EDEEC3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79070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1F52A9-5175-4A5D-A9D0-9C172E76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00200"/>
            <a:ext cx="2590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DDF84F-6B28-454A-966E-30C7E474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52600"/>
            <a:ext cx="243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111"/>
                </a:solidFill>
              </a:defRPr>
            </a:pPr>
            <a:r>
              <a:rPr sz="1088" b="1">
                <a:solidFill>
                  <a:srgbClr val="111111"/>
                </a:solidFill>
              </a:rPr>
              <a:t>Password spray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75EF64-0DB0-4936-A3B8-A80617AD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9070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D65AFA-BF8D-4A28-9F70-626899E9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00200"/>
            <a:ext cx="2590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F5BA47-A27E-447D-AC5F-699E98E7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52600"/>
            <a:ext cx="243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111"/>
                </a:solidFill>
              </a:defRPr>
            </a:pPr>
            <a:r>
              <a:rPr sz="1088" b="1">
                <a:solidFill>
                  <a:srgbClr val="111111"/>
                </a:solidFill>
              </a:rPr>
              <a:t>Credential stuffing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6F92D3-1B8F-4F44-9E13-BAEAF8CC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179070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B01C38-8504-4062-8DCE-00C90718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600200"/>
            <a:ext cx="2590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A96818-1FA7-4309-A2BA-E323CADD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52600"/>
            <a:ext cx="243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111"/>
                </a:solidFill>
              </a:defRPr>
            </a:pPr>
            <a:r>
              <a:rPr sz="1088" b="1">
                <a:solidFill>
                  <a:srgbClr val="111111"/>
                </a:solidFill>
              </a:rPr>
              <a:t>Successful login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B1256E-9BC5-41CE-822F-CB8BB795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590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960CD4-B2ED-4251-BCB5-B5DEEAF5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33700"/>
            <a:ext cx="243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111"/>
                </a:solidFill>
              </a:defRPr>
            </a:pPr>
            <a:r>
              <a:rPr sz="1088" b="1">
                <a:solidFill>
                  <a:srgbClr val="111111"/>
                </a:solidFill>
              </a:rPr>
              <a:t>Persistence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8BFC45-D12F-42E3-9F29-6F6F88E4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97180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4CC6AD-BC5A-4292-94C1-0068BBDD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81300"/>
            <a:ext cx="2590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FAB494-DF75-4E15-B701-CB8044EF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933700"/>
            <a:ext cx="243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111"/>
                </a:solidFill>
              </a:defRPr>
            </a:pPr>
            <a:r>
              <a:rPr sz="1088" b="1">
                <a:solidFill>
                  <a:srgbClr val="111111"/>
                </a:solidFill>
              </a:rPr>
              <a:t>Privilege escalation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8AA9FB-995B-424C-988D-0EAF89B8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97180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57EA2D-269D-4DC3-8C3D-70D0D31E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81300"/>
            <a:ext cx="2590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A582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4A6349-28D2-46DC-A44D-B2698998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33700"/>
            <a:ext cx="243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111"/>
                </a:solidFill>
              </a:defRPr>
            </a:pPr>
            <a:r>
              <a:rPr sz="1088" b="1">
                <a:solidFill>
                  <a:srgbClr val="111111"/>
                </a:solidFill>
              </a:rPr>
              <a:t>Data exfiltration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EB6F80-E827-4979-BD0A-CB284884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2714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CA8560-FFBA-4270-B16E-F28614116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57625"/>
            <a:ext cx="2524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Anomaly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2BBC4B-440D-45D5-887C-6EBE3BEC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762375"/>
            <a:ext cx="3667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E3A6B0-DD86-4738-AA24-9BE9B279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3857625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Kill-chain fit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090DA9-8E86-4970-BFE3-3BC0CAC7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62375"/>
            <a:ext cx="4438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5ACCF8-9FB7-4036-BC47-3B9F232C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57625"/>
            <a:ext cx="424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Analyst action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EEF894-AC9F-437C-BC27-BA7FB70A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00525"/>
            <a:ext cx="2714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A3D282-2EE0-4DAC-A0CF-423444B8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76725"/>
            <a:ext cx="252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2A2A"/>
                </a:solidFill>
              </a:defRPr>
            </a:pPr>
            <a:r>
              <a:rPr sz="1050" b="1">
                <a:solidFill>
                  <a:srgbClr val="2A2A2A"/>
                </a:solidFill>
              </a:rPr>
              <a:t>user_097 burst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82BC90-105F-4554-ACBB-3C846976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200525"/>
            <a:ext cx="3667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473F50-6627-439D-A993-E1F74066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4276725"/>
            <a:ext cx="3476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Credential stuffing / automation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93C613-951C-4474-9842-CD246C67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200525"/>
            <a:ext cx="4438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92A2FE-888D-441C-BE5C-DE7B80C8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276725"/>
            <a:ext cx="424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Block IP, force reset, inspect sessions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C6488D-E3B9-4BDD-AD13-C0A21421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38675"/>
            <a:ext cx="2714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6ADECEE-1A6D-4BC4-BA94-8C6B1DFB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14875"/>
            <a:ext cx="252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2A2A"/>
                </a:solidFill>
              </a:defRPr>
            </a:pPr>
            <a:r>
              <a:rPr sz="1050" b="1">
                <a:solidFill>
                  <a:srgbClr val="2A2A2A"/>
                </a:solidFill>
              </a:rPr>
              <a:t>user_003 nightly probe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4479887-0061-43B7-982C-10BDCD3E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638675"/>
            <a:ext cx="3667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050234-2337-45FD-915D-90CECBCF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4714875"/>
            <a:ext cx="3476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Recon to successful login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C6A23FC-F490-4CAA-9D7E-985727E9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38675"/>
            <a:ext cx="4438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2C6A560-38EF-4144-A6D4-4F4DEA0F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714875"/>
            <a:ext cx="424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Step-up MFA and review post-login activity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6F2337-CC8D-490D-8773-D7DFB614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2714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39B40B6-B6C6-48EC-BFFA-FDE7DFEE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53025"/>
            <a:ext cx="252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2A2A"/>
                </a:solidFill>
              </a:defRPr>
            </a:pPr>
            <a:r>
              <a:rPr sz="1050" b="1">
                <a:solidFill>
                  <a:srgbClr val="2A2A2A"/>
                </a:solidFill>
              </a:rPr>
              <a:t>Shared-IP spray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133572-5EAB-437B-A691-A83D517F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5076825"/>
            <a:ext cx="3667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6823532-970E-49DF-81AF-2581C4C3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153025"/>
            <a:ext cx="3476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Password spray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83DB0DB-DAB4-40DB-98CF-F2A48231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076825"/>
            <a:ext cx="4438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BD15AE2-58D4-4CA8-8F5C-DEA83E7C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153025"/>
            <a:ext cx="424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Open case, enrich IP, look for broad exposure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2D129EB-EA0A-47C5-8554-3AFAB21D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2714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1B697E1-BF1A-4CC1-B0B5-4478EDB5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91175"/>
            <a:ext cx="252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2A2A"/>
                </a:solidFill>
              </a:defRPr>
            </a:pPr>
            <a:r>
              <a:rPr sz="1050" b="1">
                <a:solidFill>
                  <a:srgbClr val="2A2A2A"/>
                </a:solidFill>
              </a:rPr>
              <a:t>High IP velocity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FA5A940-60A6-4B4F-9FD2-ACBA8F6E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5514975"/>
            <a:ext cx="3667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4B635B-307F-490A-8047-888D4E6D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91175"/>
            <a:ext cx="3476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Recon / distributed attack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611B859-6D89-4E32-A281-D6F1049A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514975"/>
            <a:ext cx="4438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3BE54B7-1EEE-4583-9A76-D17E56B4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591175"/>
            <a:ext cx="424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A2A2A"/>
                </a:solidFill>
              </a:defRPr>
            </a:pPr>
            <a:r>
              <a:rPr sz="1050" b="0">
                <a:solidFill>
                  <a:srgbClr val="2A2A2A"/>
                </a:solidFill>
              </a:rPr>
              <a:t>Calibrate with geo, ASN, and device novelty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B84BBE0-3CD6-4406-A198-C68468A2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2D5896F-85BC-41F3-BEE2-042129B8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C0887C8-901D-4C94-B35D-A2941989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3016002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11af2659ca41b2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6C52F8-B9B3-464A-9255-92A02C49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326615-FDD1-4E6A-9F08-71AD53D3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SHORT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40806-AE0C-487B-8073-ACD3C3A3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139760-3DF7-4E75-99A1-CBFE746B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Anomaly confidence at a glance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B248A8-05B5-47E5-91E5-FDDA5DD3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The confidence score summarizes evidence strength, alternatives, and remaining uncertainty.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63FF2-65C4-4C1D-9561-8B6FB590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238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E0C5D2-87B5-4664-91E7-A5BB7B9A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2047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Case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918A72-99D7-4A7D-93CE-A74F3A2B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619250"/>
            <a:ext cx="1285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416129-FB57-49E3-B5CD-0D2D7239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714500"/>
            <a:ext cx="1095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Confidence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67F18-2C1F-4DBB-933E-40DA93B6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619250"/>
            <a:ext cx="461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91C63A-F736-4588-B611-0A726505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714500"/>
            <a:ext cx="4429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BA4E37-C0E4-4545-83FD-54E924EE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1619250"/>
            <a:ext cx="2676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64809D-D05A-4015-8DEC-354D3520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1714500"/>
            <a:ext cx="2486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Remaining uncertainty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7ED35D-1BB1-47F3-8A96-A453171E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238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8AD2C4-5A2A-484E-B38D-46D71816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204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2A2A2A"/>
                </a:solidFill>
              </a:defRPr>
            </a:pPr>
            <a:r>
              <a:rPr sz="960" b="1">
                <a:solidFill>
                  <a:srgbClr val="2A2A2A"/>
                </a:solidFill>
              </a:rPr>
              <a:t>user_097 burst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A4FBE7-199E-4A2A-BDA1-9888010D2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285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B6E227-DE21-4A04-9B03-1D1B275F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266950"/>
            <a:ext cx="109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95%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5737D0-93A6-4767-BEB7-41080C53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190750"/>
            <a:ext cx="461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D809F3-F813-4AE2-A16C-FB9F78C8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66950"/>
            <a:ext cx="4429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48 attempts at one second; same IP; repeated failures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F999A-4860-438C-B548-8FFD5DFE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190750"/>
            <a:ext cx="2676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3F14CD-BB8E-4681-9317-7C3C3434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266950"/>
            <a:ext cx="2486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Could include replayed logs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9C7D2F-D471-4E14-B00F-39EA6EEB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2238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CB3017-B2B6-4023-A9FF-D92CB409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38450"/>
            <a:ext cx="204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2A2A2A"/>
                </a:solidFill>
              </a:defRPr>
            </a:pPr>
            <a:r>
              <a:rPr sz="960" b="1">
                <a:solidFill>
                  <a:srgbClr val="2A2A2A"/>
                </a:solidFill>
              </a:rPr>
              <a:t>Shared-IP spray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A0A3FE-9027-4657-8A8E-F50CDEE1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762250"/>
            <a:ext cx="1285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526538-7869-4D2B-A940-FC2D2889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838450"/>
            <a:ext cx="109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92%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633BC3-B2F1-4C71-B6FF-408108CB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62250"/>
            <a:ext cx="461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BFB883-3FF0-424E-83DB-4F6DC003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4429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20 users, one IP, same timestamp, mixed outcomes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5C1D53-D067-4426-94AD-B64BD5CE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762250"/>
            <a:ext cx="2676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DDAF3F-79C5-445C-A5C5-F8F1098B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838450"/>
            <a:ext cx="2486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Need IP reputation and ASN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2E4677-C420-42B1-B85D-37648CFD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2238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63A161-913C-41FF-84D3-48E07154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9950"/>
            <a:ext cx="204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2A2A2A"/>
                </a:solidFill>
              </a:defRPr>
            </a:pPr>
            <a:r>
              <a:rPr sz="960" b="1">
                <a:solidFill>
                  <a:srgbClr val="2A2A2A"/>
                </a:solidFill>
              </a:rPr>
              <a:t>user_003 probe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89A309-C463-4D5F-9E60-EF1BD14F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333750"/>
            <a:ext cx="1285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8EAB61-8195-457F-A7CF-5FAB7A34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409950"/>
            <a:ext cx="109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90%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697DA9-96F0-4DDB-A0E5-98FBD89E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333750"/>
            <a:ext cx="461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CB8F0C-6D98-4C07-A7A3-1C3B1E0A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409950"/>
            <a:ext cx="4429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33 exact 20:00 attempts; 32 failures then success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C31AE6-473F-47AC-9C4E-601DD41F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333750"/>
            <a:ext cx="2676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A87FD1A-3425-4F45-881D-F2E38EC53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3409950"/>
            <a:ext cx="2486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Need user schedule context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072CE11-B409-4979-88C2-197353B1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238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D22189-0301-48E4-A3D0-468B20F1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204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2A2A2A"/>
                </a:solidFill>
              </a:defRPr>
            </a:pPr>
            <a:r>
              <a:rPr sz="960" b="1">
                <a:solidFill>
                  <a:srgbClr val="2A2A2A"/>
                </a:solidFill>
              </a:rPr>
              <a:t>IP velocity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FDF24E8-6070-47CA-8F2A-5A7D3C37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905250"/>
            <a:ext cx="1285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6666EF-79A0-404A-B123-567BD754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981450"/>
            <a:ext cx="109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70%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74CEB7-1974-4243-9CC0-34E01037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905250"/>
            <a:ext cx="461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9143662-F4A5-4502-88F1-443A34FA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81450"/>
            <a:ext cx="4429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Many users have broad IP spread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ACB16AF-A096-4026-A369-FE7223F6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905250"/>
            <a:ext cx="2676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082AF4E-B640-4088-962C-6898198F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3981450"/>
            <a:ext cx="2486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Threshold needs calibration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C8C7606-4F05-431B-80F3-0773DD2BF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238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BE2F4E0-B029-447E-B439-E7FCA991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2047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2A2A2A"/>
                </a:solidFill>
              </a:defRPr>
            </a:pPr>
            <a:r>
              <a:rPr sz="960" b="1">
                <a:solidFill>
                  <a:srgbClr val="2A2A2A"/>
                </a:solidFill>
              </a:rPr>
              <a:t>Off-hours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85D19A5-1AE2-46EF-8CA7-53E7092D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476750"/>
            <a:ext cx="12858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6ED98BC-6F9E-4CCA-9878-F395C1D23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552950"/>
            <a:ext cx="109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65%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34D7C2D-C000-4003-BF3D-767D5290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476750"/>
            <a:ext cx="4619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B11E861-B288-42AA-A8F1-C12C061B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552950"/>
            <a:ext cx="4429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5 midnight logins; user_009 has 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B65F110-D531-4F00-B8BB-924DD61C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476750"/>
            <a:ext cx="2676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AF1ABA1-C182-42C0-ACBA-C3281656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4552950"/>
            <a:ext cx="2486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2A2A2A"/>
                </a:solidFill>
              </a:defRPr>
            </a:pPr>
            <a:r>
              <a:rPr sz="960" b="0">
                <a:solidFill>
                  <a:srgbClr val="2A2A2A"/>
                </a:solidFill>
              </a:rPr>
              <a:t>Work schedule may explain it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947BE98-5635-45AB-813D-32397FF0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8204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6FFBC64-8C4A-4C05-AD5D-4933CB82F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58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F8D80CC-BCA0-46B6-A9AD-9DB5A035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8167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Confidence is not certainty; it is a transparent way to prioritize triage.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367F39E-B5D3-4F15-AE55-85D9CDBE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7644D32-A7F0-4D5B-9C6D-87D6427F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B429392-212C-4E1B-A579-86A45A23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11080256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b00a430dae4cf4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E74F22-DD0A-4644-8137-B858EF60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65545D-3849-4827-A2CD-73490FFC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SHORT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6A51EC-9BAF-4F32-8397-AD52B4F3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789FA6-6ECC-4A6D-8D1B-66FAA5E5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Anomaly 1: user_097 brute-force burst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9A3154-D942-46FB-8996-5ED2CE5F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Confidence: 95% - impossible timing is the strongest signal.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7AED1D-DE47-4C8D-B3AB-5976971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2382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BC174-C02E-4C81-9EA6-ACC10663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954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92D20"/>
                </a:solidFill>
              </a:defRPr>
            </a:pPr>
            <a:r>
              <a:rPr sz="900" b="1">
                <a:solidFill>
                  <a:srgbClr val="D92D20"/>
                </a:solidFill>
              </a:rPr>
              <a:t>CRITICAL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CE8C6D-A20C-484B-9AC3-9D630E14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428750"/>
            <a:ext cx="16192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C5EFBC-5E35-41BA-938A-938871F6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95425"/>
            <a:ext cx="1428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A582D"/>
                </a:solidFill>
              </a:defRPr>
            </a:pPr>
            <a:r>
              <a:rPr sz="900" b="1">
                <a:solidFill>
                  <a:srgbClr val="FA582D"/>
                </a:solidFill>
              </a:rPr>
              <a:t>CONFIDENCE 95%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C3CE8-61F7-4A58-AF65-816BD064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6667500" cy="3476625"/>
          </a:xfrm>
          <a:prstGeom xmlns:a="http://schemas.openxmlformats.org/drawingml/2006/main" prst="roundRect">
            <a:avLst>
              <a:gd name="adj" fmla="val 21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1e0452d92e452f"/>
          <a:stretch xmlns:a="http://schemas.openxmlformats.org/drawingml/2006/main"/>
        </p:blipFill>
        <p:spPr>
          <a:xfrm xmlns:a="http://schemas.openxmlformats.org/drawingml/2006/main">
            <a:off x="1007104" y="1990725"/>
            <a:ext cx="6024893" cy="3209925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B36303-AC0F-48F6-A500-F58D1C15B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478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5C39BC-E092-43A7-BB06-B11B6553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09800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- 48 attempts at 2024-02-09 18:24:00</a:t>
            </a:r>
          </a:p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Same IP: 103.56.23.138</a:t>
            </a:r>
          </a:p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- 97 failures and 50.0% failure 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15105-0DE4-4567-8716-0FC61D7D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052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Alternatives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0A032A-E9DA-4B92-B946-4B93D9BD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848100"/>
            <a:ext cx="342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Duplicate ingestion</a:t>
            </a:r>
          </a:p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Replay artifacts</a:t>
            </a:r>
          </a:p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Synthetic load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65A0DC-F37C-4F28-B714-3F64E6BC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8204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4EC4AC-F9F9-4B7C-9AD6-2CC99900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2D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CE5DAD-BE8A-41B4-A331-611E07A1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388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Contain first, then verify with session history, source reputation, and upstream log quality.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3269B8-01B1-4724-A303-FE94AE3F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A07B2F-4E26-4111-8421-C98CD00A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1E0945-6576-411E-83BE-BB694346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2948640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760a138de34ed6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24EF10-96A7-4685-AAF0-B0631670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6E3D88-D3C2-4057-AD17-C4460DC4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SHORT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966E9-F5AF-438C-9AA3-70F9841E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BAB092-6EF3-4723-AF85-9D23D2F9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Anomalies 2 and 3: probe plus shared-IP spray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B2083-BD89-439F-BDE0-9910340C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Both patterns indicate coordinated source behavior rather than normal user mistakes.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1EAC5F-5DC5-42A9-8FDF-0DB2B8D0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5d6cb0f434926"/>
          <a:stretch xmlns:a="http://schemas.openxmlformats.org/drawingml/2006/main"/>
        </p:blipFill>
        <p:spPr>
          <a:xfrm xmlns:a="http://schemas.openxmlformats.org/drawingml/2006/main">
            <a:off x="819150" y="2299155"/>
            <a:ext cx="4876800" cy="149768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1341EA-ADA6-4E78-BEC9-72BD0EC3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67fd38b077496c"/>
          <a:stretch xmlns:a="http://schemas.openxmlformats.org/drawingml/2006/main"/>
        </p:blipFill>
        <p:spPr>
          <a:xfrm xmlns:a="http://schemas.openxmlformats.org/drawingml/2006/main">
            <a:off x="6496050" y="2193819"/>
            <a:ext cx="4876800" cy="1708362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B7C446-F25B-4214-81D6-58D6E2C7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2095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01A745-F931-44FF-ADB4-3F7EECD7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05375"/>
            <a:ext cx="1905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748B94-C269-467E-9231-10D94B1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810125"/>
            <a:ext cx="12858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A3E066-15C1-4628-AB8C-5D8A6F69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05375"/>
            <a:ext cx="1095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Confidence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95BAAF-EB79-467B-A753-AFD13D60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810125"/>
            <a:ext cx="5048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8389D3-3CAB-446D-B871-1EF5CBE5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4905375"/>
            <a:ext cx="4857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7DC284-348B-4DA4-A676-E6EB196F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4810125"/>
            <a:ext cx="23907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DE33AD-D60E-4508-9243-BCC58D9D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4905375"/>
            <a:ext cx="22002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33F40A-911A-4B55-BE0B-A5F84A45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2095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63A306-F009-42EA-B18B-60C149D9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4950"/>
            <a:ext cx="1905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2A2A2A"/>
                </a:solidFill>
              </a:defRPr>
            </a:pPr>
            <a:r>
              <a:rPr sz="1013" b="1">
                <a:solidFill>
                  <a:srgbClr val="2A2A2A"/>
                </a:solidFill>
              </a:rPr>
              <a:t>user_003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DC38B0-6082-40E5-87C1-7DC414CC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238750"/>
            <a:ext cx="12858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06261-244F-4776-AA57-28EA40A7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314950"/>
            <a:ext cx="1095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A2A2A"/>
                </a:solidFill>
              </a:defRPr>
            </a:pPr>
            <a:r>
              <a:rPr sz="1013" b="0">
                <a:solidFill>
                  <a:srgbClr val="2A2A2A"/>
                </a:solidFill>
              </a:rPr>
              <a:t>90%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1DF1DE-D82F-47E1-AA1C-A741A199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5238750"/>
            <a:ext cx="5048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18898B-467D-493D-8C21-5A2FFFB2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314950"/>
            <a:ext cx="4857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A2A2A"/>
                </a:solidFill>
              </a:defRPr>
            </a:pPr>
            <a:r>
              <a:rPr sz="1013" b="0">
                <a:solidFill>
                  <a:srgbClr val="2A2A2A"/>
                </a:solidFill>
              </a:rPr>
              <a:t>33 exact 20:00 probes; 32 failures; 1 success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C1FCE-C233-4EDC-B473-C1E7E7B5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5238750"/>
            <a:ext cx="23907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D309B4-54AC-4A99-A8C7-9C9DAC4A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5314950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A2A2A"/>
                </a:solidFill>
              </a:defRPr>
            </a:pPr>
            <a:r>
              <a:rPr sz="1013" b="0">
                <a:solidFill>
                  <a:srgbClr val="2A2A2A"/>
                </a:solidFill>
              </a:rPr>
              <a:t>Step-up MFA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5FFB14-2320-4289-8882-D2C279F2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2095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03463-93D3-46E7-A364-C6D7D6F0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43575"/>
            <a:ext cx="1905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2A2A2A"/>
                </a:solidFill>
              </a:defRPr>
            </a:pPr>
            <a:r>
              <a:rPr sz="1013" b="1">
                <a:solidFill>
                  <a:srgbClr val="2A2A2A"/>
                </a:solidFill>
              </a:rPr>
              <a:t>45.139.113.61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7F3308-A458-40BB-AD42-8B4F7B1E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667375"/>
            <a:ext cx="12858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EE4B3B-9B41-426B-A9E4-C9B3D5AF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743575"/>
            <a:ext cx="1095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A2A2A"/>
                </a:solidFill>
              </a:defRPr>
            </a:pPr>
            <a:r>
              <a:rPr sz="1013" b="0">
                <a:solidFill>
                  <a:srgbClr val="2A2A2A"/>
                </a:solidFill>
              </a:rPr>
              <a:t>92%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21D65B-DAF4-4BBA-AA3F-68261A6E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5667375"/>
            <a:ext cx="5048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BC0ABC-8FB7-409F-9F27-700A64B5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743575"/>
            <a:ext cx="4857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A2A2A"/>
                </a:solidFill>
              </a:defRPr>
            </a:pPr>
            <a:r>
              <a:rPr sz="1013" b="0">
                <a:solidFill>
                  <a:srgbClr val="2A2A2A"/>
                </a:solidFill>
              </a:rPr>
              <a:t>20 users at one timestamp; 13 successes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DA2D92-020E-4CBD-BF5E-AAC6EDEB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5667375"/>
            <a:ext cx="23907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26A9F5-12E2-47B6-AF3B-92152AD2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574357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A2A2A"/>
                </a:solidFill>
              </a:defRPr>
            </a:pPr>
            <a:r>
              <a:rPr sz="1013" b="0">
                <a:solidFill>
                  <a:srgbClr val="2A2A2A"/>
                </a:solidFill>
              </a:rPr>
              <a:t>Open case and enrich IP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828E7E-73F8-42AC-8999-8132D0B1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20988E-85E5-410B-AD9A-BC8A1C93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9C07CA-B660-4B58-8500-66F2D2C8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5736713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2925f954314db9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4AFE5-CBD6-4DBE-AA3F-03D33F91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2B1D4C-09D6-48AB-8AB9-CED54286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SHORT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2CD3C-46CE-48F1-B577-0922B417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1877CA-838A-4486-93C2-C8140214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Anomalies 4 and 5: calibration-sensitive signals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5E2702-7E99-49D2-9EC7-1CB6A709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IP velocity and off-hours access are useful, but should not fire alone.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6F1E17-2ADD-4517-B40E-FB3B127A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4a3bff9a68499d"/>
          <a:stretch xmlns:a="http://schemas.openxmlformats.org/drawingml/2006/main"/>
        </p:blipFill>
        <p:spPr>
          <a:xfrm xmlns:a="http://schemas.openxmlformats.org/drawingml/2006/main">
            <a:off x="819150" y="2191040"/>
            <a:ext cx="4876800" cy="1713921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1B1A26-1CBF-4F0A-AB1D-E5113EB3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5143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cccf15643941cc"/>
          <a:stretch xmlns:a="http://schemas.openxmlformats.org/drawingml/2006/main"/>
        </p:blipFill>
        <p:spPr>
          <a:xfrm xmlns:a="http://schemas.openxmlformats.org/drawingml/2006/main">
            <a:off x="6496050" y="2149047"/>
            <a:ext cx="4876800" cy="1797906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65A4BB-474A-4B71-A149-DB5E1AD0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2095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2E3A1D-EF79-4D93-915A-AB296003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05375"/>
            <a:ext cx="1905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B238F0-A3BB-46CA-B73E-788FE8B0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810125"/>
            <a:ext cx="12858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F4B36B-2240-444E-937E-B92FDCED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05375"/>
            <a:ext cx="10953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Confidence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78CEAC-03C1-4A2F-A9C3-AD90DB4E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810125"/>
            <a:ext cx="3714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620DC2-AD0B-43C1-89FC-B01D692C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4905375"/>
            <a:ext cx="3524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Interpretation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A50BEF-C3B1-4057-829C-D6169DC5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4810125"/>
            <a:ext cx="37242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E41A7C-7037-4E1A-97AA-6C8A45CE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4905375"/>
            <a:ext cx="35337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Production hardening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6D03B-6177-4AC2-AD9F-1D1FA33F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2095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A060C3-AC4F-4326-83C4-58CED3F9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4950"/>
            <a:ext cx="1905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90" b="1">
                <a:solidFill>
                  <a:srgbClr val="2A2A2A"/>
                </a:solidFill>
              </a:defRPr>
            </a:pPr>
            <a:r>
              <a:rPr sz="990" b="1">
                <a:solidFill>
                  <a:srgbClr val="2A2A2A"/>
                </a:solidFill>
              </a:rPr>
              <a:t>High IP velocity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C75AFB-CD80-4115-81EA-A9A47A61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238750"/>
            <a:ext cx="12858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98E05C-C532-42E0-B4AB-450F4E70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314950"/>
            <a:ext cx="1095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90" b="0">
                <a:solidFill>
                  <a:srgbClr val="2A2A2A"/>
                </a:solidFill>
              </a:defRPr>
            </a:pPr>
            <a:r>
              <a:rPr sz="990" b="0">
                <a:solidFill>
                  <a:srgbClr val="2A2A2A"/>
                </a:solidFill>
              </a:rPr>
              <a:t>70%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7D602B-D0F4-4713-97E7-38816D7E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5238750"/>
            <a:ext cx="3714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10ED6F-CBC2-4080-8F13-CA243E7D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314950"/>
            <a:ext cx="3524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90" b="0">
                <a:solidFill>
                  <a:srgbClr val="2A2A2A"/>
                </a:solidFill>
              </a:defRPr>
            </a:pPr>
            <a:r>
              <a:rPr sz="990" b="0">
                <a:solidFill>
                  <a:srgbClr val="2A2A2A"/>
                </a:solidFill>
              </a:rPr>
              <a:t>Potential proxy/VPN/bot source rotation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373287-EF81-4F65-AC20-4D9A9BBF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5238750"/>
            <a:ext cx="37242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62D444-1E63-4E16-A719-B3028785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5314950"/>
            <a:ext cx="35337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90" b="0">
                <a:solidFill>
                  <a:srgbClr val="2A2A2A"/>
                </a:solidFill>
              </a:defRPr>
            </a:pPr>
            <a:r>
              <a:rPr sz="990" b="0">
                <a:solidFill>
                  <a:srgbClr val="2A2A2A"/>
                </a:solidFill>
              </a:rPr>
              <a:t>Add geo, ASN, device and user history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0F4681-6892-4687-B7DD-2DD654E3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2095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414405-9DB9-4B48-84A1-5922CC5B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43575"/>
            <a:ext cx="1905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90" b="1">
                <a:solidFill>
                  <a:srgbClr val="2A2A2A"/>
                </a:solidFill>
              </a:defRPr>
            </a:pPr>
            <a:r>
              <a:rPr sz="990" b="1">
                <a:solidFill>
                  <a:srgbClr val="2A2A2A"/>
                </a:solidFill>
              </a:rPr>
              <a:t>Off-hours access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A411FF-68A2-4983-BC53-2B774DE9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667375"/>
            <a:ext cx="12858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188B0F-0EF8-43A7-A5EA-C44F0922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743575"/>
            <a:ext cx="1095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90" b="0">
                <a:solidFill>
                  <a:srgbClr val="2A2A2A"/>
                </a:solidFill>
              </a:defRPr>
            </a:pPr>
            <a:r>
              <a:rPr sz="990" b="0">
                <a:solidFill>
                  <a:srgbClr val="2A2A2A"/>
                </a:solidFill>
              </a:rPr>
              <a:t>65%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67DE5B-644C-4B2A-AE01-E09A7831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5667375"/>
            <a:ext cx="37147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7C1EF4-5F77-4F9A-928F-4E89DA66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743575"/>
            <a:ext cx="3524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90" b="0">
                <a:solidFill>
                  <a:srgbClr val="2A2A2A"/>
                </a:solidFill>
              </a:defRPr>
            </a:pPr>
            <a:r>
              <a:rPr sz="990" b="0">
                <a:solidFill>
                  <a:srgbClr val="2A2A2A"/>
                </a:solidFill>
              </a:rPr>
              <a:t>Suspicious only with novelty or sensitive actions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6C22C6-620A-44BB-A398-1A75AA73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5667375"/>
            <a:ext cx="37242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83163B-2E02-4B8A-8F39-288A9BB9B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5743575"/>
            <a:ext cx="35337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90" b="0">
                <a:solidFill>
                  <a:srgbClr val="2A2A2A"/>
                </a:solidFill>
              </a:defRPr>
            </a:pPr>
            <a:r>
              <a:rPr sz="990" b="0">
                <a:solidFill>
                  <a:srgbClr val="2A2A2A"/>
                </a:solidFill>
              </a:rPr>
              <a:t>Use work schedules and role context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347398-8149-4EDF-8EE3-D50B7901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2BFC00-E400-46F8-91F8-1EB74530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8B8854-8ACF-4548-9A83-6B355FB7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96178485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2696daecd54846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A5D2A0-D675-40A4-90FE-A0FA1785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2F5308-B482-420B-A21B-BF3335D9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PRODUCT ANALYTICS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7E74BA-2B6D-4BBC-942D-1E442CB9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432F5-DB47-4C7D-A31B-190AED6B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Product KPI case: signup spike needs quality checks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718D6-F5A3-4F53-B789-05C50FD6F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A growth spike is valuable only if acquisition quality and downstream activation hold.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99D3B-2CBD-4E32-8E9C-45C97D8F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7000875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31ce52d31d4a65"/>
          <a:stretch xmlns:a="http://schemas.openxmlformats.org/drawingml/2006/main"/>
        </p:blipFill>
        <p:spPr>
          <a:xfrm xmlns:a="http://schemas.openxmlformats.org/drawingml/2006/main">
            <a:off x="1680924" y="1657350"/>
            <a:ext cx="5010626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69D367-5F39-4985-BFEA-5CA2FDF3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5716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Dashboard questions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52C73A-BF09-4925-859F-8A97789B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952625"/>
            <a:ext cx="3238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Which channel, country, and device changed?</a:t>
            </a:r>
          </a:p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Did verification, activation, and payment quality hold?</a:t>
            </a:r>
          </a:p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Was the spike real traffic, bot abuse, or instrumentation drift?</a:t>
            </a:r>
          </a:p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What revenue or retention signal followed the spike?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7AF6C9-FBCA-4F84-B6BD-77F46116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9719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Core KPIs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53B97F-16AB-47FB-BA2F-740E8173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4340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Signups</a:t>
            </a:r>
          </a:p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Activation</a:t>
            </a:r>
          </a:p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Verified users</a:t>
            </a:r>
          </a:p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Fraud rate</a:t>
            </a:r>
          </a:p>
          <a:p xmlns:a="http://schemas.openxmlformats.org/drawingml/2006/main">
            <a:pPr algn="l">
              <a:defRPr sz="1200" b="0">
                <a:solidFill>
                  <a:srgbClr val="2A2A2A"/>
                </a:solidFill>
              </a:defRPr>
            </a:pPr>
            <a:r>
              <a:rPr sz="1200" b="0">
                <a:solidFill>
                  <a:srgbClr val="2A2A2A"/>
                </a:solidFill>
              </a:rPr>
              <a:t>- Revenue impact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26DB3B-F47B-495D-BFCB-92FC46E7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28289-41BF-45DE-AFB1-5C7CB2BD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C7110-895B-48C9-A180-20D60CE5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161917259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b9fa1c4f0b4e2f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94635F-C74C-4D28-9173-4F91DDF1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749AB4-A8C3-4A14-BF14-96B979FA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SHORT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204618-8BE7-41B1-90BD-B6B57DA4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527BC4-83A8-42F2-A636-DE0EC3EB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Why explainability and cost matter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18D4C-D5A9-4264-8DC5-14BA5062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Security teams need alerts they can trust, defend, tune, and afford to run.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D47B34-6128-468D-BA99-6641EE1C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05129-8DB7-42D4-9723-13B91A3A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Dimension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3A26BD-7244-4F79-A214-2D5DE867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619250"/>
            <a:ext cx="400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385E65-D4E7-4577-903A-26202AC8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71450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Heuristics first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CB685D-5555-4454-AA89-A1359A43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19250"/>
            <a:ext cx="4248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AA1945-7F21-4370-AB9F-BEECDE6B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714500"/>
            <a:ext cx="4057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Machine learning later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C99587-70B9-4D74-BA4E-0B3B2BFC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3388AB-7996-437F-8952-523464EF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288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SOC trust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0B7561-EB35-4CF5-8E11-0EA0F7BB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52650"/>
            <a:ext cx="400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C168F1-655A-4AAA-B5EA-C2BD6408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2885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Clear evidence per alert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BD5D3B-DFA4-4EF5-87FB-6C50BF10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52650"/>
            <a:ext cx="4248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056E5B-376C-4F60-AA7E-BE465607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2885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Needs model explanation layer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0823D7-A226-4B34-B306-B96F1BF6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0A115A-246B-4E52-82CE-C7208ED6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Legal defensibility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04A139-973F-4DCB-84C7-28D25D36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86050"/>
            <a:ext cx="400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238D8A-296E-46A2-965F-11AA4AA6A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6225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Rule and threshold are inspectable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3AADDC-DABE-4FB2-94A4-C067CA76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86050"/>
            <a:ext cx="4248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FA3C34-4D35-4ADB-87CE-0D6AC4E7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6225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Requires governance and documentation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FCF7C7-113F-4823-B782-ADD79AD8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2F786F-F314-4DDA-9EC1-1EA6D1DA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Tuning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7A98B3-012A-4B40-ABE0-C25C66ED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219450"/>
            <a:ext cx="400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1CD7D1-9A99-4830-BAB7-F1B75A5EF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29565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Fast threshold changes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FD3435-2111-4060-A208-3DBCC45D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19450"/>
            <a:ext cx="4248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346DE4-688F-4289-971C-3C3E7C60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9565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Needs retraining and drift monitoring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887F44-049B-4A85-8BDB-4D8344FC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E6AF65-F2CC-42E1-B566-C178D69D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Latency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97AC71-6BE1-41F0-9C26-4FDFCFD8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52850"/>
            <a:ext cx="400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4C647C-8CAD-4605-96B2-87500F5B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2905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Milliseconds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29F30C-5FC2-4EAE-9EBD-D81119F5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752850"/>
            <a:ext cx="4248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13C2C8-B432-45D9-AABE-7108D105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2905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Higher inference and feature costs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910C0F-5C37-4AD9-A332-11C79CDD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1BE741F-46CE-4730-8412-A036D08E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Maintenance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529318-19BA-4D1C-9ECA-C753F960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86250"/>
            <a:ext cx="400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05CCF2-D9CE-464F-8A44-760A780F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36245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Low to moderate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C31F72-80FE-4CEF-94A0-B4E06531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86250"/>
            <a:ext cx="4248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6857A22-FBE8-407E-B47E-EE99DE99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362450"/>
            <a:ext cx="4057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Model monitoring, retraining, feature parity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A15FCAD-8C17-4215-8FF9-E1C01E818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8204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3C0C5A-8D6F-4E4E-BF73-D8F66C97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58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1887A0F-7BB9-4C25-925C-C7681738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8167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The right path is not anti-ML; it is staged automation after evidence, labels, and feedback exist.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4A035B8-28E8-495E-8D53-E13D23C7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0EA097-CD83-4B11-ADDD-09C707FC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1DF19E4-2435-4115-8CC4-443DCC6E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115112530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f57d2642c44b5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06CB8C-52EC-4CFC-93F9-3EE7CAAE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65F93E-BDF9-45FD-AE2D-3DD18168A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PRODUCTION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546D3-DBA3-4532-9DE8-0681B4DE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C19053-0C9D-4A14-A65C-C804F615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Production architecture expands the notebook into a detection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74859D-5476-4A99-A79D-39CF2525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The same features become streaming signals, alert rules, and feedback data.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FF0AF8-5D29-4FA3-99F2-187C4CD9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590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A582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C05322-B8D6-4306-91C0-9C587F5F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716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Applications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C92CF3-A4C7-40F5-A421-786964B1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80975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9CAD73-39BF-4F0C-A0EF-D45EB837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19250"/>
            <a:ext cx="2590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96EDD0-430F-49ED-B517-84BD219F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716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Kafka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F2FC99-29CF-4736-AD64-D8BA3B6B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80975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776897-2508-41A9-AFED-14F0B2C9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19250"/>
            <a:ext cx="2590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F107C-DD00-4BEB-8A50-2849056C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716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Validation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AAB896-23CB-4CB8-9D47-05E4582D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180975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E2AD78-5D3B-45D7-85F9-236EE0A3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619250"/>
            <a:ext cx="2590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6F27D0-2854-41B0-ABF9-8BADF8A9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716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Streaming ETL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A347D3-0AFC-40E4-9023-E821BD2B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2590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A5B8EA-CBF3-4A8E-B8F8-9A641521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Feature Store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EF5A25-D41D-4322-BE9A-E1A83678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74320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18864F-6CAC-43FE-BB41-32173C76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52700"/>
            <a:ext cx="2590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46B205-AD27-4CFB-B08C-4990CFFE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70510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Risk Scoring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FB1742-C08D-4668-A599-D81C44FD2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4320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7E3230-C311-4AA1-B433-B16DDB24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52700"/>
            <a:ext cx="2590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0F7027-7927-48E9-A574-C917FEE5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Rules Engine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7A37BA-AAD5-479B-A17E-BDA6BBAD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74320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7AF0B1-9BDE-4187-B726-F53FCF6A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552700"/>
            <a:ext cx="2590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44F171-7F31-4830-BA92-F3899381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0510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SIEM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1BD4E6-76B9-4EC0-92C3-65A04190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2590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307992-8D9C-4F74-BFD1-A53CF348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SOAR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14DD05-24AE-4B3E-9C63-BC9A7CE2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67665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E54B87-5BAA-46FB-AC78-0EA8A0AD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486150"/>
            <a:ext cx="2590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570EBA-8B93-4488-8176-98C939AB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6385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SOC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C71A2B-11A1-4F45-BEBA-F7B27447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67665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2341D1-C463-4733-83F6-8997E738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2590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372B3C-B2A8-4551-8592-B59D1BB1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385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Feedback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8A0555-F81F-4525-A78C-835979A1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676650"/>
            <a:ext cx="13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A582D"/>
                </a:solidFill>
              </a:defRPr>
            </a:pPr>
            <a:r>
              <a:rPr sz="1500" b="1">
                <a:solidFill>
                  <a:srgbClr val="FA582D"/>
                </a:solidFill>
              </a:rPr>
              <a:t>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CEC34C-AD58-43A8-8657-14B1B4AF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486150"/>
            <a:ext cx="2590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A582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E77518-716D-4954-B49D-311EEFB1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385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Model Retraining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BCF40D-C39E-4F0A-B8CE-4AC32187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8715DB-443E-4D71-9936-21D48232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58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DE68B1E-D5B2-4CA6-BADD-65229DAB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245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Analyst feedback closes the loop: it improves thresholds now and creates labels for future ML.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E272E1E-9622-4710-A77A-799A6D5E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48737A-3331-4E4A-AAA1-F22D4C10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C68830E-80EB-4926-B13F-8C18FB69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50598002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a4da5940c047f3"/>
          <a:stretch xmlns:a="http://schemas.openxmlformats.org/drawingml/2006/main"/>
        </p:blipFill>
        <p:spPr>
          <a:xfrm xmlns:a="http://schemas.openxmlformats.org/drawingml/2006/main">
            <a:off x="693906" y="323850"/>
            <a:ext cx="1660187" cy="3048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101E74-DCF2-461A-9B6D-A6F425DA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DB22FC-46D5-4305-BA7A-E5F91664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24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SHORT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363549-73FD-470F-A2FB-6E62B84B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33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F6F"/>
                </a:solidFill>
              </a:defRPr>
            </a:pPr>
            <a:r>
              <a:rPr sz="975" b="1">
                <a:solidFill>
                  <a:srgbClr val="6F6F6F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9DF0E6-7D8D-4F97-BE2B-C13B7BC0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Recommendations and conclusion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3387AB-D986-4ACC-B0D9-18568274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906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F6F"/>
                </a:solidFill>
              </a:defRPr>
            </a:pPr>
            <a:r>
              <a:rPr sz="1350" b="0">
                <a:solidFill>
                  <a:srgbClr val="6F6F6F"/>
                </a:solidFill>
              </a:rPr>
              <a:t>The final recommendation is a repeatable, defensible analytics framework.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669FEE-E77D-45DC-A5C8-27961C5F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71F919-94F5-47AC-A0D3-13EC76D6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Time horizon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E69460-C311-40B6-B5A7-93925462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619250"/>
            <a:ext cx="523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207054-5594-4A32-AECD-4F68BC65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71450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10F819-E304-4FA3-90A8-6B024C35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19250"/>
            <a:ext cx="3581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43A473-914B-4A15-A73A-80C63D2E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14500"/>
            <a:ext cx="3390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Owner value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163F7B-5A0B-4AAE-85CD-EDD4B086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FC2903-3AD1-48AE-B46C-30097888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Now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BCA0F1-4B02-472D-9EDF-F26A55DA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133600"/>
            <a:ext cx="523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3E5DDE-4271-43D9-BFD3-4A05E57B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098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Deduplicate, normalize labels, triage top anomalies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19B475-8511-4100-BF1A-E7403CC4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33600"/>
            <a:ext cx="3581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01B52B-9132-4F56-9427-5BE37740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098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Cleaner alerts and faster response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E90837-C063-42FB-9712-2943E624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690577-DF27-452E-A3E2-EC05FC98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Next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827B73-CE67-41ED-82ED-C9309C60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47950"/>
            <a:ext cx="523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9AD283-FB7C-4CE0-BB29-2F879614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241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Add geo, ASN, user agent, MFA, session context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964092-C89D-4418-8F79-7BD25639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47950"/>
            <a:ext cx="3581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04B2F3-8B1D-47BC-BB7C-322321B7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2415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Fewer false positives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7BAC2A-F10F-49BF-BBCF-256E3D65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4839B8-1DD1-4B98-BEBE-BB2847CE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Next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79A239-6411-4FF3-B387-4422A19E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62300"/>
            <a:ext cx="523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DBA65B-ECC2-4D1C-AE18-EAECCB61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385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Build SOC dashboard with confidence and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1EBBDF-875F-4019-8D22-351DE4B5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62300"/>
            <a:ext cx="3581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34EBCA-14DD-486F-8C1A-7B94983C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3850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Analyst trust and auditability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701207-5750-4599-82C8-FC8753B7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3CBCE1-F799-46A5-ABC4-16E100D8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2A2A2A"/>
                </a:solidFill>
              </a:defRPr>
            </a:pPr>
            <a:r>
              <a:rPr sz="1088" b="1">
                <a:solidFill>
                  <a:srgbClr val="2A2A2A"/>
                </a:solidFill>
              </a:rPr>
              <a:t>Later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9BD60F-379B-4D0D-ADDA-DCC10625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676650"/>
            <a:ext cx="523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E8A352-5FCF-4BEB-8E11-1F4AF0EB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528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Use feedback labels for ML and drift monitoring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8DEAD7-4AA8-4EB2-B81E-B4F7D62A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76650"/>
            <a:ext cx="3581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E9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ADEDC36-D1B9-426B-B82D-C4D3046A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5285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2A2A2A"/>
                </a:solidFill>
              </a:defRPr>
            </a:pPr>
            <a:r>
              <a:rPr sz="1088" b="0">
                <a:solidFill>
                  <a:srgbClr val="2A2A2A"/>
                </a:solidFill>
              </a:rPr>
              <a:t>Gradual automation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D780C7-AFAA-4C08-BD17-79EB9B8B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Close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7D1BD0-7FC7-44F0-8F89-2DDEF6D3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1076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A2A2A"/>
                </a:solidFill>
              </a:defRPr>
            </a:pPr>
            <a:r>
              <a:rPr sz="1275" b="0">
                <a:solidFill>
                  <a:srgbClr val="2A2A2A"/>
                </a:solidFill>
              </a:rPr>
              <a:t>This investigation demonstrates a repeatable analytical framework rather than a collection of isolated findings. I prioritized interpretable behavioral analytics because the dataset lacked labels and production context. The proposed features, workflow, dashboard, and architecture support analysts today while creating a path toward a production-grade detection platform.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2FE86F1-E839-4847-BE31-98D62188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9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BA8982-A032-4DCA-A132-A233276A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Senior Data Analyst Assignment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A600293-30E4-4267-9AB0-8E8AE383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57950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F6F6F"/>
                </a:solidFill>
              </a:defRPr>
            </a:pPr>
            <a:r>
              <a:rPr sz="825" b="0">
                <a:solidFill>
                  <a:srgbClr val="6F6F6F"/>
                </a:solidFill>
              </a:rPr>
              <a:t>Analytical visuals are notebook-generated</a:t>
            </a:r>
          </a:p>
        </p:txBody>
      </p:sp>
    </p:spTree>
    <p:extLst>
      <p:ext uri="{BB962C8B-B14F-4D97-AF65-F5344CB8AC3E}">
        <p14:creationId xmlns:p14="http://schemas.microsoft.com/office/powerpoint/2010/main" val="6419047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2026-07-06T13:06:50.5630000Z</dcterms:created>
  <dcterms:modified xsi:type="dcterms:W3CDTF">2026-07-06T13:06:50.5630000Z</dcterms:modified>
</coreProperties>
</file>