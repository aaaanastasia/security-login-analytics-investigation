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988AFFA-FA37-4E88-926E-072A466479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572125" cy="68580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383902"/>
            <a:ext cx="2095500" cy="38472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A07D1D-3CEE-4967-8D6D-B3958C80380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57250" cy="47625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E2307B8-E13A-468E-B766-ED993F8F5D4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09587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Security Login Analytics Investigation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53C58CC-1667-4C9A-8539-CBC2C85DA826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Short Technical Review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393A989-A125-49C2-99E7-3F90BBDB0D71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466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D9D9D9"/>
                </a:solidFill>
              </a:defRPr>
            </a:pPr>
            <a:r>
              <a:rPr sz="1575" b="0">
                <a:solidFill>
                  <a:srgbClr val="D9D9D9"/>
                </a:solidFill>
              </a:rPr>
              <a:t>All key decisions, anomaly evidence, product analytics, and production design in one compact deck.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1526D7A-976D-4D8C-84A7-2370B7B4BC16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D9D9D9"/>
                </a:solidFill>
              </a:defRPr>
            </a:pPr>
            <a:r>
              <a:rPr sz="1125" b="0">
                <a:solidFill>
                  <a:srgbClr val="D9D9D9"/>
                </a:solidFill>
              </a:rPr>
              <a:t>Prepared by Stasy | 10 158 login events | 2024-01-01 to 2024-03-29</a:t>
            </a:r>
          </a:p>
        </p:txBody>
      </p:sp>
    </p:spTree>
    <p:extLst>
      <p:ext uri="{BB962C8B-B14F-4D97-AF65-F5344CB8AC3E}">
        <p14:creationId xmlns:p14="http://schemas.microsoft.com/office/powerpoint/2010/main" val="22090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Рисунок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25DDD82-6AAE-44C5-A4A4-4F059E0478D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AD891AA-50B3-40BE-A6B2-38E74D8F7251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BF41937-55C1-4A6A-A717-1D2E0CE75950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E8065CC-80A5-48A2-AA4D-B3FBE1487112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Executive summary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1F12DA0-481D-4FC7-B9A9-FED95F27ECE7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The investigation identifies repeatable suspicious behaviors and a path to operationalize them.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4C5E1DC-4C4E-4C66-8A68-331E2039B265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2333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7BC3E9-18FB-4DA3-A059-68CBE68FF079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1990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Events analyzed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A94D6CF-6A12-4B63-B1DD-6F103AFC07F6}"/>
              </a:ext>
            </a:extLst>
          </p:cNvPr>
          <p:cNvSpPr>
            <a:spLocks noGrp="1"/>
          </p:cNvSpPr>
          <p:nvPr/>
        </p:nvSpPr>
        <p:spPr>
          <a:xfrm>
            <a:off x="857250" y="2066925"/>
            <a:ext cx="19907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10 158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4932BDD-0425-42E4-980B-EBDB6DEA2EC2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1990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100 users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FC038541-4638-478E-B793-11AF133E0E44}"/>
              </a:ext>
            </a:extLst>
          </p:cNvPr>
          <p:cNvSpPr>
            <a:spLocks noGrp="1"/>
          </p:cNvSpPr>
          <p:nvPr/>
        </p:nvSpPr>
        <p:spPr>
          <a:xfrm>
            <a:off x="3400425" y="1666875"/>
            <a:ext cx="2333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C312558-E438-41CF-A832-68CF6449F139}"/>
              </a:ext>
            </a:extLst>
          </p:cNvPr>
          <p:cNvSpPr>
            <a:spLocks noGrp="1"/>
          </p:cNvSpPr>
          <p:nvPr/>
        </p:nvSpPr>
        <p:spPr>
          <a:xfrm>
            <a:off x="3571875" y="1828800"/>
            <a:ext cx="1990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Dataset window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9909844-F1FB-458B-AF68-8B6965C8B8D7}"/>
              </a:ext>
            </a:extLst>
          </p:cNvPr>
          <p:cNvSpPr>
            <a:spLocks noGrp="1"/>
          </p:cNvSpPr>
          <p:nvPr/>
        </p:nvSpPr>
        <p:spPr>
          <a:xfrm>
            <a:off x="3571875" y="2066925"/>
            <a:ext cx="19907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EA5A4"/>
                </a:solidFill>
              </a:defRPr>
            </a:pPr>
            <a:r>
              <a:rPr sz="2175" b="1">
                <a:solidFill>
                  <a:srgbClr val="0EA5A4"/>
                </a:solidFill>
              </a:rPr>
              <a:t>89 days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79D860-E6F0-4F9C-8BA2-E7A4A3C6840A}"/>
              </a:ext>
            </a:extLst>
          </p:cNvPr>
          <p:cNvSpPr>
            <a:spLocks noGrp="1"/>
          </p:cNvSpPr>
          <p:nvPr/>
        </p:nvSpPr>
        <p:spPr>
          <a:xfrm>
            <a:off x="3571875" y="2447925"/>
            <a:ext cx="1990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2024-01-01 to 2024-03-29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9139CBF-46D4-405D-8812-06FBC7B6CDB8}"/>
              </a:ext>
            </a:extLst>
          </p:cNvPr>
          <p:cNvSpPr>
            <a:spLocks noGrp="1"/>
          </p:cNvSpPr>
          <p:nvPr/>
        </p:nvSpPr>
        <p:spPr>
          <a:xfrm>
            <a:off x="6115050" y="1666875"/>
            <a:ext cx="2333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C53B89C-0C66-47EA-B8AF-FB4864686FA6}"/>
              </a:ext>
            </a:extLst>
          </p:cNvPr>
          <p:cNvSpPr>
            <a:spLocks noGrp="1"/>
          </p:cNvSpPr>
          <p:nvPr/>
        </p:nvSpPr>
        <p:spPr>
          <a:xfrm>
            <a:off x="6286500" y="1828800"/>
            <a:ext cx="1990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Overall failure rate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C59BDBA-E0F1-4D7E-B8F5-788B1B5F36A1}"/>
              </a:ext>
            </a:extLst>
          </p:cNvPr>
          <p:cNvSpPr>
            <a:spLocks noGrp="1"/>
          </p:cNvSpPr>
          <p:nvPr/>
        </p:nvSpPr>
        <p:spPr>
          <a:xfrm>
            <a:off x="6286500" y="2066925"/>
            <a:ext cx="19907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FFB020"/>
                </a:solidFill>
              </a:defRPr>
            </a:pPr>
            <a:r>
              <a:rPr sz="2175" b="1">
                <a:solidFill>
                  <a:srgbClr val="FFB020"/>
                </a:solidFill>
              </a:rPr>
              <a:t>6.2%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48DA2AA-48FD-4AE9-8331-B24DCEBD8ABE}"/>
              </a:ext>
            </a:extLst>
          </p:cNvPr>
          <p:cNvSpPr>
            <a:spLocks noGrp="1"/>
          </p:cNvSpPr>
          <p:nvPr/>
        </p:nvSpPr>
        <p:spPr>
          <a:xfrm>
            <a:off x="6286500" y="2447925"/>
            <a:ext cx="1990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634 failures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2244EFD3-7FCA-4030-9CEC-47DDF893C61B}"/>
              </a:ext>
            </a:extLst>
          </p:cNvPr>
          <p:cNvSpPr>
            <a:spLocks noGrp="1"/>
          </p:cNvSpPr>
          <p:nvPr/>
        </p:nvSpPr>
        <p:spPr>
          <a:xfrm>
            <a:off x="8829675" y="1666875"/>
            <a:ext cx="26765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B618898-B2A6-4528-B080-765706D703DB}"/>
              </a:ext>
            </a:extLst>
          </p:cNvPr>
          <p:cNvSpPr>
            <a:spLocks noGrp="1"/>
          </p:cNvSpPr>
          <p:nvPr/>
        </p:nvSpPr>
        <p:spPr>
          <a:xfrm>
            <a:off x="9001125" y="1828800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Sharpest spike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8588305-6E08-4468-B640-F26472E7FB89}"/>
              </a:ext>
            </a:extLst>
          </p:cNvPr>
          <p:cNvSpPr>
            <a:spLocks noGrp="1"/>
          </p:cNvSpPr>
          <p:nvPr/>
        </p:nvSpPr>
        <p:spPr>
          <a:xfrm>
            <a:off x="9001125" y="2066925"/>
            <a:ext cx="2333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D92D20"/>
                </a:solidFill>
              </a:defRPr>
            </a:pPr>
            <a:r>
              <a:rPr sz="2175" b="1">
                <a:solidFill>
                  <a:srgbClr val="D92D20"/>
                </a:solidFill>
              </a:rPr>
              <a:t>Feb 9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F6FB1E2-1CCD-474D-B890-84BB0BBC6836}"/>
              </a:ext>
            </a:extLst>
          </p:cNvPr>
          <p:cNvSpPr>
            <a:spLocks noGrp="1"/>
          </p:cNvSpPr>
          <p:nvPr/>
        </p:nvSpPr>
        <p:spPr>
          <a:xfrm>
            <a:off x="9001125" y="2447925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37.1% failure rate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13FFFB2-766B-49A9-9157-01D48615BB5C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3143250" cy="4572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054155C-ABD4-4E7A-BE6E-23AA3FA69021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Priority finding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CA9EDB3-6A84-4287-962A-69F324725173}"/>
              </a:ext>
            </a:extLst>
          </p:cNvPr>
          <p:cNvSpPr>
            <a:spLocks noGrp="1"/>
          </p:cNvSpPr>
          <p:nvPr/>
        </p:nvSpPr>
        <p:spPr>
          <a:xfrm>
            <a:off x="3829050" y="3238500"/>
            <a:ext cx="1476375" cy="4572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341ED05-BFC5-459C-BC11-988A5BEAC48E}"/>
              </a:ext>
            </a:extLst>
          </p:cNvPr>
          <p:cNvSpPr>
            <a:spLocks noGrp="1"/>
          </p:cNvSpPr>
          <p:nvPr/>
        </p:nvSpPr>
        <p:spPr>
          <a:xfrm>
            <a:off x="3924300" y="3333750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5DDB798-DA69-49ED-B630-95B6F4366EF7}"/>
              </a:ext>
            </a:extLst>
          </p:cNvPr>
          <p:cNvSpPr>
            <a:spLocks noGrp="1"/>
          </p:cNvSpPr>
          <p:nvPr/>
        </p:nvSpPr>
        <p:spPr>
          <a:xfrm>
            <a:off x="5305425" y="3238500"/>
            <a:ext cx="6200775" cy="4572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D759138-2C43-4C62-87D0-E961DACFD38A}"/>
              </a:ext>
            </a:extLst>
          </p:cNvPr>
          <p:cNvSpPr>
            <a:spLocks noGrp="1"/>
          </p:cNvSpPr>
          <p:nvPr/>
        </p:nvSpPr>
        <p:spPr>
          <a:xfrm>
            <a:off x="5400675" y="3333750"/>
            <a:ext cx="60102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AE7489F-EFA1-4542-959F-30A7BF42F9A6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143250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F5B1C23-BC92-40B1-9510-43E6F27E672A}"/>
              </a:ext>
            </a:extLst>
          </p:cNvPr>
          <p:cNvSpPr>
            <a:spLocks noGrp="1"/>
          </p:cNvSpPr>
          <p:nvPr/>
        </p:nvSpPr>
        <p:spPr>
          <a:xfrm>
            <a:off x="781050" y="3771900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Brute-force burst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9EE9408-D9BA-4EF4-9463-63849CC9A905}"/>
              </a:ext>
            </a:extLst>
          </p:cNvPr>
          <p:cNvSpPr>
            <a:spLocks noGrp="1"/>
          </p:cNvSpPr>
          <p:nvPr/>
        </p:nvSpPr>
        <p:spPr>
          <a:xfrm>
            <a:off x="3829050" y="3695700"/>
            <a:ext cx="1476375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0AAC375-A6AA-43D0-8D1C-9059EA533A14}"/>
              </a:ext>
            </a:extLst>
          </p:cNvPr>
          <p:cNvSpPr>
            <a:spLocks noGrp="1"/>
          </p:cNvSpPr>
          <p:nvPr/>
        </p:nvSpPr>
        <p:spPr>
          <a:xfrm>
            <a:off x="3924300" y="3771900"/>
            <a:ext cx="1285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95%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35D01A7-58FA-48DE-9540-65139FAF4572}"/>
              </a:ext>
            </a:extLst>
          </p:cNvPr>
          <p:cNvSpPr>
            <a:spLocks noGrp="1"/>
          </p:cNvSpPr>
          <p:nvPr/>
        </p:nvSpPr>
        <p:spPr>
          <a:xfrm>
            <a:off x="5305425" y="3695700"/>
            <a:ext cx="6200775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2EBC4B17-6427-4313-8E7C-98222791A955}"/>
              </a:ext>
            </a:extLst>
          </p:cNvPr>
          <p:cNvSpPr>
            <a:spLocks noGrp="1"/>
          </p:cNvSpPr>
          <p:nvPr/>
        </p:nvSpPr>
        <p:spPr>
          <a:xfrm>
            <a:off x="5400675" y="3771900"/>
            <a:ext cx="6010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Machine-speed timing on user_097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DB46B82-B92D-4515-B9F2-749559314EA1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3143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7F8B614-1AF7-45EE-A4C9-2D2CF6FD731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Shared-IP spray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D0879B1-BBBF-4C58-B0BA-09224A99C3A3}"/>
              </a:ext>
            </a:extLst>
          </p:cNvPr>
          <p:cNvSpPr>
            <a:spLocks noGrp="1"/>
          </p:cNvSpPr>
          <p:nvPr/>
        </p:nvSpPr>
        <p:spPr>
          <a:xfrm>
            <a:off x="3829050" y="4152900"/>
            <a:ext cx="14763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657992B5-E2DA-4050-87DD-90F7196E215B}"/>
              </a:ext>
            </a:extLst>
          </p:cNvPr>
          <p:cNvSpPr>
            <a:spLocks noGrp="1"/>
          </p:cNvSpPr>
          <p:nvPr/>
        </p:nvSpPr>
        <p:spPr>
          <a:xfrm>
            <a:off x="3924300" y="4229100"/>
            <a:ext cx="1285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92%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5B5C777-2F61-4E0A-860F-77F9C4D7162B}"/>
              </a:ext>
            </a:extLst>
          </p:cNvPr>
          <p:cNvSpPr>
            <a:spLocks noGrp="1"/>
          </p:cNvSpPr>
          <p:nvPr/>
        </p:nvSpPr>
        <p:spPr>
          <a:xfrm>
            <a:off x="5305425" y="4152900"/>
            <a:ext cx="62007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4BBF338C-D00F-4EA1-921B-5B149207D9B6}"/>
              </a:ext>
            </a:extLst>
          </p:cNvPr>
          <p:cNvSpPr>
            <a:spLocks noGrp="1"/>
          </p:cNvSpPr>
          <p:nvPr/>
        </p:nvSpPr>
        <p:spPr>
          <a:xfrm>
            <a:off x="5400675" y="4229100"/>
            <a:ext cx="6010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20 users from one IP at one timestamp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4BA7722-9AA2-416F-A5F2-392C8E1E8501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3143250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5D0DD494-F870-4C5A-A650-9DAE2A28CCF8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Nightly probe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CEE39A9F-DE44-4B56-9DF7-B4C06523C0A7}"/>
              </a:ext>
            </a:extLst>
          </p:cNvPr>
          <p:cNvSpPr>
            <a:spLocks noGrp="1"/>
          </p:cNvSpPr>
          <p:nvPr/>
        </p:nvSpPr>
        <p:spPr>
          <a:xfrm>
            <a:off x="3829050" y="4610100"/>
            <a:ext cx="1476375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9B559429-236C-4E6D-86B0-6CBEE0D20239}"/>
              </a:ext>
            </a:extLst>
          </p:cNvPr>
          <p:cNvSpPr>
            <a:spLocks noGrp="1"/>
          </p:cNvSpPr>
          <p:nvPr/>
        </p:nvSpPr>
        <p:spPr>
          <a:xfrm>
            <a:off x="3924300" y="4686300"/>
            <a:ext cx="1285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90%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23D4D6C4-771F-423E-A201-C51AEEF87D7D}"/>
              </a:ext>
            </a:extLst>
          </p:cNvPr>
          <p:cNvSpPr>
            <a:spLocks noGrp="1"/>
          </p:cNvSpPr>
          <p:nvPr/>
        </p:nvSpPr>
        <p:spPr>
          <a:xfrm>
            <a:off x="5305425" y="4610100"/>
            <a:ext cx="6200775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F5B29F95-3651-41AC-A3A3-90BAA1AF79C8}"/>
              </a:ext>
            </a:extLst>
          </p:cNvPr>
          <p:cNvSpPr>
            <a:spLocks noGrp="1"/>
          </p:cNvSpPr>
          <p:nvPr/>
        </p:nvSpPr>
        <p:spPr>
          <a:xfrm>
            <a:off x="5400675" y="4686300"/>
            <a:ext cx="6010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Repeated exact 20:00 failures before success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878C002D-EDC2-44F9-A82B-198CF087E5A1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3143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98B666F9-8054-4E5F-B85B-2D27B4B976A7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A2A2A"/>
                </a:solidFill>
              </a:defRPr>
            </a:pPr>
            <a:r>
              <a:rPr sz="1125" b="1">
                <a:solidFill>
                  <a:srgbClr val="2A2A2A"/>
                </a:solidFill>
              </a:rPr>
              <a:t>IP velocity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A6A64C40-B84F-4E01-9739-25D5E906C2A6}"/>
              </a:ext>
            </a:extLst>
          </p:cNvPr>
          <p:cNvSpPr>
            <a:spLocks noGrp="1"/>
          </p:cNvSpPr>
          <p:nvPr/>
        </p:nvSpPr>
        <p:spPr>
          <a:xfrm>
            <a:off x="3829050" y="5067300"/>
            <a:ext cx="14763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C1E7AE3A-9627-4CE6-AE5F-FD8F67CAE11F}"/>
              </a:ext>
            </a:extLst>
          </p:cNvPr>
          <p:cNvSpPr>
            <a:spLocks noGrp="1"/>
          </p:cNvSpPr>
          <p:nvPr/>
        </p:nvSpPr>
        <p:spPr>
          <a:xfrm>
            <a:off x="3924300" y="5143500"/>
            <a:ext cx="1285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70%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4ABE095D-6562-42E2-932E-D9FA034327DB}"/>
              </a:ext>
            </a:extLst>
          </p:cNvPr>
          <p:cNvSpPr>
            <a:spLocks noGrp="1"/>
          </p:cNvSpPr>
          <p:nvPr/>
        </p:nvSpPr>
        <p:spPr>
          <a:xfrm>
            <a:off x="5305425" y="5067300"/>
            <a:ext cx="62007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C7A2C2B4-17A8-4815-A266-FE92D1CFA030}"/>
              </a:ext>
            </a:extLst>
          </p:cNvPr>
          <p:cNvSpPr>
            <a:spLocks noGrp="1"/>
          </p:cNvSpPr>
          <p:nvPr/>
        </p:nvSpPr>
        <p:spPr>
          <a:xfrm>
            <a:off x="5400675" y="5143500"/>
            <a:ext cx="6010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2A2A2A"/>
                </a:solidFill>
              </a:defRPr>
            </a:pPr>
            <a:r>
              <a:rPr sz="1125" b="0">
                <a:solidFill>
                  <a:srgbClr val="2A2A2A"/>
                </a:solidFill>
              </a:rPr>
              <a:t>Strong signal, but threshold needs calibration</a:t>
            </a: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D9BCDD13-3525-4E4D-BCBB-45A722F28FED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820400" cy="476250"/>
          </a:xfrm>
          <a:prstGeom prst="roundRect">
            <a:avLst>
              <a:gd name="adj" fmla="val 16000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AC510935-964E-4529-AF01-8853409D2BFC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66675" cy="47625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A34323EA-CA57-4FE0-A661-E12E1D69DCD1}"/>
              </a:ext>
            </a:extLst>
          </p:cNvPr>
          <p:cNvSpPr>
            <a:spLocks noGrp="1"/>
          </p:cNvSpPr>
          <p:nvPr/>
        </p:nvSpPr>
        <p:spPr>
          <a:xfrm>
            <a:off x="914400" y="58007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strongest answer is a repeatable framework, not a collection of isolated suspicious rows.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C33BFC60-6712-42B8-A8C0-4B642ADCF12C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86BAD64B-309D-4A4E-939D-A515F368F4A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2D5E8B0F-9C0C-4047-94D0-0AEA2BCB60D7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114802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Рисунок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BAB4691-1BA2-411C-A3E7-6DE99A85F53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D298699-93D4-4EF6-B13B-98EE40242A3E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1B482D3-01E3-41EA-A132-D042C8C244FC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E9BC6FD-525B-49F4-BDDB-21FF572B7AC4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Assignment scope balances security and product analytics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5B41EAF-D433-4FEF-B826-469958455205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The work treats attack reduction and business growth as equal analytical responsibilities.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47146A3-CA90-4725-AD94-957ACA80242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5FDF9D-C16C-49F6-9E96-9179B6903B3F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Security analytics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5054E0-4B39-417A-80ED-B2DF131A2342}"/>
              </a:ext>
            </a:extLst>
          </p:cNvPr>
          <p:cNvSpPr>
            <a:spLocks noGrp="1"/>
          </p:cNvSpPr>
          <p:nvPr/>
        </p:nvSpPr>
        <p:spPr>
          <a:xfrm>
            <a:off x="3190875" y="190500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E47E936-E9AC-49FE-854A-4BE00C2406BF}"/>
              </a:ext>
            </a:extLst>
          </p:cNvPr>
          <p:cNvSpPr>
            <a:spLocks noGrp="1"/>
          </p:cNvSpPr>
          <p:nvPr/>
        </p:nvSpPr>
        <p:spPr>
          <a:xfrm>
            <a:off x="3333750" y="1714500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38EC696-12F3-4152-9DBC-F6F6072409FE}"/>
              </a:ext>
            </a:extLst>
          </p:cNvPr>
          <p:cNvSpPr>
            <a:spLocks noGrp="1"/>
          </p:cNvSpPr>
          <p:nvPr/>
        </p:nvSpPr>
        <p:spPr>
          <a:xfrm>
            <a:off x="3409950" y="186690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Reduce attacks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DA2E42F-7F3D-48B7-9C83-30BF370D2F29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C7400CB-B1A2-47D1-9907-5B7C2446777D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Reduce false positives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0A7E311-16C9-4CA0-B440-5AF9B6B8F6D0}"/>
              </a:ext>
            </a:extLst>
          </p:cNvPr>
          <p:cNvSpPr>
            <a:spLocks noGrp="1"/>
          </p:cNvSpPr>
          <p:nvPr/>
        </p:nvSpPr>
        <p:spPr>
          <a:xfrm>
            <a:off x="3190875" y="295275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08DFCD7-FFC6-4E71-B3AE-368C11994E46}"/>
              </a:ext>
            </a:extLst>
          </p:cNvPr>
          <p:cNvSpPr>
            <a:spLocks noGrp="1"/>
          </p:cNvSpPr>
          <p:nvPr/>
        </p:nvSpPr>
        <p:spPr>
          <a:xfrm>
            <a:off x="3333750" y="2762250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6094A62-8EEA-46D7-A8C9-5AC421C0CE22}"/>
              </a:ext>
            </a:extLst>
          </p:cNvPr>
          <p:cNvSpPr>
            <a:spLocks noGrp="1"/>
          </p:cNvSpPr>
          <p:nvPr/>
        </p:nvSpPr>
        <p:spPr>
          <a:xfrm>
            <a:off x="3409950" y="291465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Protect users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827F0C3-99E5-4E37-9ED1-199BAFABADF9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118BC4E-23E4-4ACC-B32A-CCF8BCF351DC}"/>
              </a:ext>
            </a:extLst>
          </p:cNvPr>
          <p:cNvSpPr>
            <a:spLocks noGrp="1"/>
          </p:cNvSpPr>
          <p:nvPr/>
        </p:nvSpPr>
        <p:spPr>
          <a:xfrm>
            <a:off x="6438900" y="186690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Product analytics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05839D5-76B7-4C07-8278-3B9AF41BBDA2}"/>
              </a:ext>
            </a:extLst>
          </p:cNvPr>
          <p:cNvSpPr>
            <a:spLocks noGrp="1"/>
          </p:cNvSpPr>
          <p:nvPr/>
        </p:nvSpPr>
        <p:spPr>
          <a:xfrm>
            <a:off x="8867775" y="190500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11FDF9E-CCC5-4FA9-9901-6BAFDCCF4C3D}"/>
              </a:ext>
            </a:extLst>
          </p:cNvPr>
          <p:cNvSpPr>
            <a:spLocks noGrp="1"/>
          </p:cNvSpPr>
          <p:nvPr/>
        </p:nvSpPr>
        <p:spPr>
          <a:xfrm>
            <a:off x="9010650" y="1714500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3BB056A-1D2F-4A13-A250-A302A4CF5968}"/>
              </a:ext>
            </a:extLst>
          </p:cNvPr>
          <p:cNvSpPr>
            <a:spLocks noGrp="1"/>
          </p:cNvSpPr>
          <p:nvPr/>
        </p:nvSpPr>
        <p:spPr>
          <a:xfrm>
            <a:off x="9086850" y="186690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Increase acquisition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FB7328DD-064C-45B5-8D5C-3A84AE5E8F2E}"/>
              </a:ext>
            </a:extLst>
          </p:cNvPr>
          <p:cNvSpPr>
            <a:spLocks noGrp="1"/>
          </p:cNvSpPr>
          <p:nvPr/>
        </p:nvSpPr>
        <p:spPr>
          <a:xfrm>
            <a:off x="6362700" y="2762250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5D5E2A8-02FF-40F1-AC86-B980DCA6EC03}"/>
              </a:ext>
            </a:extLst>
          </p:cNvPr>
          <p:cNvSpPr>
            <a:spLocks noGrp="1"/>
          </p:cNvSpPr>
          <p:nvPr/>
        </p:nvSpPr>
        <p:spPr>
          <a:xfrm>
            <a:off x="6438900" y="291465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Maintain quality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345D863-9444-4891-9CA4-46EDF4AABD44}"/>
              </a:ext>
            </a:extLst>
          </p:cNvPr>
          <p:cNvSpPr>
            <a:spLocks noGrp="1"/>
          </p:cNvSpPr>
          <p:nvPr/>
        </p:nvSpPr>
        <p:spPr>
          <a:xfrm>
            <a:off x="8867775" y="295275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692B655-06F0-4D11-805E-BBBDBDE844EC}"/>
              </a:ext>
            </a:extLst>
          </p:cNvPr>
          <p:cNvSpPr>
            <a:spLocks noGrp="1"/>
          </p:cNvSpPr>
          <p:nvPr/>
        </p:nvSpPr>
        <p:spPr>
          <a:xfrm>
            <a:off x="9010650" y="2762250"/>
            <a:ext cx="24955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38D4C0B-72AB-4A55-AACC-55DEAAC522D9}"/>
              </a:ext>
            </a:extLst>
          </p:cNvPr>
          <p:cNvSpPr>
            <a:spLocks noGrp="1"/>
          </p:cNvSpPr>
          <p:nvPr/>
        </p:nvSpPr>
        <p:spPr>
          <a:xfrm>
            <a:off x="9086850" y="291465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Improve activation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D709E3A-8159-4093-B981-A99F92659025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2428875" cy="4381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3DBF81A-485B-49AC-B9E1-07D143588797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449BDD9-0CE2-41F5-A3E6-19C31416E67C}"/>
              </a:ext>
            </a:extLst>
          </p:cNvPr>
          <p:cNvSpPr>
            <a:spLocks noGrp="1"/>
          </p:cNvSpPr>
          <p:nvPr/>
        </p:nvSpPr>
        <p:spPr>
          <a:xfrm>
            <a:off x="3114675" y="4048125"/>
            <a:ext cx="4095750" cy="4381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B679348-8E82-4ADA-AD16-38F4811899A6}"/>
              </a:ext>
            </a:extLst>
          </p:cNvPr>
          <p:cNvSpPr>
            <a:spLocks noGrp="1"/>
          </p:cNvSpPr>
          <p:nvPr/>
        </p:nvSpPr>
        <p:spPr>
          <a:xfrm>
            <a:off x="3209925" y="4143375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Security answer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5D7B7FF-F9C5-4468-A961-C28D4CB4C762}"/>
              </a:ext>
            </a:extLst>
          </p:cNvPr>
          <p:cNvSpPr>
            <a:spLocks noGrp="1"/>
          </p:cNvSpPr>
          <p:nvPr/>
        </p:nvSpPr>
        <p:spPr>
          <a:xfrm>
            <a:off x="7210425" y="4048125"/>
            <a:ext cx="4295775" cy="4381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6F4E326-ADE8-46B6-A3A8-C215FB19AA62}"/>
              </a:ext>
            </a:extLst>
          </p:cNvPr>
          <p:cNvSpPr>
            <a:spLocks noGrp="1"/>
          </p:cNvSpPr>
          <p:nvPr/>
        </p:nvSpPr>
        <p:spPr>
          <a:xfrm>
            <a:off x="7305675" y="4143375"/>
            <a:ext cx="41052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 answer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2972065-A02C-4F41-A370-EC3300C2BAAE}"/>
              </a:ext>
            </a:extLst>
          </p:cNvPr>
          <p:cNvSpPr>
            <a:spLocks noGrp="1"/>
          </p:cNvSpPr>
          <p:nvPr/>
        </p:nvSpPr>
        <p:spPr>
          <a:xfrm>
            <a:off x="685800" y="4486275"/>
            <a:ext cx="2428875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8133DFCA-0FF1-49B6-AA2F-508817D92AE2}"/>
              </a:ext>
            </a:extLst>
          </p:cNvPr>
          <p:cNvSpPr>
            <a:spLocks noGrp="1"/>
          </p:cNvSpPr>
          <p:nvPr/>
        </p:nvSpPr>
        <p:spPr>
          <a:xfrm>
            <a:off x="781050" y="45624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What changed?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E90F7CE0-3761-47D7-B0D4-68845AFF24B5}"/>
              </a:ext>
            </a:extLst>
          </p:cNvPr>
          <p:cNvSpPr>
            <a:spLocks noGrp="1"/>
          </p:cNvSpPr>
          <p:nvPr/>
        </p:nvSpPr>
        <p:spPr>
          <a:xfrm>
            <a:off x="3114675" y="4486275"/>
            <a:ext cx="4095750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AF0CBD3-44D6-49F6-B6D1-7C1DF4859251}"/>
              </a:ext>
            </a:extLst>
          </p:cNvPr>
          <p:cNvSpPr>
            <a:spLocks noGrp="1"/>
          </p:cNvSpPr>
          <p:nvPr/>
        </p:nvSpPr>
        <p:spPr>
          <a:xfrm>
            <a:off x="3209925" y="45624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Failure spikes and suspicious sources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DB5D2CF-659D-4D22-9666-09E38D233102}"/>
              </a:ext>
            </a:extLst>
          </p:cNvPr>
          <p:cNvSpPr>
            <a:spLocks noGrp="1"/>
          </p:cNvSpPr>
          <p:nvPr/>
        </p:nvSpPr>
        <p:spPr>
          <a:xfrm>
            <a:off x="7210425" y="4486275"/>
            <a:ext cx="4295775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48952B5-FC36-447B-90F7-CB240382CD0A}"/>
              </a:ext>
            </a:extLst>
          </p:cNvPr>
          <p:cNvSpPr>
            <a:spLocks noGrp="1"/>
          </p:cNvSpPr>
          <p:nvPr/>
        </p:nvSpPr>
        <p:spPr>
          <a:xfrm>
            <a:off x="7305675" y="4562475"/>
            <a:ext cx="41052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Signup volume and channel mix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A02F02F4-67C9-4018-BE24-FECF9CA9C66A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242887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3B680740-47C7-434A-962C-E8458579F8D9}"/>
              </a:ext>
            </a:extLst>
          </p:cNvPr>
          <p:cNvSpPr>
            <a:spLocks noGrp="1"/>
          </p:cNvSpPr>
          <p:nvPr/>
        </p:nvSpPr>
        <p:spPr>
          <a:xfrm>
            <a:off x="781050" y="500062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Is it good?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34AEF1A-E565-4040-B625-00E61866B2C5}"/>
              </a:ext>
            </a:extLst>
          </p:cNvPr>
          <p:cNvSpPr>
            <a:spLocks noGrp="1"/>
          </p:cNvSpPr>
          <p:nvPr/>
        </p:nvSpPr>
        <p:spPr>
          <a:xfrm>
            <a:off x="3114675" y="4924425"/>
            <a:ext cx="4095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48BA400-AD66-4348-B05B-41E078083E40}"/>
              </a:ext>
            </a:extLst>
          </p:cNvPr>
          <p:cNvSpPr>
            <a:spLocks noGrp="1"/>
          </p:cNvSpPr>
          <p:nvPr/>
        </p:nvSpPr>
        <p:spPr>
          <a:xfrm>
            <a:off x="3209925" y="500062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Only if false positives are controlled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DF485016-92EE-4656-BE7F-816749F7A1A8}"/>
              </a:ext>
            </a:extLst>
          </p:cNvPr>
          <p:cNvSpPr>
            <a:spLocks noGrp="1"/>
          </p:cNvSpPr>
          <p:nvPr/>
        </p:nvSpPr>
        <p:spPr>
          <a:xfrm>
            <a:off x="7210425" y="4924425"/>
            <a:ext cx="429577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BFE1F501-F42A-44DD-91FE-1F731BD2764D}"/>
              </a:ext>
            </a:extLst>
          </p:cNvPr>
          <p:cNvSpPr>
            <a:spLocks noGrp="1"/>
          </p:cNvSpPr>
          <p:nvPr/>
        </p:nvSpPr>
        <p:spPr>
          <a:xfrm>
            <a:off x="7305675" y="5000625"/>
            <a:ext cx="41052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Only if activation and quality hold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E8926A0-ED78-4F6A-9629-48B6A33270A9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2428875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9ECCFACD-8BE7-4095-845A-D5633FBDDAE7}"/>
              </a:ext>
            </a:extLst>
          </p:cNvPr>
          <p:cNvSpPr>
            <a:spLocks noGrp="1"/>
          </p:cNvSpPr>
          <p:nvPr/>
        </p:nvSpPr>
        <p:spPr>
          <a:xfrm>
            <a:off x="781050" y="5438775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What action follows?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B0402385-DF0B-4A45-BBA8-5432EFD37FE9}"/>
              </a:ext>
            </a:extLst>
          </p:cNvPr>
          <p:cNvSpPr>
            <a:spLocks noGrp="1"/>
          </p:cNvSpPr>
          <p:nvPr/>
        </p:nvSpPr>
        <p:spPr>
          <a:xfrm>
            <a:off x="3114675" y="5362575"/>
            <a:ext cx="4095750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4C9B1E2-7C5A-443A-9EE7-17B48A632EF9}"/>
              </a:ext>
            </a:extLst>
          </p:cNvPr>
          <p:cNvSpPr>
            <a:spLocks noGrp="1"/>
          </p:cNvSpPr>
          <p:nvPr/>
        </p:nvSpPr>
        <p:spPr>
          <a:xfrm>
            <a:off x="3209925" y="54387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Triage, enrich, contain, learn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13783FF1-5B04-4B37-BDCD-11F3B4567A67}"/>
              </a:ext>
            </a:extLst>
          </p:cNvPr>
          <p:cNvSpPr>
            <a:spLocks noGrp="1"/>
          </p:cNvSpPr>
          <p:nvPr/>
        </p:nvSpPr>
        <p:spPr>
          <a:xfrm>
            <a:off x="7210425" y="5362575"/>
            <a:ext cx="4295775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485101DA-A706-4A1B-BE93-F36F9429812B}"/>
              </a:ext>
            </a:extLst>
          </p:cNvPr>
          <p:cNvSpPr>
            <a:spLocks noGrp="1"/>
          </p:cNvSpPr>
          <p:nvPr/>
        </p:nvSpPr>
        <p:spPr>
          <a:xfrm>
            <a:off x="7305675" y="5438775"/>
            <a:ext cx="41052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Segment, verify, improve conversion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5B7340DD-6955-4000-B6E4-FB726A96536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14A0BA39-F2E8-417B-9757-87E85A0A6A6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1CD58D48-C259-4235-8F22-731BAAB18103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175955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Рисунок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AFB235A-4B2D-40E6-B80B-BC5502F12DA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DD11146-9CCC-4F4A-BC42-F076C2EE1668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C62314-20BD-475B-8200-35DFCDA17435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7FCC03-5F5F-42EB-85D5-1D8EC57397B5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Analytical strategy and decision log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F4E7923-1EA0-41C8-885C-637A55C98471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 dirty="0">
                <a:solidFill>
                  <a:srgbClr val="6F6F6F"/>
                </a:solidFill>
              </a:rPr>
              <a:t>The approach favors explainable behavioral analytics before machine learning.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C15022-36E1-4510-A9D8-C8CC069A174E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2667000" cy="5715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AA54FA-7D7E-4DD4-97CE-559D52F4E479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71DCB08-E302-4078-BA94-5928A402A1AF}"/>
              </a:ext>
            </a:extLst>
          </p:cNvPr>
          <p:cNvSpPr>
            <a:spLocks noGrp="1"/>
          </p:cNvSpPr>
          <p:nvPr/>
        </p:nvSpPr>
        <p:spPr>
          <a:xfrm>
            <a:off x="3352800" y="1695450"/>
            <a:ext cx="2857500" cy="5715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7D5CAC6-4AEE-46E4-AF15-29C50B1A4142}"/>
              </a:ext>
            </a:extLst>
          </p:cNvPr>
          <p:cNvSpPr>
            <a:spLocks noGrp="1"/>
          </p:cNvSpPr>
          <p:nvPr/>
        </p:nvSpPr>
        <p:spPr>
          <a:xfrm>
            <a:off x="3448050" y="179070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Alternatives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EE78773-5CBA-46B2-88FB-070C63FA7CF4}"/>
              </a:ext>
            </a:extLst>
          </p:cNvPr>
          <p:cNvSpPr>
            <a:spLocks noGrp="1"/>
          </p:cNvSpPr>
          <p:nvPr/>
        </p:nvSpPr>
        <p:spPr>
          <a:xfrm>
            <a:off x="6210300" y="1695450"/>
            <a:ext cx="5295900" cy="5715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6A3124A-F9A0-4E68-A2F4-F795B319D4F0}"/>
              </a:ext>
            </a:extLst>
          </p:cNvPr>
          <p:cNvSpPr>
            <a:spLocks noGrp="1"/>
          </p:cNvSpPr>
          <p:nvPr/>
        </p:nvSpPr>
        <p:spPr>
          <a:xfrm>
            <a:off x="6305550" y="1790700"/>
            <a:ext cx="510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Why rejected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374AFF9-9421-4F8A-9B72-B4F61F9AD0D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667000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5BEC2D8-9BB2-4D97-8BDA-81CAE6137CE4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Rule-based detection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ADDCB62-E760-4A07-A03E-F3EA12894EB4}"/>
              </a:ext>
            </a:extLst>
          </p:cNvPr>
          <p:cNvSpPr>
            <a:spLocks noGrp="1"/>
          </p:cNvSpPr>
          <p:nvPr/>
        </p:nvSpPr>
        <p:spPr>
          <a:xfrm>
            <a:off x="3352800" y="2266950"/>
            <a:ext cx="2857500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ABAD0C5-3BF1-4325-8EF4-1A167C7327C3}"/>
              </a:ext>
            </a:extLst>
          </p:cNvPr>
          <p:cNvSpPr>
            <a:spLocks noGrp="1"/>
          </p:cNvSpPr>
          <p:nvPr/>
        </p:nvSpPr>
        <p:spPr>
          <a:xfrm>
            <a:off x="3448050" y="23431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Isolation Forest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D654C3-D447-4F6B-A092-27FA1709EDDA}"/>
              </a:ext>
            </a:extLst>
          </p:cNvPr>
          <p:cNvSpPr>
            <a:spLocks noGrp="1"/>
          </p:cNvSpPr>
          <p:nvPr/>
        </p:nvSpPr>
        <p:spPr>
          <a:xfrm>
            <a:off x="6210300" y="2266950"/>
            <a:ext cx="5295900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8575410-3B67-46CD-A638-31CB59563FD4}"/>
              </a:ext>
            </a:extLst>
          </p:cNvPr>
          <p:cNvSpPr>
            <a:spLocks noGrp="1"/>
          </p:cNvSpPr>
          <p:nvPr/>
        </p:nvSpPr>
        <p:spPr>
          <a:xfrm>
            <a:off x="6305550" y="2343150"/>
            <a:ext cx="510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No labels and lower SOC explainability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3D5080A-E22C-4281-B5CE-923D2C9B06A3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2667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E608D67-CB03-4D9E-A70B-701F8ACE402D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Daily baseline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0AEE7EB-602A-48AA-8731-54B443228C5A}"/>
              </a:ext>
            </a:extLst>
          </p:cNvPr>
          <p:cNvSpPr>
            <a:spLocks noGrp="1"/>
          </p:cNvSpPr>
          <p:nvPr/>
        </p:nvSpPr>
        <p:spPr>
          <a:xfrm>
            <a:off x="3352800" y="2838450"/>
            <a:ext cx="2857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09933F7-881D-40AF-B3F2-137DEACA412B}"/>
              </a:ext>
            </a:extLst>
          </p:cNvPr>
          <p:cNvSpPr>
            <a:spLocks noGrp="1"/>
          </p:cNvSpPr>
          <p:nvPr/>
        </p:nvSpPr>
        <p:spPr>
          <a:xfrm>
            <a:off x="3448050" y="29146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Weekly baseline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E5D805-9D60-4971-B98B-EA7A9D433F0F}"/>
              </a:ext>
            </a:extLst>
          </p:cNvPr>
          <p:cNvSpPr>
            <a:spLocks noGrp="1"/>
          </p:cNvSpPr>
          <p:nvPr/>
        </p:nvSpPr>
        <p:spPr>
          <a:xfrm>
            <a:off x="6210300" y="2838450"/>
            <a:ext cx="52959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29172D6-8022-40DC-9E38-6C7840CF1455}"/>
              </a:ext>
            </a:extLst>
          </p:cNvPr>
          <p:cNvSpPr>
            <a:spLocks noGrp="1"/>
          </p:cNvSpPr>
          <p:nvPr/>
        </p:nvSpPr>
        <p:spPr>
          <a:xfrm>
            <a:off x="6305550" y="2914650"/>
            <a:ext cx="510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Dataset too short for stable weekly seasonality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1877AE3-DFBC-447C-B8DE-59069ED408AE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2667000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1944F50-3744-4F97-AFBE-7642646908B9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Failure rate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634DA2E-E3EA-414A-B4F6-DA49CD569512}"/>
              </a:ext>
            </a:extLst>
          </p:cNvPr>
          <p:cNvSpPr>
            <a:spLocks noGrp="1"/>
          </p:cNvSpPr>
          <p:nvPr/>
        </p:nvSpPr>
        <p:spPr>
          <a:xfrm>
            <a:off x="3352800" y="3409950"/>
            <a:ext cx="2857500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A63AC54-B2B5-45D2-BFA5-B1096F48C941}"/>
              </a:ext>
            </a:extLst>
          </p:cNvPr>
          <p:cNvSpPr>
            <a:spLocks noGrp="1"/>
          </p:cNvSpPr>
          <p:nvPr/>
        </p:nvSpPr>
        <p:spPr>
          <a:xfrm>
            <a:off x="3448050" y="34861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Raw failures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B4EAA88-392C-455E-A9DD-7A89A1BEA7A5}"/>
              </a:ext>
            </a:extLst>
          </p:cNvPr>
          <p:cNvSpPr>
            <a:spLocks noGrp="1"/>
          </p:cNvSpPr>
          <p:nvPr/>
        </p:nvSpPr>
        <p:spPr>
          <a:xfrm>
            <a:off x="6210300" y="3409950"/>
            <a:ext cx="5295900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F49FEDA-1E77-40D0-9C31-74F7FB2F6204}"/>
              </a:ext>
            </a:extLst>
          </p:cNvPr>
          <p:cNvSpPr>
            <a:spLocks noGrp="1"/>
          </p:cNvSpPr>
          <p:nvPr/>
        </p:nvSpPr>
        <p:spPr>
          <a:xfrm>
            <a:off x="6305550" y="3486150"/>
            <a:ext cx="510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Normalizes activity across users and sources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D4AB4D9-79F4-454B-8DD2-1F55BB25F811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667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EA98ED2-E395-48DA-8FEF-989F1FA89F76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IP velocity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834F783-E000-4C4B-BFC6-8C301709A55B}"/>
              </a:ext>
            </a:extLst>
          </p:cNvPr>
          <p:cNvSpPr>
            <a:spLocks noGrp="1"/>
          </p:cNvSpPr>
          <p:nvPr/>
        </p:nvSpPr>
        <p:spPr>
          <a:xfrm>
            <a:off x="3352800" y="3981450"/>
            <a:ext cx="2857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62404F7-B617-43F2-8D98-F19913141F21}"/>
              </a:ext>
            </a:extLst>
          </p:cNvPr>
          <p:cNvSpPr>
            <a:spLocks noGrp="1"/>
          </p:cNvSpPr>
          <p:nvPr/>
        </p:nvSpPr>
        <p:spPr>
          <a:xfrm>
            <a:off x="3448050" y="40576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Raw IP count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E1B506F2-B6FA-43A2-89A0-D9ECD1D08825}"/>
              </a:ext>
            </a:extLst>
          </p:cNvPr>
          <p:cNvSpPr>
            <a:spLocks noGrp="1"/>
          </p:cNvSpPr>
          <p:nvPr/>
        </p:nvSpPr>
        <p:spPr>
          <a:xfrm>
            <a:off x="6210300" y="3981450"/>
            <a:ext cx="52959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A99569C-6851-4D1A-B4CA-C2851BD8F6E0}"/>
              </a:ext>
            </a:extLst>
          </p:cNvPr>
          <p:cNvSpPr>
            <a:spLocks noGrp="1"/>
          </p:cNvSpPr>
          <p:nvPr/>
        </p:nvSpPr>
        <p:spPr>
          <a:xfrm>
            <a:off x="6305550" y="4057650"/>
            <a:ext cx="510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Makes source spread comparable across users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EA27F09-140B-404B-8614-7BA852AC95D7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2667000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60BBFB1-2149-4421-AD83-C8D5DCB6983B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Composite score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A74FDE23-41F5-4A7F-9BFF-0106F6EBAA31}"/>
              </a:ext>
            </a:extLst>
          </p:cNvPr>
          <p:cNvSpPr>
            <a:spLocks noGrp="1"/>
          </p:cNvSpPr>
          <p:nvPr/>
        </p:nvSpPr>
        <p:spPr>
          <a:xfrm>
            <a:off x="3352800" y="4552950"/>
            <a:ext cx="2857500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B957EDB-F2BD-465D-B0BA-79D8F65ADF56}"/>
              </a:ext>
            </a:extLst>
          </p:cNvPr>
          <p:cNvSpPr>
            <a:spLocks noGrp="1"/>
          </p:cNvSpPr>
          <p:nvPr/>
        </p:nvSpPr>
        <p:spPr>
          <a:xfrm>
            <a:off x="3448050" y="46291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Single flag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37E7882-6D20-4033-9F54-A0F49784B7B8}"/>
              </a:ext>
            </a:extLst>
          </p:cNvPr>
          <p:cNvSpPr>
            <a:spLocks noGrp="1"/>
          </p:cNvSpPr>
          <p:nvPr/>
        </p:nvSpPr>
        <p:spPr>
          <a:xfrm>
            <a:off x="6210300" y="4552950"/>
            <a:ext cx="5295900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E75E929-2CD7-424B-BE62-056D9A1E3A0C}"/>
              </a:ext>
            </a:extLst>
          </p:cNvPr>
          <p:cNvSpPr>
            <a:spLocks noGrp="1"/>
          </p:cNvSpPr>
          <p:nvPr/>
        </p:nvSpPr>
        <p:spPr>
          <a:xfrm>
            <a:off x="6305550" y="4629150"/>
            <a:ext cx="510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Combines timing, outcome, source, and novelty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1809A8E0-093E-467C-A8A1-76499C990280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76250"/>
          </a:xfrm>
          <a:prstGeom prst="roundRect">
            <a:avLst>
              <a:gd name="adj" fmla="val 16000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DE42DB0C-50D6-4335-8632-2044B7F4484C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66675" cy="47625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7E4E07E-21F6-4AF2-B967-AC422BA9B4E4}"/>
              </a:ext>
            </a:extLst>
          </p:cNvPr>
          <p:cNvSpPr>
            <a:spLocks noGrp="1"/>
          </p:cNvSpPr>
          <p:nvPr/>
        </p:nvSpPr>
        <p:spPr>
          <a:xfrm>
            <a:off x="914400" y="577215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Heuristics are appropriate first because the dataset has no labels, limited context, and requires defensible explanations.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853B19DE-A095-4A1A-849C-08EA541E8EFB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CD9E457B-CA0F-4149-94E4-25536CA3A75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844BA9BA-423C-47AA-A81B-0903B5812DEA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1021430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Рисунок 6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6596F6A-A832-433D-A6EA-28A17410D0D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043829E-6642-4280-8813-39D8C8841BE1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049CC0-B2D3-44C8-A180-5C74999A464B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676DF5-2F13-419D-889C-DA3B0B722385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Dataset and data quality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EDDA7F3-C07B-45CC-8853-8EE97211BC9E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Small integrity issues can materially distort security scoring when alerts become automated.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BB47DC1-1C29-4A71-936C-0C7AB82F563B}"/>
              </a:ext>
            </a:extLst>
          </p:cNvPr>
          <p:cNvSpPr>
            <a:spLocks noGrp="1"/>
          </p:cNvSpPr>
          <p:nvPr/>
        </p:nvSpPr>
        <p:spPr>
          <a:xfrm>
            <a:off x="685800" y="1663700"/>
            <a:ext cx="23812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3A4C9A8-7E0F-48AF-8BEA-C219797B573F}"/>
              </a:ext>
            </a:extLst>
          </p:cNvPr>
          <p:cNvSpPr>
            <a:spLocks noGrp="1"/>
          </p:cNvSpPr>
          <p:nvPr/>
        </p:nvSpPr>
        <p:spPr>
          <a:xfrm>
            <a:off x="857250" y="1825625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Login records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FEBE0E2-CCEC-454B-B441-AD5D7B5EFCA6}"/>
              </a:ext>
            </a:extLst>
          </p:cNvPr>
          <p:cNvSpPr>
            <a:spLocks noGrp="1"/>
          </p:cNvSpPr>
          <p:nvPr/>
        </p:nvSpPr>
        <p:spPr>
          <a:xfrm>
            <a:off x="857250" y="206375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10 158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7D3C264-71B2-41D9-A548-B7E0355B2D56}"/>
              </a:ext>
            </a:extLst>
          </p:cNvPr>
          <p:cNvSpPr>
            <a:spLocks noGrp="1"/>
          </p:cNvSpPr>
          <p:nvPr/>
        </p:nvSpPr>
        <p:spPr>
          <a:xfrm>
            <a:off x="857250" y="244475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Raw authentication events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A287BA7-EAAF-4F21-BD31-04EEADD5F20B}"/>
              </a:ext>
            </a:extLst>
          </p:cNvPr>
          <p:cNvSpPr>
            <a:spLocks noGrp="1"/>
          </p:cNvSpPr>
          <p:nvPr/>
        </p:nvSpPr>
        <p:spPr>
          <a:xfrm>
            <a:off x="3448050" y="1663700"/>
            <a:ext cx="23812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7D25A75-E97B-47A5-AC05-D2C8AED7F288}"/>
              </a:ext>
            </a:extLst>
          </p:cNvPr>
          <p:cNvSpPr>
            <a:spLocks noGrp="1"/>
          </p:cNvSpPr>
          <p:nvPr/>
        </p:nvSpPr>
        <p:spPr>
          <a:xfrm>
            <a:off x="3619500" y="1825625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Duplicates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EE93B36-9B3B-4D05-9263-1E82F21C6E48}"/>
              </a:ext>
            </a:extLst>
          </p:cNvPr>
          <p:cNvSpPr>
            <a:spLocks noGrp="1"/>
          </p:cNvSpPr>
          <p:nvPr/>
        </p:nvSpPr>
        <p:spPr>
          <a:xfrm>
            <a:off x="3619500" y="206375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FFB020"/>
                </a:solidFill>
              </a:defRPr>
            </a:pPr>
            <a:r>
              <a:rPr sz="2175" b="1">
                <a:solidFill>
                  <a:srgbClr val="FFB020"/>
                </a:solidFill>
              </a:rPr>
              <a:t>88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C2ACEA6-C3FA-4B31-B4FB-51056E636A5F}"/>
              </a:ext>
            </a:extLst>
          </p:cNvPr>
          <p:cNvSpPr>
            <a:spLocks noGrp="1"/>
          </p:cNvSpPr>
          <p:nvPr/>
        </p:nvSpPr>
        <p:spPr>
          <a:xfrm>
            <a:off x="3619500" y="244475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Deduplicate before scoring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828DA4E-E78F-48C0-97EB-79EE010A22C4}"/>
              </a:ext>
            </a:extLst>
          </p:cNvPr>
          <p:cNvSpPr>
            <a:spLocks noGrp="1"/>
          </p:cNvSpPr>
          <p:nvPr/>
        </p:nvSpPr>
        <p:spPr>
          <a:xfrm>
            <a:off x="6210300" y="1663700"/>
            <a:ext cx="23812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7C4DF60-D0DA-4836-A4F5-2F7F9C2F4B1B}"/>
              </a:ext>
            </a:extLst>
          </p:cNvPr>
          <p:cNvSpPr>
            <a:spLocks noGrp="1"/>
          </p:cNvSpPr>
          <p:nvPr/>
        </p:nvSpPr>
        <p:spPr>
          <a:xfrm>
            <a:off x="6381750" y="1825625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Missing IP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25BA46D-5A04-446A-B172-A8228A925D17}"/>
              </a:ext>
            </a:extLst>
          </p:cNvPr>
          <p:cNvSpPr>
            <a:spLocks noGrp="1"/>
          </p:cNvSpPr>
          <p:nvPr/>
        </p:nvSpPr>
        <p:spPr>
          <a:xfrm>
            <a:off x="6381750" y="206375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D92D20"/>
                </a:solidFill>
              </a:defRPr>
            </a:pPr>
            <a:r>
              <a:rPr sz="2175" b="1">
                <a:solidFill>
                  <a:srgbClr val="D92D20"/>
                </a:solidFill>
              </a:rPr>
              <a:t>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549AB8B-FB86-494E-BAE1-606998711CFC}"/>
              </a:ext>
            </a:extLst>
          </p:cNvPr>
          <p:cNvSpPr>
            <a:spLocks noGrp="1"/>
          </p:cNvSpPr>
          <p:nvPr/>
        </p:nvSpPr>
        <p:spPr>
          <a:xfrm>
            <a:off x="6381750" y="244475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Weakens source analytics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C96789C-1688-4304-99CD-A83C7C6339C1}"/>
              </a:ext>
            </a:extLst>
          </p:cNvPr>
          <p:cNvSpPr>
            <a:spLocks noGrp="1"/>
          </p:cNvSpPr>
          <p:nvPr/>
        </p:nvSpPr>
        <p:spPr>
          <a:xfrm>
            <a:off x="8972550" y="1663700"/>
            <a:ext cx="25336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B252290-A3A5-4167-A7CF-4766872BDE6A}"/>
              </a:ext>
            </a:extLst>
          </p:cNvPr>
          <p:cNvSpPr>
            <a:spLocks noGrp="1"/>
          </p:cNvSpPr>
          <p:nvPr/>
        </p:nvSpPr>
        <p:spPr>
          <a:xfrm>
            <a:off x="9144000" y="182562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Missing outcome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C170F56-8855-4F87-BB0C-9EED521D6D75}"/>
              </a:ext>
            </a:extLst>
          </p:cNvPr>
          <p:cNvSpPr>
            <a:spLocks noGrp="1"/>
          </p:cNvSpPr>
          <p:nvPr/>
        </p:nvSpPr>
        <p:spPr>
          <a:xfrm>
            <a:off x="9144000" y="20637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D92D20"/>
                </a:solidFill>
              </a:defRPr>
            </a:pPr>
            <a:r>
              <a:rPr sz="2175" b="1">
                <a:solidFill>
                  <a:srgbClr val="D92D20"/>
                </a:solidFill>
              </a:rPr>
              <a:t>3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B59901F-AB01-4BD3-9BDF-D1A1AE55E12A}"/>
              </a:ext>
            </a:extLst>
          </p:cNvPr>
          <p:cNvSpPr>
            <a:spLocks noGrp="1"/>
          </p:cNvSpPr>
          <p:nvPr/>
        </p:nvSpPr>
        <p:spPr>
          <a:xfrm>
            <a:off x="9144000" y="24447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Affects failure metrics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4220BF8-4288-4B61-976C-EBFC3B3481A3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2238375" cy="4572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FB496EE-A16F-47DA-A85A-93245691475C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B9A247D-45EE-4C1C-B556-FF0A96DCAF6C}"/>
              </a:ext>
            </a:extLst>
          </p:cNvPr>
          <p:cNvSpPr>
            <a:spLocks noGrp="1"/>
          </p:cNvSpPr>
          <p:nvPr/>
        </p:nvSpPr>
        <p:spPr>
          <a:xfrm>
            <a:off x="2924175" y="3286125"/>
            <a:ext cx="1047750" cy="4572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6DB5B4C-1DE7-4C29-9D08-3DAE0C75078C}"/>
              </a:ext>
            </a:extLst>
          </p:cNvPr>
          <p:cNvSpPr>
            <a:spLocks noGrp="1"/>
          </p:cNvSpPr>
          <p:nvPr/>
        </p:nvSpPr>
        <p:spPr>
          <a:xfrm>
            <a:off x="3019425" y="3381375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D5837FB-5483-4618-AE56-8A4DB1462FA3}"/>
              </a:ext>
            </a:extLst>
          </p:cNvPr>
          <p:cNvSpPr>
            <a:spLocks noGrp="1"/>
          </p:cNvSpPr>
          <p:nvPr/>
        </p:nvSpPr>
        <p:spPr>
          <a:xfrm>
            <a:off x="3971925" y="3286125"/>
            <a:ext cx="4095750" cy="4572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0BF135B-D2A2-4DB5-9B14-84807A53F89B}"/>
              </a:ext>
            </a:extLst>
          </p:cNvPr>
          <p:cNvSpPr>
            <a:spLocks noGrp="1"/>
          </p:cNvSpPr>
          <p:nvPr/>
        </p:nvSpPr>
        <p:spPr>
          <a:xfrm>
            <a:off x="4067175" y="33813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AC4C52E-9A2E-4DE5-A8DA-0A145DB1971A}"/>
              </a:ext>
            </a:extLst>
          </p:cNvPr>
          <p:cNvSpPr>
            <a:spLocks noGrp="1"/>
          </p:cNvSpPr>
          <p:nvPr/>
        </p:nvSpPr>
        <p:spPr>
          <a:xfrm>
            <a:off x="8067675" y="3286125"/>
            <a:ext cx="3438525" cy="4572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6DA2B5B-2DAE-44F0-9347-40A5A0920B27}"/>
              </a:ext>
            </a:extLst>
          </p:cNvPr>
          <p:cNvSpPr>
            <a:spLocks noGrp="1"/>
          </p:cNvSpPr>
          <p:nvPr/>
        </p:nvSpPr>
        <p:spPr>
          <a:xfrm>
            <a:off x="8162925" y="3381375"/>
            <a:ext cx="3248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FEEFBB0-C947-4D2C-9DFF-7B1FE26C2FDB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2238375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CC7EE87-1274-4B03-903A-ABEC4144B635}"/>
              </a:ext>
            </a:extLst>
          </p:cNvPr>
          <p:cNvSpPr>
            <a:spLocks noGrp="1"/>
          </p:cNvSpPr>
          <p:nvPr/>
        </p:nvSpPr>
        <p:spPr>
          <a:xfrm>
            <a:off x="781050" y="381952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Missing IP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C0D6718-6B2F-4488-A6E1-DDF0EE08E14A}"/>
              </a:ext>
            </a:extLst>
          </p:cNvPr>
          <p:cNvSpPr>
            <a:spLocks noGrp="1"/>
          </p:cNvSpPr>
          <p:nvPr/>
        </p:nvSpPr>
        <p:spPr>
          <a:xfrm>
            <a:off x="2924175" y="3743325"/>
            <a:ext cx="1047750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EAAFBEB-8ACC-40F0-A023-9C9A128A1611}"/>
              </a:ext>
            </a:extLst>
          </p:cNvPr>
          <p:cNvSpPr>
            <a:spLocks noGrp="1"/>
          </p:cNvSpPr>
          <p:nvPr/>
        </p:nvSpPr>
        <p:spPr>
          <a:xfrm>
            <a:off x="3019425" y="38195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3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B7E2188-B007-4E75-9240-DC4EED5163EB}"/>
              </a:ext>
            </a:extLst>
          </p:cNvPr>
          <p:cNvSpPr>
            <a:spLocks noGrp="1"/>
          </p:cNvSpPr>
          <p:nvPr/>
        </p:nvSpPr>
        <p:spPr>
          <a:xfrm>
            <a:off x="3971925" y="3743325"/>
            <a:ext cx="4095750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739B2D2-985C-4D10-B11F-4B9AD91AB709}"/>
              </a:ext>
            </a:extLst>
          </p:cNvPr>
          <p:cNvSpPr>
            <a:spLocks noGrp="1"/>
          </p:cNvSpPr>
          <p:nvPr/>
        </p:nvSpPr>
        <p:spPr>
          <a:xfrm>
            <a:off x="4067175" y="3819525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Weakens IP-based detection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B6BBFB9-1975-4D97-8867-FBA368C75343}"/>
              </a:ext>
            </a:extLst>
          </p:cNvPr>
          <p:cNvSpPr>
            <a:spLocks noGrp="1"/>
          </p:cNvSpPr>
          <p:nvPr/>
        </p:nvSpPr>
        <p:spPr>
          <a:xfrm>
            <a:off x="8067675" y="3743325"/>
            <a:ext cx="3438525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2464F5C-2962-4CDA-89D0-94F11F7F4178}"/>
              </a:ext>
            </a:extLst>
          </p:cNvPr>
          <p:cNvSpPr>
            <a:spLocks noGrp="1"/>
          </p:cNvSpPr>
          <p:nvPr/>
        </p:nvSpPr>
        <p:spPr>
          <a:xfrm>
            <a:off x="8162925" y="3819525"/>
            <a:ext cx="32480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Investigate upstream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2D9E6D8-98EC-406C-B07E-488EB26D9295}"/>
              </a:ext>
            </a:extLst>
          </p:cNvPr>
          <p:cNvSpPr>
            <a:spLocks noGrp="1"/>
          </p:cNvSpPr>
          <p:nvPr/>
        </p:nvSpPr>
        <p:spPr>
          <a:xfrm>
            <a:off x="685800" y="4200525"/>
            <a:ext cx="22383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09EEAD9-226D-4F4B-85FD-8FE301C0AD70}"/>
              </a:ext>
            </a:extLst>
          </p:cNvPr>
          <p:cNvSpPr>
            <a:spLocks noGrp="1"/>
          </p:cNvSpPr>
          <p:nvPr/>
        </p:nvSpPr>
        <p:spPr>
          <a:xfrm>
            <a:off x="781050" y="427672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Missing outcome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257286A-C878-4251-9808-D8B37E1E8877}"/>
              </a:ext>
            </a:extLst>
          </p:cNvPr>
          <p:cNvSpPr>
            <a:spLocks noGrp="1"/>
          </p:cNvSpPr>
          <p:nvPr/>
        </p:nvSpPr>
        <p:spPr>
          <a:xfrm>
            <a:off x="2924175" y="4200525"/>
            <a:ext cx="1047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E6C0C014-16D5-432B-9210-8463F929B688}"/>
              </a:ext>
            </a:extLst>
          </p:cNvPr>
          <p:cNvSpPr>
            <a:spLocks noGrp="1"/>
          </p:cNvSpPr>
          <p:nvPr/>
        </p:nvSpPr>
        <p:spPr>
          <a:xfrm>
            <a:off x="3019425" y="42767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3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31AC8B5A-C069-472C-A224-5C1016F70883}"/>
              </a:ext>
            </a:extLst>
          </p:cNvPr>
          <p:cNvSpPr>
            <a:spLocks noGrp="1"/>
          </p:cNvSpPr>
          <p:nvPr/>
        </p:nvSpPr>
        <p:spPr>
          <a:xfrm>
            <a:off x="3971925" y="4200525"/>
            <a:ext cx="4095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90CAEEC2-6CB0-47A0-8CF0-A7663FBA758B}"/>
              </a:ext>
            </a:extLst>
          </p:cNvPr>
          <p:cNvSpPr>
            <a:spLocks noGrp="1"/>
          </p:cNvSpPr>
          <p:nvPr/>
        </p:nvSpPr>
        <p:spPr>
          <a:xfrm>
            <a:off x="4067175" y="4276725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Affects failure metrics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B457C7FC-A94E-4D2D-B82D-CC365D44020E}"/>
              </a:ext>
            </a:extLst>
          </p:cNvPr>
          <p:cNvSpPr>
            <a:spLocks noGrp="1"/>
          </p:cNvSpPr>
          <p:nvPr/>
        </p:nvSpPr>
        <p:spPr>
          <a:xfrm>
            <a:off x="8067675" y="4200525"/>
            <a:ext cx="34385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ABA308E9-3577-4EAB-B887-44F43188EDD8}"/>
              </a:ext>
            </a:extLst>
          </p:cNvPr>
          <p:cNvSpPr>
            <a:spLocks noGrp="1"/>
          </p:cNvSpPr>
          <p:nvPr/>
        </p:nvSpPr>
        <p:spPr>
          <a:xfrm>
            <a:off x="8162925" y="4276725"/>
            <a:ext cx="32480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Conservative handling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87DEBD5-1775-4278-8C81-A25A674AFF4D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2238375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8EA9CFA-96AC-4C82-A498-825A30DD855E}"/>
              </a:ext>
            </a:extLst>
          </p:cNvPr>
          <p:cNvSpPr>
            <a:spLocks noGrp="1"/>
          </p:cNvSpPr>
          <p:nvPr/>
        </p:nvSpPr>
        <p:spPr>
          <a:xfrm>
            <a:off x="781050" y="473392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Duplicates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0B74816-DCE9-4160-8E27-4698BAC0BAB2}"/>
              </a:ext>
            </a:extLst>
          </p:cNvPr>
          <p:cNvSpPr>
            <a:spLocks noGrp="1"/>
          </p:cNvSpPr>
          <p:nvPr/>
        </p:nvSpPr>
        <p:spPr>
          <a:xfrm>
            <a:off x="2924175" y="4657725"/>
            <a:ext cx="1047750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B6C8103E-649E-418E-9004-6C318338D4AD}"/>
              </a:ext>
            </a:extLst>
          </p:cNvPr>
          <p:cNvSpPr>
            <a:spLocks noGrp="1"/>
          </p:cNvSpPr>
          <p:nvPr/>
        </p:nvSpPr>
        <p:spPr>
          <a:xfrm>
            <a:off x="3019425" y="47339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88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7671B02D-8DE7-4978-A9B5-E501CDE66074}"/>
              </a:ext>
            </a:extLst>
          </p:cNvPr>
          <p:cNvSpPr>
            <a:spLocks noGrp="1"/>
          </p:cNvSpPr>
          <p:nvPr/>
        </p:nvSpPr>
        <p:spPr>
          <a:xfrm>
            <a:off x="3971925" y="4657725"/>
            <a:ext cx="4095750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43AD1DD1-F346-45C2-AC8C-E0ABBA10F039}"/>
              </a:ext>
            </a:extLst>
          </p:cNvPr>
          <p:cNvSpPr>
            <a:spLocks noGrp="1"/>
          </p:cNvSpPr>
          <p:nvPr/>
        </p:nvSpPr>
        <p:spPr>
          <a:xfrm>
            <a:off x="4067175" y="4733925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Inflates alerts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F9FAC5C0-2CD6-473B-96BF-B77D18D76B94}"/>
              </a:ext>
            </a:extLst>
          </p:cNvPr>
          <p:cNvSpPr>
            <a:spLocks noGrp="1"/>
          </p:cNvSpPr>
          <p:nvPr/>
        </p:nvSpPr>
        <p:spPr>
          <a:xfrm>
            <a:off x="8067675" y="4657725"/>
            <a:ext cx="3438525" cy="4572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C747DFD3-2870-4A58-88F1-6CB3F8D9EDC1}"/>
              </a:ext>
            </a:extLst>
          </p:cNvPr>
          <p:cNvSpPr>
            <a:spLocks noGrp="1"/>
          </p:cNvSpPr>
          <p:nvPr/>
        </p:nvSpPr>
        <p:spPr>
          <a:xfrm>
            <a:off x="8162925" y="4733925"/>
            <a:ext cx="32480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Deduplicate before scoring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28D5D31B-D164-4EF9-B0CD-77A405866FCB}"/>
              </a:ext>
            </a:extLst>
          </p:cNvPr>
          <p:cNvSpPr>
            <a:spLocks noGrp="1"/>
          </p:cNvSpPr>
          <p:nvPr/>
        </p:nvSpPr>
        <p:spPr>
          <a:xfrm>
            <a:off x="685800" y="5114925"/>
            <a:ext cx="22383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6CFC9DF2-56E8-4989-AFD8-526D2076D868}"/>
              </a:ext>
            </a:extLst>
          </p:cNvPr>
          <p:cNvSpPr>
            <a:spLocks noGrp="1"/>
          </p:cNvSpPr>
          <p:nvPr/>
        </p:nvSpPr>
        <p:spPr>
          <a:xfrm>
            <a:off x="781050" y="519112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Invalid labels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161D4B25-31A6-4132-9043-F30DA3A7F59F}"/>
              </a:ext>
            </a:extLst>
          </p:cNvPr>
          <p:cNvSpPr>
            <a:spLocks noGrp="1"/>
          </p:cNvSpPr>
          <p:nvPr/>
        </p:nvSpPr>
        <p:spPr>
          <a:xfrm>
            <a:off x="2924175" y="5114925"/>
            <a:ext cx="1047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38CBA673-791B-4B7A-AE23-56A93963F7C7}"/>
              </a:ext>
            </a:extLst>
          </p:cNvPr>
          <p:cNvSpPr>
            <a:spLocks noGrp="1"/>
          </p:cNvSpPr>
          <p:nvPr/>
        </p:nvSpPr>
        <p:spPr>
          <a:xfrm>
            <a:off x="3019425" y="51911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2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4680CA30-A2EA-40EA-A4C5-51EFCEEB2C1A}"/>
              </a:ext>
            </a:extLst>
          </p:cNvPr>
          <p:cNvSpPr>
            <a:spLocks noGrp="1"/>
          </p:cNvSpPr>
          <p:nvPr/>
        </p:nvSpPr>
        <p:spPr>
          <a:xfrm>
            <a:off x="3971925" y="5114925"/>
            <a:ext cx="4095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1A5314BB-D36B-4C79-B6EF-74741DF69C0E}"/>
              </a:ext>
            </a:extLst>
          </p:cNvPr>
          <p:cNvSpPr>
            <a:spLocks noGrp="1"/>
          </p:cNvSpPr>
          <p:nvPr/>
        </p:nvSpPr>
        <p:spPr>
          <a:xfrm>
            <a:off x="4067175" y="5191125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Schema inconsistency</a:t>
            </a: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2EEB26F7-2547-4AC5-A53F-EACE59196FA4}"/>
              </a:ext>
            </a:extLst>
          </p:cNvPr>
          <p:cNvSpPr>
            <a:spLocks noGrp="1"/>
          </p:cNvSpPr>
          <p:nvPr/>
        </p:nvSpPr>
        <p:spPr>
          <a:xfrm>
            <a:off x="8067675" y="5114925"/>
            <a:ext cx="34385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2DA61382-454D-47CE-889C-6A5636BB39A8}"/>
              </a:ext>
            </a:extLst>
          </p:cNvPr>
          <p:cNvSpPr>
            <a:spLocks noGrp="1"/>
          </p:cNvSpPr>
          <p:nvPr/>
        </p:nvSpPr>
        <p:spPr>
          <a:xfrm>
            <a:off x="8162925" y="5191125"/>
            <a:ext cx="32480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Normalize values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39CA49E1-B93E-4C01-8458-345788AA04F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2530D9E0-CB97-4534-A3EA-573ADC6664F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D3284A58-9E41-490E-B31A-33C127E627AC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23503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9545EC7-989A-406D-8DF6-AA8CE8FAA65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942F7F9-C688-40FC-9854-CF0C1770246C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544C93-64B5-43F6-8569-571733E5D384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3AB3FEE-950A-42D4-A2A7-CB07C687E4D5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Baseline and Feb 9 spike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664AA4D-3A5F-48B9-8AA0-F689D0FBA4A3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Aggregate trends identify when to drill into user and IP behavior.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7E18BAB-95F9-4DC1-BA37-34974E87AEDA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667625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60133" y="1809750"/>
            <a:ext cx="6718959" cy="3543300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A7BBBA4-9442-4181-BFE5-450A4AEB404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420A9E6-A4E7-414D-9729-B5AD68019FE7}"/>
              </a:ext>
            </a:extLst>
          </p:cNvPr>
          <p:cNvSpPr>
            <a:spLocks noGrp="1"/>
          </p:cNvSpPr>
          <p:nvPr/>
        </p:nvSpPr>
        <p:spPr>
          <a:xfrm>
            <a:off x="8915400" y="1952625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Feb 9 attempts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4BACBFB-A0B5-4265-9E69-CA411C312C3C}"/>
              </a:ext>
            </a:extLst>
          </p:cNvPr>
          <p:cNvSpPr>
            <a:spLocks noGrp="1"/>
          </p:cNvSpPr>
          <p:nvPr/>
        </p:nvSpPr>
        <p:spPr>
          <a:xfrm>
            <a:off x="8915400" y="2190750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259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0F1FD72-C30A-4324-BEE5-A7E71E8C6887}"/>
              </a:ext>
            </a:extLst>
          </p:cNvPr>
          <p:cNvSpPr>
            <a:spLocks noGrp="1"/>
          </p:cNvSpPr>
          <p:nvPr/>
        </p:nvSpPr>
        <p:spPr>
          <a:xfrm>
            <a:off x="8915400" y="2571750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Dataset-level spike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F27A239-0545-44C3-B1D9-04F229F792D4}"/>
              </a:ext>
            </a:extLst>
          </p:cNvPr>
          <p:cNvSpPr>
            <a:spLocks noGrp="1"/>
          </p:cNvSpPr>
          <p:nvPr/>
        </p:nvSpPr>
        <p:spPr>
          <a:xfrm>
            <a:off x="8743950" y="300990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CB8998F-4560-43CD-BB9B-4A8B1330C4C1}"/>
              </a:ext>
            </a:extLst>
          </p:cNvPr>
          <p:cNvSpPr>
            <a:spLocks noGrp="1"/>
          </p:cNvSpPr>
          <p:nvPr/>
        </p:nvSpPr>
        <p:spPr>
          <a:xfrm>
            <a:off x="8915400" y="3171825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Feb 9 failures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18D1B2F-CCFE-4CE4-B9B4-F15BCF72AFAA}"/>
              </a:ext>
            </a:extLst>
          </p:cNvPr>
          <p:cNvSpPr>
            <a:spLocks noGrp="1"/>
          </p:cNvSpPr>
          <p:nvPr/>
        </p:nvSpPr>
        <p:spPr>
          <a:xfrm>
            <a:off x="8915400" y="3409950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D92D20"/>
                </a:solidFill>
              </a:defRPr>
            </a:pPr>
            <a:r>
              <a:rPr sz="2175" b="1">
                <a:solidFill>
                  <a:srgbClr val="D92D20"/>
                </a:solidFill>
              </a:rPr>
              <a:t>96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CCC43A-19D4-4C41-9767-357AB3429BC2}"/>
              </a:ext>
            </a:extLst>
          </p:cNvPr>
          <p:cNvSpPr>
            <a:spLocks noGrp="1"/>
          </p:cNvSpPr>
          <p:nvPr/>
        </p:nvSpPr>
        <p:spPr>
          <a:xfrm>
            <a:off x="8915400" y="3790950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Concentrated failures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971A1A2-C21A-45A8-8DE3-557C0BC5F2C7}"/>
              </a:ext>
            </a:extLst>
          </p:cNvPr>
          <p:cNvSpPr>
            <a:spLocks noGrp="1"/>
          </p:cNvSpPr>
          <p:nvPr/>
        </p:nvSpPr>
        <p:spPr>
          <a:xfrm>
            <a:off x="8743950" y="4229100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B933AED-C65B-40A7-B13B-EBDF7F6D484E}"/>
              </a:ext>
            </a:extLst>
          </p:cNvPr>
          <p:cNvSpPr>
            <a:spLocks noGrp="1"/>
          </p:cNvSpPr>
          <p:nvPr/>
        </p:nvSpPr>
        <p:spPr>
          <a:xfrm>
            <a:off x="8915400" y="4391025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F6F6F"/>
                </a:solidFill>
              </a:defRPr>
            </a:pPr>
            <a:r>
              <a:rPr sz="1050" b="1">
                <a:solidFill>
                  <a:srgbClr val="6F6F6F"/>
                </a:solidFill>
              </a:rPr>
              <a:t>Failure rate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6527236-2993-4208-8D59-9240907367A3}"/>
              </a:ext>
            </a:extLst>
          </p:cNvPr>
          <p:cNvSpPr>
            <a:spLocks noGrp="1"/>
          </p:cNvSpPr>
          <p:nvPr/>
        </p:nvSpPr>
        <p:spPr>
          <a:xfrm>
            <a:off x="8915400" y="4629150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FA582D"/>
                </a:solidFill>
              </a:defRPr>
            </a:pPr>
            <a:r>
              <a:rPr sz="2175" b="1">
                <a:solidFill>
                  <a:srgbClr val="FA582D"/>
                </a:solidFill>
              </a:rPr>
              <a:t>37.1%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A6CDEED-B10F-4C81-9A9A-D542D047F14C}"/>
              </a:ext>
            </a:extLst>
          </p:cNvPr>
          <p:cNvSpPr>
            <a:spLocks noGrp="1"/>
          </p:cNvSpPr>
          <p:nvPr/>
        </p:nvSpPr>
        <p:spPr>
          <a:xfrm>
            <a:off x="8915400" y="5010150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F6F6F"/>
                </a:solidFill>
              </a:defRPr>
            </a:pPr>
            <a:r>
              <a:rPr sz="938" b="0">
                <a:solidFill>
                  <a:srgbClr val="6F6F6F"/>
                </a:solidFill>
              </a:rPr>
              <a:t>Far above baseline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56BE8B7-99B7-439A-9FBC-DB3407B86485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476250"/>
          </a:xfrm>
          <a:prstGeom prst="roundRect">
            <a:avLst>
              <a:gd name="adj" fmla="val 16000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BFF9EE2-1782-4C67-8AC9-512C61AFFDCB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6675" cy="47625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79F650D-78A5-481D-B30F-8514DCE7F38B}"/>
              </a:ext>
            </a:extLst>
          </p:cNvPr>
          <p:cNvSpPr>
            <a:spLocks noGrp="1"/>
          </p:cNvSpPr>
          <p:nvPr/>
        </p:nvSpPr>
        <p:spPr>
          <a:xfrm>
            <a:off x="914400" y="58388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Feb 9 is not the conclusion; it is the signpost that points to concentrated attacks.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21D9B7F-E144-4FF3-9007-D965D5D43BD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B6D0C5D-F3B0-44C5-8682-54CDADB4F9D8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0099E22-63A9-4152-8F7F-8D6701536A3C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1678406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Рисунок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B9E57AB-7C59-4468-B604-691FAE7376F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0A3DA28-7F84-4736-AAAA-719CCB43E1DD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91A556A-2760-4B65-A25E-CB8DD9598FFA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07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1476653-2AD5-4E3A-BECC-0B41C5B03507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Behavioral features used for scoring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E389778-EB61-4179-A999-9DD1164C7445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Raw events are converted into comparable user, IP, and timing signals.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C92DA32-E655-450F-BE5D-E0B2C7D7A219}"/>
              </a:ext>
            </a:extLst>
          </p:cNvPr>
          <p:cNvSpPr>
            <a:spLocks noGrp="1"/>
          </p:cNvSpPr>
          <p:nvPr/>
        </p:nvSpPr>
        <p:spPr>
          <a:xfrm>
            <a:off x="685800" y="1670050"/>
            <a:ext cx="2476500" cy="5334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E0C79-C9C8-41BF-8005-D7BA6765D13A}"/>
              </a:ext>
            </a:extLst>
          </p:cNvPr>
          <p:cNvSpPr>
            <a:spLocks noGrp="1"/>
          </p:cNvSpPr>
          <p:nvPr/>
        </p:nvSpPr>
        <p:spPr>
          <a:xfrm>
            <a:off x="781050" y="17653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EB8F83-AE01-40E2-B714-2333E46BE9F1}"/>
              </a:ext>
            </a:extLst>
          </p:cNvPr>
          <p:cNvSpPr>
            <a:spLocks noGrp="1"/>
          </p:cNvSpPr>
          <p:nvPr/>
        </p:nvSpPr>
        <p:spPr>
          <a:xfrm>
            <a:off x="3162300" y="1670050"/>
            <a:ext cx="3429000" cy="5334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4B26F90-19A8-41BA-B0CB-7DE798B40FCC}"/>
              </a:ext>
            </a:extLst>
          </p:cNvPr>
          <p:cNvSpPr>
            <a:spLocks noGrp="1"/>
          </p:cNvSpPr>
          <p:nvPr/>
        </p:nvSpPr>
        <p:spPr>
          <a:xfrm>
            <a:off x="3257550" y="17653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What it captures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91BEE76-FF7B-45CD-8793-0A5EC63B0E17}"/>
              </a:ext>
            </a:extLst>
          </p:cNvPr>
          <p:cNvSpPr>
            <a:spLocks noGrp="1"/>
          </p:cNvSpPr>
          <p:nvPr/>
        </p:nvSpPr>
        <p:spPr>
          <a:xfrm>
            <a:off x="6591300" y="1670050"/>
            <a:ext cx="4914900" cy="5334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68A9EEC-2CE4-4676-8185-02731750A504}"/>
              </a:ext>
            </a:extLst>
          </p:cNvPr>
          <p:cNvSpPr>
            <a:spLocks noGrp="1"/>
          </p:cNvSpPr>
          <p:nvPr/>
        </p:nvSpPr>
        <p:spPr>
          <a:xfrm>
            <a:off x="6686550" y="1765300"/>
            <a:ext cx="4724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Why it is better than raw rows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D2B5368-D32F-4834-87F1-17FDBCBEB09E}"/>
              </a:ext>
            </a:extLst>
          </p:cNvPr>
          <p:cNvSpPr>
            <a:spLocks noGrp="1"/>
          </p:cNvSpPr>
          <p:nvPr/>
        </p:nvSpPr>
        <p:spPr>
          <a:xfrm>
            <a:off x="685800" y="2203450"/>
            <a:ext cx="24765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85D236-84A2-4AD3-830D-D757F9C076BB}"/>
              </a:ext>
            </a:extLst>
          </p:cNvPr>
          <p:cNvSpPr>
            <a:spLocks noGrp="1"/>
          </p:cNvSpPr>
          <p:nvPr/>
        </p:nvSpPr>
        <p:spPr>
          <a:xfrm>
            <a:off x="781050" y="227965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Failure rate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141CDBD-C98F-4007-A284-A645B0086C5E}"/>
              </a:ext>
            </a:extLst>
          </p:cNvPr>
          <p:cNvSpPr>
            <a:spLocks noGrp="1"/>
          </p:cNvSpPr>
          <p:nvPr/>
        </p:nvSpPr>
        <p:spPr>
          <a:xfrm>
            <a:off x="3162300" y="2203450"/>
            <a:ext cx="34290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CF36A62-B0C8-401E-B449-8BF3D5E10DF0}"/>
              </a:ext>
            </a:extLst>
          </p:cNvPr>
          <p:cNvSpPr>
            <a:spLocks noGrp="1"/>
          </p:cNvSpPr>
          <p:nvPr/>
        </p:nvSpPr>
        <p:spPr>
          <a:xfrm>
            <a:off x="3257550" y="22796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Failures / attempts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89E262E-9601-4CD9-BF89-C297D49E22BB}"/>
              </a:ext>
            </a:extLst>
          </p:cNvPr>
          <p:cNvSpPr>
            <a:spLocks noGrp="1"/>
          </p:cNvSpPr>
          <p:nvPr/>
        </p:nvSpPr>
        <p:spPr>
          <a:xfrm>
            <a:off x="6591300" y="2203450"/>
            <a:ext cx="49149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67C274D-E0E1-497E-8A53-F9DAEF96A248}"/>
              </a:ext>
            </a:extLst>
          </p:cNvPr>
          <p:cNvSpPr>
            <a:spLocks noGrp="1"/>
          </p:cNvSpPr>
          <p:nvPr/>
        </p:nvSpPr>
        <p:spPr>
          <a:xfrm>
            <a:off x="6686550" y="22796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Normalizes activity volume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CFDC7A7-8D10-45AD-B14D-374A983744C7}"/>
              </a:ext>
            </a:extLst>
          </p:cNvPr>
          <p:cNvSpPr>
            <a:spLocks noGrp="1"/>
          </p:cNvSpPr>
          <p:nvPr/>
        </p:nvSpPr>
        <p:spPr>
          <a:xfrm>
            <a:off x="685800" y="2736850"/>
            <a:ext cx="2476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98F641E-5F48-4D48-89AF-EC4C0E8398CD}"/>
              </a:ext>
            </a:extLst>
          </p:cNvPr>
          <p:cNvSpPr>
            <a:spLocks noGrp="1"/>
          </p:cNvSpPr>
          <p:nvPr/>
        </p:nvSpPr>
        <p:spPr>
          <a:xfrm>
            <a:off x="781050" y="281305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IP velocity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9A122F2-B2AF-4FBF-ADDD-1FEFD70978B0}"/>
              </a:ext>
            </a:extLst>
          </p:cNvPr>
          <p:cNvSpPr>
            <a:spLocks noGrp="1"/>
          </p:cNvSpPr>
          <p:nvPr/>
        </p:nvSpPr>
        <p:spPr>
          <a:xfrm>
            <a:off x="3162300" y="2736850"/>
            <a:ext cx="342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7118891-49B2-4ADE-A566-358346532B42}"/>
              </a:ext>
            </a:extLst>
          </p:cNvPr>
          <p:cNvSpPr>
            <a:spLocks noGrp="1"/>
          </p:cNvSpPr>
          <p:nvPr/>
        </p:nvSpPr>
        <p:spPr>
          <a:xfrm>
            <a:off x="3257550" y="28130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Distinct IPs / attempts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C7902F8-65C9-439B-9CBC-65F73CC34C24}"/>
              </a:ext>
            </a:extLst>
          </p:cNvPr>
          <p:cNvSpPr>
            <a:spLocks noGrp="1"/>
          </p:cNvSpPr>
          <p:nvPr/>
        </p:nvSpPr>
        <p:spPr>
          <a:xfrm>
            <a:off x="6591300" y="2736850"/>
            <a:ext cx="49149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EF28918-9D49-4BE5-93D5-76016BFA6182}"/>
              </a:ext>
            </a:extLst>
          </p:cNvPr>
          <p:cNvSpPr>
            <a:spLocks noGrp="1"/>
          </p:cNvSpPr>
          <p:nvPr/>
        </p:nvSpPr>
        <p:spPr>
          <a:xfrm>
            <a:off x="6686550" y="28130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Detects rotating sources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0083311-63F8-4F60-9502-62E9B23B974E}"/>
              </a:ext>
            </a:extLst>
          </p:cNvPr>
          <p:cNvSpPr>
            <a:spLocks noGrp="1"/>
          </p:cNvSpPr>
          <p:nvPr/>
        </p:nvSpPr>
        <p:spPr>
          <a:xfrm>
            <a:off x="685800" y="3270250"/>
            <a:ext cx="24765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6887446-1261-4963-A485-2A1FA4287814}"/>
              </a:ext>
            </a:extLst>
          </p:cNvPr>
          <p:cNvSpPr>
            <a:spLocks noGrp="1"/>
          </p:cNvSpPr>
          <p:nvPr/>
        </p:nvSpPr>
        <p:spPr>
          <a:xfrm>
            <a:off x="781050" y="334645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Attempt velocity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4E90CDC-D4BA-4CD0-8994-0B2C80737B71}"/>
              </a:ext>
            </a:extLst>
          </p:cNvPr>
          <p:cNvSpPr>
            <a:spLocks noGrp="1"/>
          </p:cNvSpPr>
          <p:nvPr/>
        </p:nvSpPr>
        <p:spPr>
          <a:xfrm>
            <a:off x="3162300" y="3270250"/>
            <a:ext cx="34290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749A4AE-9F1B-45D1-A42D-531C228E4EEB}"/>
              </a:ext>
            </a:extLst>
          </p:cNvPr>
          <p:cNvSpPr>
            <a:spLocks noGrp="1"/>
          </p:cNvSpPr>
          <p:nvPr/>
        </p:nvSpPr>
        <p:spPr>
          <a:xfrm>
            <a:off x="3257550" y="33464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Events in tight windows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4E911FF-CB56-477D-A969-07B67DA824B9}"/>
              </a:ext>
            </a:extLst>
          </p:cNvPr>
          <p:cNvSpPr>
            <a:spLocks noGrp="1"/>
          </p:cNvSpPr>
          <p:nvPr/>
        </p:nvSpPr>
        <p:spPr>
          <a:xfrm>
            <a:off x="6591300" y="3270250"/>
            <a:ext cx="49149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C140711-DA37-4D26-85C5-EA2F75A284C4}"/>
              </a:ext>
            </a:extLst>
          </p:cNvPr>
          <p:cNvSpPr>
            <a:spLocks noGrp="1"/>
          </p:cNvSpPr>
          <p:nvPr/>
        </p:nvSpPr>
        <p:spPr>
          <a:xfrm>
            <a:off x="6686550" y="33464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Finds automation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CF121F0-C111-46DD-80B0-D396DFE16D6D}"/>
              </a:ext>
            </a:extLst>
          </p:cNvPr>
          <p:cNvSpPr>
            <a:spLocks noGrp="1"/>
          </p:cNvSpPr>
          <p:nvPr/>
        </p:nvSpPr>
        <p:spPr>
          <a:xfrm>
            <a:off x="685800" y="3803650"/>
            <a:ext cx="2476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49EAD24-B4B1-4DE9-A9AD-E8CEE4473ADD}"/>
              </a:ext>
            </a:extLst>
          </p:cNvPr>
          <p:cNvSpPr>
            <a:spLocks noGrp="1"/>
          </p:cNvSpPr>
          <p:nvPr/>
        </p:nvSpPr>
        <p:spPr>
          <a:xfrm>
            <a:off x="781050" y="387985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Shared-IP spread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545F6E5-73AB-4371-8D0A-2317D3BF091C}"/>
              </a:ext>
            </a:extLst>
          </p:cNvPr>
          <p:cNvSpPr>
            <a:spLocks noGrp="1"/>
          </p:cNvSpPr>
          <p:nvPr/>
        </p:nvSpPr>
        <p:spPr>
          <a:xfrm>
            <a:off x="3162300" y="3803650"/>
            <a:ext cx="342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B460F2C-E765-45A4-B631-B69AA22706E3}"/>
              </a:ext>
            </a:extLst>
          </p:cNvPr>
          <p:cNvSpPr>
            <a:spLocks noGrp="1"/>
          </p:cNvSpPr>
          <p:nvPr/>
        </p:nvSpPr>
        <p:spPr>
          <a:xfrm>
            <a:off x="3257550" y="38798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Users per IP per timestamp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726D19E-1C8E-4506-8BE3-21A07079D15C}"/>
              </a:ext>
            </a:extLst>
          </p:cNvPr>
          <p:cNvSpPr>
            <a:spLocks noGrp="1"/>
          </p:cNvSpPr>
          <p:nvPr/>
        </p:nvSpPr>
        <p:spPr>
          <a:xfrm>
            <a:off x="6591300" y="3803650"/>
            <a:ext cx="49149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04ADD79-2E8D-4296-9C9D-B9B0395FF246}"/>
              </a:ext>
            </a:extLst>
          </p:cNvPr>
          <p:cNvSpPr>
            <a:spLocks noGrp="1"/>
          </p:cNvSpPr>
          <p:nvPr/>
        </p:nvSpPr>
        <p:spPr>
          <a:xfrm>
            <a:off x="6686550" y="38798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Finds spraying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D79D2F3-0A28-4400-BA5D-113B643D0E18}"/>
              </a:ext>
            </a:extLst>
          </p:cNvPr>
          <p:cNvSpPr>
            <a:spLocks noGrp="1"/>
          </p:cNvSpPr>
          <p:nvPr/>
        </p:nvSpPr>
        <p:spPr>
          <a:xfrm>
            <a:off x="685800" y="4337050"/>
            <a:ext cx="24765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006181F-3F3C-4085-A4EF-979C783101B8}"/>
              </a:ext>
            </a:extLst>
          </p:cNvPr>
          <p:cNvSpPr>
            <a:spLocks noGrp="1"/>
          </p:cNvSpPr>
          <p:nvPr/>
        </p:nvSpPr>
        <p:spPr>
          <a:xfrm>
            <a:off x="781050" y="441325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Off-hours access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49FF76A-FBEC-40D3-BCE1-A90A131DF656}"/>
              </a:ext>
            </a:extLst>
          </p:cNvPr>
          <p:cNvSpPr>
            <a:spLocks noGrp="1"/>
          </p:cNvSpPr>
          <p:nvPr/>
        </p:nvSpPr>
        <p:spPr>
          <a:xfrm>
            <a:off x="3162300" y="4337050"/>
            <a:ext cx="34290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03AF618-9850-4A7E-A465-A4A79FDF8D3D}"/>
              </a:ext>
            </a:extLst>
          </p:cNvPr>
          <p:cNvSpPr>
            <a:spLocks noGrp="1"/>
          </p:cNvSpPr>
          <p:nvPr/>
        </p:nvSpPr>
        <p:spPr>
          <a:xfrm>
            <a:off x="3257550" y="441325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00:00 to 05:00 logins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77D67B06-2FE0-4C8C-AEA7-F633DFD3AFFC}"/>
              </a:ext>
            </a:extLst>
          </p:cNvPr>
          <p:cNvSpPr>
            <a:spLocks noGrp="1"/>
          </p:cNvSpPr>
          <p:nvPr/>
        </p:nvSpPr>
        <p:spPr>
          <a:xfrm>
            <a:off x="6591300" y="4337050"/>
            <a:ext cx="49149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B847EBC8-D00B-40D8-A268-0BDB34662A37}"/>
              </a:ext>
            </a:extLst>
          </p:cNvPr>
          <p:cNvSpPr>
            <a:spLocks noGrp="1"/>
          </p:cNvSpPr>
          <p:nvPr/>
        </p:nvSpPr>
        <p:spPr>
          <a:xfrm>
            <a:off x="6686550" y="44132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Adds context when paired with novelty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9ED3ECF4-C9F9-433A-8DE2-3E0129B0E853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476250"/>
          </a:xfrm>
          <a:prstGeom prst="roundRect">
            <a:avLst>
              <a:gd name="adj" fmla="val 16000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59B99DD1-08C0-4A55-8241-319001F33D48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66675" cy="47625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00AB122-6591-4B23-B0B0-4EDADF4EF3AF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Each feature is interpretable enough for an analyst to validate without trusting a black box.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96C9A43F-D7A1-4738-AE14-0058C9A0B60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BAED492-07E0-48F6-B8BD-AD02B403EBD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75B9D4C7-F0AA-4225-AC0B-D5934838A82A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190021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Рисунок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2368DF-8E2B-45A7-B197-8C589B0AB28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DFBDE8D-403F-497A-9D83-7EDB29752C2B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3ABA58D-00D9-4DEE-968A-D9A3538C1573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8600267-0833-4DF5-A730-4915DCEEB68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Threat kill chain mapping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6B8D3E2-6B46-461A-8867-2076134BA6F5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Each anomaly is mapped to where it likely appears in an attack path.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A053966-72D6-47FB-BAF0-DE18642ECE7E}"/>
              </a:ext>
            </a:extLst>
          </p:cNvPr>
          <p:cNvSpPr>
            <a:spLocks noGrp="1"/>
          </p:cNvSpPr>
          <p:nvPr/>
        </p:nvSpPr>
        <p:spPr>
          <a:xfrm>
            <a:off x="685800" y="1644650"/>
            <a:ext cx="2590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FFBA44-FF29-4F67-BD1B-CBFA339E204C}"/>
              </a:ext>
            </a:extLst>
          </p:cNvPr>
          <p:cNvSpPr>
            <a:spLocks noGrp="1"/>
          </p:cNvSpPr>
          <p:nvPr/>
        </p:nvSpPr>
        <p:spPr>
          <a:xfrm>
            <a:off x="762000" y="179705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111111"/>
                </a:solidFill>
              </a:defRPr>
            </a:pPr>
            <a:r>
              <a:rPr sz="1088" b="1">
                <a:solidFill>
                  <a:srgbClr val="111111"/>
                </a:solidFill>
              </a:rPr>
              <a:t>Recon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5E0C735-C582-455E-98AD-53EDEEC3FBF7}"/>
              </a:ext>
            </a:extLst>
          </p:cNvPr>
          <p:cNvSpPr>
            <a:spLocks noGrp="1"/>
          </p:cNvSpPr>
          <p:nvPr/>
        </p:nvSpPr>
        <p:spPr>
          <a:xfrm>
            <a:off x="3286125" y="183515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81F52A9-5175-4A5D-A9D0-9C172E761357}"/>
              </a:ext>
            </a:extLst>
          </p:cNvPr>
          <p:cNvSpPr>
            <a:spLocks noGrp="1"/>
          </p:cNvSpPr>
          <p:nvPr/>
        </p:nvSpPr>
        <p:spPr>
          <a:xfrm>
            <a:off x="3429000" y="1644650"/>
            <a:ext cx="2590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5DDF84F-6B28-454A-966E-30C7E4744A61}"/>
              </a:ext>
            </a:extLst>
          </p:cNvPr>
          <p:cNvSpPr>
            <a:spLocks noGrp="1"/>
          </p:cNvSpPr>
          <p:nvPr/>
        </p:nvSpPr>
        <p:spPr>
          <a:xfrm>
            <a:off x="3505200" y="179705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111111"/>
                </a:solidFill>
              </a:defRPr>
            </a:pPr>
            <a:r>
              <a:rPr sz="1088" b="1">
                <a:solidFill>
                  <a:srgbClr val="111111"/>
                </a:solidFill>
              </a:rPr>
              <a:t>Password spray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675EF64-0DB0-4936-A3B8-A80617ADA4A1}"/>
              </a:ext>
            </a:extLst>
          </p:cNvPr>
          <p:cNvSpPr>
            <a:spLocks noGrp="1"/>
          </p:cNvSpPr>
          <p:nvPr/>
        </p:nvSpPr>
        <p:spPr>
          <a:xfrm>
            <a:off x="6029325" y="183515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8D65AFA-BF8D-4A28-9F70-626899E917EF}"/>
              </a:ext>
            </a:extLst>
          </p:cNvPr>
          <p:cNvSpPr>
            <a:spLocks noGrp="1"/>
          </p:cNvSpPr>
          <p:nvPr/>
        </p:nvSpPr>
        <p:spPr>
          <a:xfrm>
            <a:off x="6172200" y="1644650"/>
            <a:ext cx="2590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1F5BA47-A27E-447D-AC5F-699E98E70403}"/>
              </a:ext>
            </a:extLst>
          </p:cNvPr>
          <p:cNvSpPr>
            <a:spLocks noGrp="1"/>
          </p:cNvSpPr>
          <p:nvPr/>
        </p:nvSpPr>
        <p:spPr>
          <a:xfrm>
            <a:off x="6248400" y="179705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111111"/>
                </a:solidFill>
              </a:defRPr>
            </a:pPr>
            <a:r>
              <a:rPr sz="1088" b="1">
                <a:solidFill>
                  <a:srgbClr val="111111"/>
                </a:solidFill>
              </a:rPr>
              <a:t>Credential stuffing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96F92D3-1B8F-4F44-9E13-BAEAF8CC0CDB}"/>
              </a:ext>
            </a:extLst>
          </p:cNvPr>
          <p:cNvSpPr>
            <a:spLocks noGrp="1"/>
          </p:cNvSpPr>
          <p:nvPr/>
        </p:nvSpPr>
        <p:spPr>
          <a:xfrm>
            <a:off x="8772525" y="183515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8B01C38-8504-4062-8DCE-00C9071890C2}"/>
              </a:ext>
            </a:extLst>
          </p:cNvPr>
          <p:cNvSpPr>
            <a:spLocks noGrp="1"/>
          </p:cNvSpPr>
          <p:nvPr/>
        </p:nvSpPr>
        <p:spPr>
          <a:xfrm>
            <a:off x="8915400" y="1644650"/>
            <a:ext cx="2590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0A96818-1FA7-4309-A2BA-E323CADD2A81}"/>
              </a:ext>
            </a:extLst>
          </p:cNvPr>
          <p:cNvSpPr>
            <a:spLocks noGrp="1"/>
          </p:cNvSpPr>
          <p:nvPr/>
        </p:nvSpPr>
        <p:spPr>
          <a:xfrm>
            <a:off x="8991600" y="179705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111111"/>
                </a:solidFill>
              </a:defRPr>
            </a:pPr>
            <a:r>
              <a:rPr sz="1088" b="1">
                <a:solidFill>
                  <a:srgbClr val="111111"/>
                </a:solidFill>
              </a:rPr>
              <a:t>Successful login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F4B1256E-9BC5-41CE-822F-CB8BB7955115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590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2960CD4-B2ED-4251-BCB5-B5DEEAF58113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111111"/>
                </a:solidFill>
              </a:defRPr>
            </a:pPr>
            <a:r>
              <a:rPr sz="1088" b="1">
                <a:solidFill>
                  <a:srgbClr val="111111"/>
                </a:solidFill>
              </a:rPr>
              <a:t>Persistence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A8BFC45-D12F-42E3-9F29-6F6F88E4F123}"/>
              </a:ext>
            </a:extLst>
          </p:cNvPr>
          <p:cNvSpPr>
            <a:spLocks noGrp="1"/>
          </p:cNvSpPr>
          <p:nvPr/>
        </p:nvSpPr>
        <p:spPr>
          <a:xfrm>
            <a:off x="3286125" y="297180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A74CC6AD-BC5A-4292-94C1-0068BBDD0EAF}"/>
              </a:ext>
            </a:extLst>
          </p:cNvPr>
          <p:cNvSpPr>
            <a:spLocks noGrp="1"/>
          </p:cNvSpPr>
          <p:nvPr/>
        </p:nvSpPr>
        <p:spPr>
          <a:xfrm>
            <a:off x="3429000" y="2781300"/>
            <a:ext cx="2590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EFAB494-DF75-4E15-B701-CB8044EF2295}"/>
              </a:ext>
            </a:extLst>
          </p:cNvPr>
          <p:cNvSpPr>
            <a:spLocks noGrp="1"/>
          </p:cNvSpPr>
          <p:nvPr/>
        </p:nvSpPr>
        <p:spPr>
          <a:xfrm>
            <a:off x="3505200" y="29337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111111"/>
                </a:solidFill>
              </a:defRPr>
            </a:pPr>
            <a:r>
              <a:rPr sz="1088" b="1">
                <a:solidFill>
                  <a:srgbClr val="111111"/>
                </a:solidFill>
              </a:rPr>
              <a:t>Privilege escalation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C8AA9FB-995B-424C-988D-0EAF89B875A5}"/>
              </a:ext>
            </a:extLst>
          </p:cNvPr>
          <p:cNvSpPr>
            <a:spLocks noGrp="1"/>
          </p:cNvSpPr>
          <p:nvPr/>
        </p:nvSpPr>
        <p:spPr>
          <a:xfrm>
            <a:off x="6029325" y="297180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757EA2D-269D-4DC3-8C3D-70D0D31E168E}"/>
              </a:ext>
            </a:extLst>
          </p:cNvPr>
          <p:cNvSpPr>
            <a:spLocks noGrp="1"/>
          </p:cNvSpPr>
          <p:nvPr/>
        </p:nvSpPr>
        <p:spPr>
          <a:xfrm>
            <a:off x="6172200" y="2781300"/>
            <a:ext cx="2590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14A6349-28D2-46DC-A44D-B26989988F66}"/>
              </a:ext>
            </a:extLst>
          </p:cNvPr>
          <p:cNvSpPr>
            <a:spLocks noGrp="1"/>
          </p:cNvSpPr>
          <p:nvPr/>
        </p:nvSpPr>
        <p:spPr>
          <a:xfrm>
            <a:off x="6248400" y="29337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111111"/>
                </a:solidFill>
              </a:defRPr>
            </a:pPr>
            <a:r>
              <a:rPr sz="1088" b="1">
                <a:solidFill>
                  <a:srgbClr val="111111"/>
                </a:solidFill>
              </a:rPr>
              <a:t>Data exfiltration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4EB6F80-E827-4979-BD0A-CB2848849A90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2714625" cy="4381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3CA8560-FFBA-4270-B16E-F28614116AC9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Anomaly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52BBC4B-440D-45D5-887C-6EBE3BEC26C7}"/>
              </a:ext>
            </a:extLst>
          </p:cNvPr>
          <p:cNvSpPr>
            <a:spLocks noGrp="1"/>
          </p:cNvSpPr>
          <p:nvPr/>
        </p:nvSpPr>
        <p:spPr>
          <a:xfrm>
            <a:off x="3400425" y="3762375"/>
            <a:ext cx="3667125" cy="4381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6E3A6B0-DD86-4738-AA24-9BE9B279E6AC}"/>
              </a:ext>
            </a:extLst>
          </p:cNvPr>
          <p:cNvSpPr>
            <a:spLocks noGrp="1"/>
          </p:cNvSpPr>
          <p:nvPr/>
        </p:nvSpPr>
        <p:spPr>
          <a:xfrm>
            <a:off x="3495675" y="3857625"/>
            <a:ext cx="3476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Kill-chain fit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4090DA9-8E86-4970-BFE3-3BC0CAC77255}"/>
              </a:ext>
            </a:extLst>
          </p:cNvPr>
          <p:cNvSpPr>
            <a:spLocks noGrp="1"/>
          </p:cNvSpPr>
          <p:nvPr/>
        </p:nvSpPr>
        <p:spPr>
          <a:xfrm>
            <a:off x="7067550" y="3762375"/>
            <a:ext cx="4438650" cy="4381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B5ACCF8-9FB7-4036-BC47-3B9F232C8F42}"/>
              </a:ext>
            </a:extLst>
          </p:cNvPr>
          <p:cNvSpPr>
            <a:spLocks noGrp="1"/>
          </p:cNvSpPr>
          <p:nvPr/>
        </p:nvSpPr>
        <p:spPr>
          <a:xfrm>
            <a:off x="7162800" y="3857625"/>
            <a:ext cx="4248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Analyst action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0EEF894-AC9F-437C-BC27-BA7FB70ABC9A}"/>
              </a:ext>
            </a:extLst>
          </p:cNvPr>
          <p:cNvSpPr>
            <a:spLocks noGrp="1"/>
          </p:cNvSpPr>
          <p:nvPr/>
        </p:nvSpPr>
        <p:spPr>
          <a:xfrm>
            <a:off x="685800" y="4200525"/>
            <a:ext cx="2714625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2A3D282-2EE0-4DAC-A0CF-423444B84DF8}"/>
              </a:ext>
            </a:extLst>
          </p:cNvPr>
          <p:cNvSpPr>
            <a:spLocks noGrp="1"/>
          </p:cNvSpPr>
          <p:nvPr/>
        </p:nvSpPr>
        <p:spPr>
          <a:xfrm>
            <a:off x="781050" y="4276725"/>
            <a:ext cx="252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user_097 burst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C82BC90-105F-4554-ACBB-3C8469762923}"/>
              </a:ext>
            </a:extLst>
          </p:cNvPr>
          <p:cNvSpPr>
            <a:spLocks noGrp="1"/>
          </p:cNvSpPr>
          <p:nvPr/>
        </p:nvSpPr>
        <p:spPr>
          <a:xfrm>
            <a:off x="3400425" y="4200525"/>
            <a:ext cx="3667125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4F473F50-6627-439D-A993-E1F74066BEBB}"/>
              </a:ext>
            </a:extLst>
          </p:cNvPr>
          <p:cNvSpPr>
            <a:spLocks noGrp="1"/>
          </p:cNvSpPr>
          <p:nvPr/>
        </p:nvSpPr>
        <p:spPr>
          <a:xfrm>
            <a:off x="3495675" y="4276725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Credential stuffing / automation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993C613-951C-4474-9842-CD246C6767A1}"/>
              </a:ext>
            </a:extLst>
          </p:cNvPr>
          <p:cNvSpPr>
            <a:spLocks noGrp="1"/>
          </p:cNvSpPr>
          <p:nvPr/>
        </p:nvSpPr>
        <p:spPr>
          <a:xfrm>
            <a:off x="7067550" y="4200525"/>
            <a:ext cx="4438650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492A2FE-888D-441C-BE5C-DE7B80C82F5D}"/>
              </a:ext>
            </a:extLst>
          </p:cNvPr>
          <p:cNvSpPr>
            <a:spLocks noGrp="1"/>
          </p:cNvSpPr>
          <p:nvPr/>
        </p:nvSpPr>
        <p:spPr>
          <a:xfrm>
            <a:off x="7162800" y="4276725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Block IP, force reset, inspect sessions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0C6488D-E3B9-4BDD-AD13-C0A2142182AD}"/>
              </a:ext>
            </a:extLst>
          </p:cNvPr>
          <p:cNvSpPr>
            <a:spLocks noGrp="1"/>
          </p:cNvSpPr>
          <p:nvPr/>
        </p:nvSpPr>
        <p:spPr>
          <a:xfrm>
            <a:off x="685800" y="4638675"/>
            <a:ext cx="27146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6ADECEE-1A6D-4BC4-BA94-8C6B1DFB58FE}"/>
              </a:ext>
            </a:extLst>
          </p:cNvPr>
          <p:cNvSpPr>
            <a:spLocks noGrp="1"/>
          </p:cNvSpPr>
          <p:nvPr/>
        </p:nvSpPr>
        <p:spPr>
          <a:xfrm>
            <a:off x="781050" y="4714875"/>
            <a:ext cx="252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user_003 nightly probe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54479887-0061-43B7-982C-10BDCD3EEABE}"/>
              </a:ext>
            </a:extLst>
          </p:cNvPr>
          <p:cNvSpPr>
            <a:spLocks noGrp="1"/>
          </p:cNvSpPr>
          <p:nvPr/>
        </p:nvSpPr>
        <p:spPr>
          <a:xfrm>
            <a:off x="3400425" y="4638675"/>
            <a:ext cx="36671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D5050234-2337-45FD-915D-90CECBCF67E9}"/>
              </a:ext>
            </a:extLst>
          </p:cNvPr>
          <p:cNvSpPr>
            <a:spLocks noGrp="1"/>
          </p:cNvSpPr>
          <p:nvPr/>
        </p:nvSpPr>
        <p:spPr>
          <a:xfrm>
            <a:off x="3495675" y="4714875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Recon to successful login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C6A23FC-F490-4CAA-9D7E-985727E93E6A}"/>
              </a:ext>
            </a:extLst>
          </p:cNvPr>
          <p:cNvSpPr>
            <a:spLocks noGrp="1"/>
          </p:cNvSpPr>
          <p:nvPr/>
        </p:nvSpPr>
        <p:spPr>
          <a:xfrm>
            <a:off x="7067550" y="4638675"/>
            <a:ext cx="44386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62C6A560-38EF-4144-A6D4-4F4DEA0F7629}"/>
              </a:ext>
            </a:extLst>
          </p:cNvPr>
          <p:cNvSpPr>
            <a:spLocks noGrp="1"/>
          </p:cNvSpPr>
          <p:nvPr/>
        </p:nvSpPr>
        <p:spPr>
          <a:xfrm>
            <a:off x="7162800" y="4714875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Step-up MFA and review post-login activity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36F2337-CC8D-490D-8773-D7DFB614FE3D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2714625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039B40B6-B6C6-48EC-BFFA-FDE7DFEE3708}"/>
              </a:ext>
            </a:extLst>
          </p:cNvPr>
          <p:cNvSpPr>
            <a:spLocks noGrp="1"/>
          </p:cNvSpPr>
          <p:nvPr/>
        </p:nvSpPr>
        <p:spPr>
          <a:xfrm>
            <a:off x="781050" y="5153025"/>
            <a:ext cx="252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Shared-IP spray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1133572-5EAB-437B-A691-A83D517FEFF8}"/>
              </a:ext>
            </a:extLst>
          </p:cNvPr>
          <p:cNvSpPr>
            <a:spLocks noGrp="1"/>
          </p:cNvSpPr>
          <p:nvPr/>
        </p:nvSpPr>
        <p:spPr>
          <a:xfrm>
            <a:off x="3400425" y="5076825"/>
            <a:ext cx="3667125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6823532-970E-49DF-81AF-2581C4C3A268}"/>
              </a:ext>
            </a:extLst>
          </p:cNvPr>
          <p:cNvSpPr>
            <a:spLocks noGrp="1"/>
          </p:cNvSpPr>
          <p:nvPr/>
        </p:nvSpPr>
        <p:spPr>
          <a:xfrm>
            <a:off x="3495675" y="5153025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Password spray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583DB0DB-DAB4-40DB-98CF-F2A48231EFBB}"/>
              </a:ext>
            </a:extLst>
          </p:cNvPr>
          <p:cNvSpPr>
            <a:spLocks noGrp="1"/>
          </p:cNvSpPr>
          <p:nvPr/>
        </p:nvSpPr>
        <p:spPr>
          <a:xfrm>
            <a:off x="7067550" y="5076825"/>
            <a:ext cx="4438650" cy="4381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DBD15AE2-58D4-4CA8-8F5C-DEA83E7C57B2}"/>
              </a:ext>
            </a:extLst>
          </p:cNvPr>
          <p:cNvSpPr>
            <a:spLocks noGrp="1"/>
          </p:cNvSpPr>
          <p:nvPr/>
        </p:nvSpPr>
        <p:spPr>
          <a:xfrm>
            <a:off x="7162800" y="5153025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Open case, enrich IP, look for broad exposure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92D129EB-EA0A-47C5-8554-3AFAB21D48E6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27146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51B697E1-BF1A-4CC1-B0B5-4478EDB55AF6}"/>
              </a:ext>
            </a:extLst>
          </p:cNvPr>
          <p:cNvSpPr>
            <a:spLocks noGrp="1"/>
          </p:cNvSpPr>
          <p:nvPr/>
        </p:nvSpPr>
        <p:spPr>
          <a:xfrm>
            <a:off x="781050" y="5591175"/>
            <a:ext cx="252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A2A2A"/>
                </a:solidFill>
              </a:defRPr>
            </a:pPr>
            <a:r>
              <a:rPr sz="1050" b="1">
                <a:solidFill>
                  <a:srgbClr val="2A2A2A"/>
                </a:solidFill>
              </a:rPr>
              <a:t>High IP velocity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FA5A940-60A6-4B4F-9FD2-ACBA8F6EA9E1}"/>
              </a:ext>
            </a:extLst>
          </p:cNvPr>
          <p:cNvSpPr>
            <a:spLocks noGrp="1"/>
          </p:cNvSpPr>
          <p:nvPr/>
        </p:nvSpPr>
        <p:spPr>
          <a:xfrm>
            <a:off x="3400425" y="5514975"/>
            <a:ext cx="36671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2D4B635B-307F-490A-8047-888D4E6DA2BC}"/>
              </a:ext>
            </a:extLst>
          </p:cNvPr>
          <p:cNvSpPr>
            <a:spLocks noGrp="1"/>
          </p:cNvSpPr>
          <p:nvPr/>
        </p:nvSpPr>
        <p:spPr>
          <a:xfrm>
            <a:off x="3495675" y="5591175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Recon / distributed attack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0611B859-6D89-4E32-A281-D6F1049A8692}"/>
              </a:ext>
            </a:extLst>
          </p:cNvPr>
          <p:cNvSpPr>
            <a:spLocks noGrp="1"/>
          </p:cNvSpPr>
          <p:nvPr/>
        </p:nvSpPr>
        <p:spPr>
          <a:xfrm>
            <a:off x="7067550" y="5514975"/>
            <a:ext cx="44386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13BE54B7-1EEE-4583-9A76-D17E56B4B0E6}"/>
              </a:ext>
            </a:extLst>
          </p:cNvPr>
          <p:cNvSpPr>
            <a:spLocks noGrp="1"/>
          </p:cNvSpPr>
          <p:nvPr/>
        </p:nvSpPr>
        <p:spPr>
          <a:xfrm>
            <a:off x="7162800" y="5591175"/>
            <a:ext cx="424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A2A2A"/>
                </a:solidFill>
              </a:defRPr>
            </a:pPr>
            <a:r>
              <a:rPr sz="1050" b="0">
                <a:solidFill>
                  <a:srgbClr val="2A2A2A"/>
                </a:solidFill>
              </a:rPr>
              <a:t>Calibrate with geo, ASN, and device novelty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3B84BBE0-3CD6-4406-A198-C68468A2C11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02D5896F-85BC-41F3-BEE2-042129B813A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EC0887C8-901D-4C94-B35D-A2941989EF1C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301600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76C52F8-B9B3-464A-9255-92A02C49BE9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4326615-FDD1-4E6A-9F08-71AD53D33C9A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140806-AE0C-487B-8073-ACD3C3A34895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09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2139760-3DF7-4E75-99A1-CBFE746B90B3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Anomaly confidence at a glance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2B248A8-05B5-47E5-91E5-FDDA5DD34E17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The confidence score summarizes evidence strength, alternatives, and remaining uncertainty.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C63FF2-65C4-4C1D-9561-8B6FB590729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2238375" cy="5715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4E0C5D2-87B5-4664-91E7-A5BB7B9A7E08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2047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Case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E918A72-99D7-4A7D-93CE-A74F3A2B3D7F}"/>
              </a:ext>
            </a:extLst>
          </p:cNvPr>
          <p:cNvSpPr>
            <a:spLocks noGrp="1"/>
          </p:cNvSpPr>
          <p:nvPr/>
        </p:nvSpPr>
        <p:spPr>
          <a:xfrm>
            <a:off x="2924175" y="1657350"/>
            <a:ext cx="1285875" cy="5715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D416129-FB57-49E3-B5CD-0D2D72397C86}"/>
              </a:ext>
            </a:extLst>
          </p:cNvPr>
          <p:cNvSpPr>
            <a:spLocks noGrp="1"/>
          </p:cNvSpPr>
          <p:nvPr/>
        </p:nvSpPr>
        <p:spPr>
          <a:xfrm>
            <a:off x="3019425" y="1752600"/>
            <a:ext cx="1095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ED67F18-2C1F-4DBB-933E-40DA93B6F6E4}"/>
              </a:ext>
            </a:extLst>
          </p:cNvPr>
          <p:cNvSpPr>
            <a:spLocks noGrp="1"/>
          </p:cNvSpPr>
          <p:nvPr/>
        </p:nvSpPr>
        <p:spPr>
          <a:xfrm>
            <a:off x="4210050" y="1657350"/>
            <a:ext cx="4619625" cy="5715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E91C63A-F736-4588-B611-0A7265056D5C}"/>
              </a:ext>
            </a:extLst>
          </p:cNvPr>
          <p:cNvSpPr>
            <a:spLocks noGrp="1"/>
          </p:cNvSpPr>
          <p:nvPr/>
        </p:nvSpPr>
        <p:spPr>
          <a:xfrm>
            <a:off x="4305300" y="1752600"/>
            <a:ext cx="442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4BA4E37-C0E4-4545-83FD-54E924EE01BA}"/>
              </a:ext>
            </a:extLst>
          </p:cNvPr>
          <p:cNvSpPr>
            <a:spLocks noGrp="1"/>
          </p:cNvSpPr>
          <p:nvPr/>
        </p:nvSpPr>
        <p:spPr>
          <a:xfrm>
            <a:off x="8829675" y="1657350"/>
            <a:ext cx="2676525" cy="5715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464809D-D05A-4015-8DEC-354D352094FF}"/>
              </a:ext>
            </a:extLst>
          </p:cNvPr>
          <p:cNvSpPr>
            <a:spLocks noGrp="1"/>
          </p:cNvSpPr>
          <p:nvPr/>
        </p:nvSpPr>
        <p:spPr>
          <a:xfrm>
            <a:off x="8924925" y="1752600"/>
            <a:ext cx="24860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Remaining uncertainty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77ED35D-1BB1-47F3-8A96-A453171EFE56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223837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78AD2C4-5A2A-484E-B38D-46D718169567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2047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1">
                <a:solidFill>
                  <a:srgbClr val="2A2A2A"/>
                </a:solidFill>
              </a:defRPr>
            </a:pPr>
            <a:r>
              <a:rPr sz="960" b="1">
                <a:solidFill>
                  <a:srgbClr val="2A2A2A"/>
                </a:solidFill>
              </a:rPr>
              <a:t>user_097 burst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AA4FBE7-199E-4A2A-BDA1-9888010D2051}"/>
              </a:ext>
            </a:extLst>
          </p:cNvPr>
          <p:cNvSpPr>
            <a:spLocks noGrp="1"/>
          </p:cNvSpPr>
          <p:nvPr/>
        </p:nvSpPr>
        <p:spPr>
          <a:xfrm>
            <a:off x="2924175" y="2228850"/>
            <a:ext cx="128587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0B6E227-DE21-4A04-9B03-1D1B275F9C88}"/>
              </a:ext>
            </a:extLst>
          </p:cNvPr>
          <p:cNvSpPr>
            <a:spLocks noGrp="1"/>
          </p:cNvSpPr>
          <p:nvPr/>
        </p:nvSpPr>
        <p:spPr>
          <a:xfrm>
            <a:off x="3019425" y="2305050"/>
            <a:ext cx="109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95%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75737D0-93A6-4767-BEB7-41080C5304C3}"/>
              </a:ext>
            </a:extLst>
          </p:cNvPr>
          <p:cNvSpPr>
            <a:spLocks noGrp="1"/>
          </p:cNvSpPr>
          <p:nvPr/>
        </p:nvSpPr>
        <p:spPr>
          <a:xfrm>
            <a:off x="4210050" y="2228850"/>
            <a:ext cx="461962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4D809F3-F813-4AE2-A16C-FB9F78C82DE6}"/>
              </a:ext>
            </a:extLst>
          </p:cNvPr>
          <p:cNvSpPr>
            <a:spLocks noGrp="1"/>
          </p:cNvSpPr>
          <p:nvPr/>
        </p:nvSpPr>
        <p:spPr>
          <a:xfrm>
            <a:off x="4305300" y="2305050"/>
            <a:ext cx="4429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48 attempts at one second; same IP; repeated failures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C7F999A-4860-438C-B548-8FFD5DFE3400}"/>
              </a:ext>
            </a:extLst>
          </p:cNvPr>
          <p:cNvSpPr>
            <a:spLocks noGrp="1"/>
          </p:cNvSpPr>
          <p:nvPr/>
        </p:nvSpPr>
        <p:spPr>
          <a:xfrm>
            <a:off x="8829675" y="2228850"/>
            <a:ext cx="267652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A3F14CD-BB8E-4681-9317-7C3C3434FB56}"/>
              </a:ext>
            </a:extLst>
          </p:cNvPr>
          <p:cNvSpPr>
            <a:spLocks noGrp="1"/>
          </p:cNvSpPr>
          <p:nvPr/>
        </p:nvSpPr>
        <p:spPr>
          <a:xfrm>
            <a:off x="8924925" y="2305050"/>
            <a:ext cx="24860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Could include replayed logs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C9C7D2F-D471-4E14-B00F-39EA6EEBCFCD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2383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8CB3017-B2B6-4023-A9FF-D92CB409E256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2047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1">
                <a:solidFill>
                  <a:srgbClr val="2A2A2A"/>
                </a:solidFill>
              </a:defRPr>
            </a:pPr>
            <a:r>
              <a:rPr sz="960" b="1">
                <a:solidFill>
                  <a:srgbClr val="2A2A2A"/>
                </a:solidFill>
              </a:rPr>
              <a:t>Shared-IP spray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DA0A3FE-9027-4657-8A8E-F50CDEE1B833}"/>
              </a:ext>
            </a:extLst>
          </p:cNvPr>
          <p:cNvSpPr>
            <a:spLocks noGrp="1"/>
          </p:cNvSpPr>
          <p:nvPr/>
        </p:nvSpPr>
        <p:spPr>
          <a:xfrm>
            <a:off x="2924175" y="2800350"/>
            <a:ext cx="12858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8526538-7869-4D2B-A940-FC2D2889BD16}"/>
              </a:ext>
            </a:extLst>
          </p:cNvPr>
          <p:cNvSpPr>
            <a:spLocks noGrp="1"/>
          </p:cNvSpPr>
          <p:nvPr/>
        </p:nvSpPr>
        <p:spPr>
          <a:xfrm>
            <a:off x="3019425" y="2876550"/>
            <a:ext cx="109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92%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7633BC3-B2F1-4C71-B6FF-408108CB2390}"/>
              </a:ext>
            </a:extLst>
          </p:cNvPr>
          <p:cNvSpPr>
            <a:spLocks noGrp="1"/>
          </p:cNvSpPr>
          <p:nvPr/>
        </p:nvSpPr>
        <p:spPr>
          <a:xfrm>
            <a:off x="4210050" y="2800350"/>
            <a:ext cx="46196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9BFB883-3FF0-424E-83DB-4F6DC0036C3F}"/>
              </a:ext>
            </a:extLst>
          </p:cNvPr>
          <p:cNvSpPr>
            <a:spLocks noGrp="1"/>
          </p:cNvSpPr>
          <p:nvPr/>
        </p:nvSpPr>
        <p:spPr>
          <a:xfrm>
            <a:off x="4305300" y="2876550"/>
            <a:ext cx="4429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20 users, one IP, same timestamp, mixed outcomes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A5C1D53-D067-4426-94AD-B64BD5CE2CB6}"/>
              </a:ext>
            </a:extLst>
          </p:cNvPr>
          <p:cNvSpPr>
            <a:spLocks noGrp="1"/>
          </p:cNvSpPr>
          <p:nvPr/>
        </p:nvSpPr>
        <p:spPr>
          <a:xfrm>
            <a:off x="8829675" y="2800350"/>
            <a:ext cx="26765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BDDAF3F-79C5-445C-A5C5-F8F1098BA03D}"/>
              </a:ext>
            </a:extLst>
          </p:cNvPr>
          <p:cNvSpPr>
            <a:spLocks noGrp="1"/>
          </p:cNvSpPr>
          <p:nvPr/>
        </p:nvSpPr>
        <p:spPr>
          <a:xfrm>
            <a:off x="8924925" y="2876550"/>
            <a:ext cx="24860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Need IP reputation and ASN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D2E4677-C420-42B1-B85D-37648CFD7313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223837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363A161-913C-41FF-84D3-48E071542840}"/>
              </a:ext>
            </a:extLst>
          </p:cNvPr>
          <p:cNvSpPr>
            <a:spLocks noGrp="1"/>
          </p:cNvSpPr>
          <p:nvPr/>
        </p:nvSpPr>
        <p:spPr>
          <a:xfrm>
            <a:off x="781050" y="3448050"/>
            <a:ext cx="2047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1">
                <a:solidFill>
                  <a:srgbClr val="2A2A2A"/>
                </a:solidFill>
              </a:defRPr>
            </a:pPr>
            <a:r>
              <a:rPr sz="960" b="1">
                <a:solidFill>
                  <a:srgbClr val="2A2A2A"/>
                </a:solidFill>
              </a:rPr>
              <a:t>user_003 probe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789A309-C463-4D5F-9E60-EF1BD14FF787}"/>
              </a:ext>
            </a:extLst>
          </p:cNvPr>
          <p:cNvSpPr>
            <a:spLocks noGrp="1"/>
          </p:cNvSpPr>
          <p:nvPr/>
        </p:nvSpPr>
        <p:spPr>
          <a:xfrm>
            <a:off x="2924175" y="3371850"/>
            <a:ext cx="128587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78EAB61-8195-457F-A7CF-5FAB7A34BDCF}"/>
              </a:ext>
            </a:extLst>
          </p:cNvPr>
          <p:cNvSpPr>
            <a:spLocks noGrp="1"/>
          </p:cNvSpPr>
          <p:nvPr/>
        </p:nvSpPr>
        <p:spPr>
          <a:xfrm>
            <a:off x="3019425" y="3448050"/>
            <a:ext cx="109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90%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B697DA9-96F0-4DDB-A0E5-98FBD89E66B7}"/>
              </a:ext>
            </a:extLst>
          </p:cNvPr>
          <p:cNvSpPr>
            <a:spLocks noGrp="1"/>
          </p:cNvSpPr>
          <p:nvPr/>
        </p:nvSpPr>
        <p:spPr>
          <a:xfrm>
            <a:off x="4210050" y="3371850"/>
            <a:ext cx="461962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7CB8F0C-6D98-4C07-A7A3-1C3B1E0A43F3}"/>
              </a:ext>
            </a:extLst>
          </p:cNvPr>
          <p:cNvSpPr>
            <a:spLocks noGrp="1"/>
          </p:cNvSpPr>
          <p:nvPr/>
        </p:nvSpPr>
        <p:spPr>
          <a:xfrm>
            <a:off x="4305300" y="3448050"/>
            <a:ext cx="4429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33 exact 20:00 attempts; 32 failures then success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E4C31AE6-473F-47AC-9C4E-601DD41FE91D}"/>
              </a:ext>
            </a:extLst>
          </p:cNvPr>
          <p:cNvSpPr>
            <a:spLocks noGrp="1"/>
          </p:cNvSpPr>
          <p:nvPr/>
        </p:nvSpPr>
        <p:spPr>
          <a:xfrm>
            <a:off x="8829675" y="3371850"/>
            <a:ext cx="267652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A87FD1A-3425-4F45-881D-F2E38EC538D5}"/>
              </a:ext>
            </a:extLst>
          </p:cNvPr>
          <p:cNvSpPr>
            <a:spLocks noGrp="1"/>
          </p:cNvSpPr>
          <p:nvPr/>
        </p:nvSpPr>
        <p:spPr>
          <a:xfrm>
            <a:off x="8924925" y="3448050"/>
            <a:ext cx="24860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Need user schedule context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072CE11-B409-4979-88C2-197353B173B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2383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3D22189-0301-48E4-A3D0-468B20F1F1D5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2047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1">
                <a:solidFill>
                  <a:srgbClr val="2A2A2A"/>
                </a:solidFill>
              </a:defRPr>
            </a:pPr>
            <a:r>
              <a:rPr sz="960" b="1">
                <a:solidFill>
                  <a:srgbClr val="2A2A2A"/>
                </a:solidFill>
              </a:rPr>
              <a:t>IP velocity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3FDF24E8-6070-47CA-8F2A-5A7D3C378C17}"/>
              </a:ext>
            </a:extLst>
          </p:cNvPr>
          <p:cNvSpPr>
            <a:spLocks noGrp="1"/>
          </p:cNvSpPr>
          <p:nvPr/>
        </p:nvSpPr>
        <p:spPr>
          <a:xfrm>
            <a:off x="2924175" y="3943350"/>
            <a:ext cx="12858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CA6666EF-79A0-404A-B123-567BD75495DB}"/>
              </a:ext>
            </a:extLst>
          </p:cNvPr>
          <p:cNvSpPr>
            <a:spLocks noGrp="1"/>
          </p:cNvSpPr>
          <p:nvPr/>
        </p:nvSpPr>
        <p:spPr>
          <a:xfrm>
            <a:off x="3019425" y="4019550"/>
            <a:ext cx="109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70%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274CEB7-1974-4243-9CC0-34E010378BE8}"/>
              </a:ext>
            </a:extLst>
          </p:cNvPr>
          <p:cNvSpPr>
            <a:spLocks noGrp="1"/>
          </p:cNvSpPr>
          <p:nvPr/>
        </p:nvSpPr>
        <p:spPr>
          <a:xfrm>
            <a:off x="4210050" y="3943350"/>
            <a:ext cx="46196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D9143662-F4A5-4502-88F1-443A34FA8EB5}"/>
              </a:ext>
            </a:extLst>
          </p:cNvPr>
          <p:cNvSpPr>
            <a:spLocks noGrp="1"/>
          </p:cNvSpPr>
          <p:nvPr/>
        </p:nvSpPr>
        <p:spPr>
          <a:xfrm>
            <a:off x="4305300" y="4019550"/>
            <a:ext cx="4429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Many users have broad IP spread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CACB16AF-A096-4026-A369-FE7223F6376B}"/>
              </a:ext>
            </a:extLst>
          </p:cNvPr>
          <p:cNvSpPr>
            <a:spLocks noGrp="1"/>
          </p:cNvSpPr>
          <p:nvPr/>
        </p:nvSpPr>
        <p:spPr>
          <a:xfrm>
            <a:off x="8829675" y="3943350"/>
            <a:ext cx="26765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D082AF4E-B640-4088-962C-6898198F3A25}"/>
              </a:ext>
            </a:extLst>
          </p:cNvPr>
          <p:cNvSpPr>
            <a:spLocks noGrp="1"/>
          </p:cNvSpPr>
          <p:nvPr/>
        </p:nvSpPr>
        <p:spPr>
          <a:xfrm>
            <a:off x="8924925" y="4019550"/>
            <a:ext cx="24860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Threshold needs calibration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DC8C7606-4F05-431B-80F3-0773DD2BFBC5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223837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2BE2F4E0-B029-447E-B439-E7FCA9911813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2047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1">
                <a:solidFill>
                  <a:srgbClr val="2A2A2A"/>
                </a:solidFill>
              </a:defRPr>
            </a:pPr>
            <a:r>
              <a:rPr sz="960" b="1">
                <a:solidFill>
                  <a:srgbClr val="2A2A2A"/>
                </a:solidFill>
              </a:rPr>
              <a:t>Off-hours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B85D19A5-1AE2-46EF-8CA7-53E7092D4B81}"/>
              </a:ext>
            </a:extLst>
          </p:cNvPr>
          <p:cNvSpPr>
            <a:spLocks noGrp="1"/>
          </p:cNvSpPr>
          <p:nvPr/>
        </p:nvSpPr>
        <p:spPr>
          <a:xfrm>
            <a:off x="2924175" y="4514850"/>
            <a:ext cx="128587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76ED98BC-6F9E-4CCA-9878-F395C1D23F6F}"/>
              </a:ext>
            </a:extLst>
          </p:cNvPr>
          <p:cNvSpPr>
            <a:spLocks noGrp="1"/>
          </p:cNvSpPr>
          <p:nvPr/>
        </p:nvSpPr>
        <p:spPr>
          <a:xfrm>
            <a:off x="3019425" y="4591050"/>
            <a:ext cx="109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65%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F34D7C2D-C000-4003-BF3D-767D529048F9}"/>
              </a:ext>
            </a:extLst>
          </p:cNvPr>
          <p:cNvSpPr>
            <a:spLocks noGrp="1"/>
          </p:cNvSpPr>
          <p:nvPr/>
        </p:nvSpPr>
        <p:spPr>
          <a:xfrm>
            <a:off x="4210050" y="4514850"/>
            <a:ext cx="461962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B11E861-B288-42AA-A8F1-C12C061BA6EE}"/>
              </a:ext>
            </a:extLst>
          </p:cNvPr>
          <p:cNvSpPr>
            <a:spLocks noGrp="1"/>
          </p:cNvSpPr>
          <p:nvPr/>
        </p:nvSpPr>
        <p:spPr>
          <a:xfrm>
            <a:off x="4305300" y="4591050"/>
            <a:ext cx="4429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5 midnight logins; user_009 has 4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1B65F110-D531-4F00-B8BB-924DD61CB2AC}"/>
              </a:ext>
            </a:extLst>
          </p:cNvPr>
          <p:cNvSpPr>
            <a:spLocks noGrp="1"/>
          </p:cNvSpPr>
          <p:nvPr/>
        </p:nvSpPr>
        <p:spPr>
          <a:xfrm>
            <a:off x="8829675" y="4514850"/>
            <a:ext cx="2676525" cy="5715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5AF1ABA1-C182-42C0-ACBA-C3281656D1A0}"/>
              </a:ext>
            </a:extLst>
          </p:cNvPr>
          <p:cNvSpPr>
            <a:spLocks noGrp="1"/>
          </p:cNvSpPr>
          <p:nvPr/>
        </p:nvSpPr>
        <p:spPr>
          <a:xfrm>
            <a:off x="8924925" y="4591050"/>
            <a:ext cx="24860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60" b="0">
                <a:solidFill>
                  <a:srgbClr val="2A2A2A"/>
                </a:solidFill>
              </a:defRPr>
            </a:pPr>
            <a:r>
              <a:rPr sz="960" b="0">
                <a:solidFill>
                  <a:srgbClr val="2A2A2A"/>
                </a:solidFill>
              </a:rPr>
              <a:t>Work schedule may explain it</a:t>
            </a:r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C947BE98-5635-45AB-813D-32397FF0A0D4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476250"/>
          </a:xfrm>
          <a:prstGeom prst="roundRect">
            <a:avLst>
              <a:gd name="adj" fmla="val 16000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46FFBC64-8C4A-4C05-AD5D-4933CB82F9E3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66675" cy="47625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2F8D80CC-BCA0-46B6-A9AD-9DB5A035DF1F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Confidence is not certainty; it is a transparent way to prioritize triage.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7367F39E-B5D3-4F15-AE55-85D9CDBEE3B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27644D32-A7F0-4D5B-9C6D-87D6427FD43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CB429392-212C-4E1B-A579-86A45A23274E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110802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E74F22-DD0A-4644-8137-B858EF60CB1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765545D-3849-4827-A2CD-73490FFC8C28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6A51EC-9BAF-4F32-8397-AD52B4F39722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789FA6-6ECC-4A6D-8D1B-66FAA5E53B50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Anomaly 1: user_097 brute-force burst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69A3154-D942-46FB-8996-5ED2CE5FB9A9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Confidence: 95% - impossible timing is the strongest signal.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15EC3CE8-61F7-4A58-AF65-816BD06499D0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6667500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7104" y="1990725"/>
            <a:ext cx="6024893" cy="320992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6B36303-AC0F-48F6-A500-F58D1C15BEFA}"/>
              </a:ext>
            </a:extLst>
          </p:cNvPr>
          <p:cNvSpPr>
            <a:spLocks noGrp="1"/>
          </p:cNvSpPr>
          <p:nvPr/>
        </p:nvSpPr>
        <p:spPr>
          <a:xfrm>
            <a:off x="7734300" y="18478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Evidence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85C39BC-E092-43A7-BB06-B11B65537995}"/>
              </a:ext>
            </a:extLst>
          </p:cNvPr>
          <p:cNvSpPr>
            <a:spLocks noGrp="1"/>
          </p:cNvSpPr>
          <p:nvPr/>
        </p:nvSpPr>
        <p:spPr>
          <a:xfrm>
            <a:off x="7734300" y="2209800"/>
            <a:ext cx="342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- 48 attempts at 2024-02-09 18:24:00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Same IP: 103.56.23.138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- 97 failures and 50.0% failure rate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B015105-0DE4-4567-8716-0FC61D7D345B}"/>
              </a:ext>
            </a:extLst>
          </p:cNvPr>
          <p:cNvSpPr>
            <a:spLocks noGrp="1"/>
          </p:cNvSpPr>
          <p:nvPr/>
        </p:nvSpPr>
        <p:spPr>
          <a:xfrm>
            <a:off x="7734300" y="35052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Alternatives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C0A032A-E9DA-4B92-B946-4B93D9BD25C0}"/>
              </a:ext>
            </a:extLst>
          </p:cNvPr>
          <p:cNvSpPr>
            <a:spLocks noGrp="1"/>
          </p:cNvSpPr>
          <p:nvPr/>
        </p:nvSpPr>
        <p:spPr>
          <a:xfrm>
            <a:off x="7734300" y="3848100"/>
            <a:ext cx="342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Duplicate ingestion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Replay artifacts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Synthetic load test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2565A0DC-F37C-4F28-B714-3F64E6BCF9B9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476250"/>
          </a:xfrm>
          <a:prstGeom prst="roundRect">
            <a:avLst>
              <a:gd name="adj" fmla="val 16000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14EC4AC-F9F9-4B7C-9AD6-2CC999001FA3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6675" cy="476250"/>
          </a:xfrm>
          <a:prstGeom prst="rect">
            <a:avLst/>
          </a:prstGeom>
          <a:solidFill>
            <a:srgbClr val="D92D20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0CE5DAD-BE8A-41B4-A331-611E07A13F50}"/>
              </a:ext>
            </a:extLst>
          </p:cNvPr>
          <p:cNvSpPr>
            <a:spLocks noGrp="1"/>
          </p:cNvSpPr>
          <p:nvPr/>
        </p:nvSpPr>
        <p:spPr>
          <a:xfrm>
            <a:off x="914400" y="58388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Contain first, then verify with session history, source reputation, and upstream log quality.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63269B8-01B1-4724-A303-FE94AE3F6A1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BA07B2F-4E26-4111-8421-C98CD00A3EB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1E0945-6576-411E-83BE-BB694346BE28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294864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Рисунок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24EF10-96A7-4685-AAF0-B063167091F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56E3D88-D3C2-4057-AD17-C4460DC4A516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F966E9-F5AF-438C-9AA3-70F9841E0008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6BAB092-6EF3-4723-AF85-9D23D2F9F7F8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Anomalies 2 and 3: probe plus shared-IP spray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51B2083-BD89-439F-BDE0-9910340C7EC6}"/>
              </a:ext>
            </a:extLst>
          </p:cNvPr>
          <p:cNvSpPr>
            <a:spLocks noGrp="1"/>
          </p:cNvSpPr>
          <p:nvPr/>
        </p:nvSpPr>
        <p:spPr>
          <a:xfrm>
            <a:off x="704850" y="14097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 dirty="0">
                <a:solidFill>
                  <a:srgbClr val="6F6F6F"/>
                </a:solidFill>
              </a:rPr>
              <a:t>Both patterns indicate coordinated source behavior rather than normal user mistakes.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E1EAC5F-5DC5-42A9-8FDF-0DB2B8D0AFAF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143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5" name="Рисунок 4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356305"/>
            <a:ext cx="4876800" cy="1497689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A1341EA-ADA6-4E78-BEC9-72BD0EC3F5DC}"/>
              </a:ext>
            </a:extLst>
          </p:cNvPr>
          <p:cNvSpPr>
            <a:spLocks noGrp="1"/>
          </p:cNvSpPr>
          <p:nvPr/>
        </p:nvSpPr>
        <p:spPr>
          <a:xfrm>
            <a:off x="6362700" y="1676400"/>
            <a:ext cx="5143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7" name="Рисунок 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96050" y="2250969"/>
            <a:ext cx="4876800" cy="1708362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8B7C446-F25B-4214-81D6-58D6E2C7EF93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2095500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F01A745-F931-44FF-ADB4-3F7EECD73A27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Case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6748B94-C269-467E-9231-10D94B11C2C6}"/>
              </a:ext>
            </a:extLst>
          </p:cNvPr>
          <p:cNvSpPr>
            <a:spLocks noGrp="1"/>
          </p:cNvSpPr>
          <p:nvPr/>
        </p:nvSpPr>
        <p:spPr>
          <a:xfrm>
            <a:off x="2781300" y="4810125"/>
            <a:ext cx="1285875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6A3E066-15C1-4628-AB8C-5D8A6F69BEFF}"/>
              </a:ext>
            </a:extLst>
          </p:cNvPr>
          <p:cNvSpPr>
            <a:spLocks noGrp="1"/>
          </p:cNvSpPr>
          <p:nvPr/>
        </p:nvSpPr>
        <p:spPr>
          <a:xfrm>
            <a:off x="2876550" y="4905375"/>
            <a:ext cx="1095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695BAAF-EB79-467B-A753-AFD13D60CFDD}"/>
              </a:ext>
            </a:extLst>
          </p:cNvPr>
          <p:cNvSpPr>
            <a:spLocks noGrp="1"/>
          </p:cNvSpPr>
          <p:nvPr/>
        </p:nvSpPr>
        <p:spPr>
          <a:xfrm>
            <a:off x="4067175" y="4810125"/>
            <a:ext cx="5048250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E8389D3-3CAB-446D-B871-1EF5CBE54E41}"/>
              </a:ext>
            </a:extLst>
          </p:cNvPr>
          <p:cNvSpPr>
            <a:spLocks noGrp="1"/>
          </p:cNvSpPr>
          <p:nvPr/>
        </p:nvSpPr>
        <p:spPr>
          <a:xfrm>
            <a:off x="4162425" y="4905375"/>
            <a:ext cx="4857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37DC284-348B-4DA4-A676-E6EB196FB879}"/>
              </a:ext>
            </a:extLst>
          </p:cNvPr>
          <p:cNvSpPr>
            <a:spLocks noGrp="1"/>
          </p:cNvSpPr>
          <p:nvPr/>
        </p:nvSpPr>
        <p:spPr>
          <a:xfrm>
            <a:off x="9115425" y="4810125"/>
            <a:ext cx="2390775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CDE33AD-D60E-4508-9243-BCC58D9DA842}"/>
              </a:ext>
            </a:extLst>
          </p:cNvPr>
          <p:cNvSpPr>
            <a:spLocks noGrp="1"/>
          </p:cNvSpPr>
          <p:nvPr/>
        </p:nvSpPr>
        <p:spPr>
          <a:xfrm>
            <a:off x="9210675" y="4905375"/>
            <a:ext cx="2200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D33F40A-911A-4B55-BE0B-A5F84A450A23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209550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B63A306-F009-42EA-B18B-60C149D9C34C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1905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2A2A2A"/>
                </a:solidFill>
              </a:defRPr>
            </a:pPr>
            <a:r>
              <a:rPr sz="1013" b="1">
                <a:solidFill>
                  <a:srgbClr val="2A2A2A"/>
                </a:solidFill>
              </a:rPr>
              <a:t>user_003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6DC38B0-6082-40E5-87C1-7DC414CCC151}"/>
              </a:ext>
            </a:extLst>
          </p:cNvPr>
          <p:cNvSpPr>
            <a:spLocks noGrp="1"/>
          </p:cNvSpPr>
          <p:nvPr/>
        </p:nvSpPr>
        <p:spPr>
          <a:xfrm>
            <a:off x="2781300" y="5238750"/>
            <a:ext cx="1285875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B806261-244F-4776-AA57-28EA40A729B2}"/>
              </a:ext>
            </a:extLst>
          </p:cNvPr>
          <p:cNvSpPr>
            <a:spLocks noGrp="1"/>
          </p:cNvSpPr>
          <p:nvPr/>
        </p:nvSpPr>
        <p:spPr>
          <a:xfrm>
            <a:off x="2876550" y="5314950"/>
            <a:ext cx="1095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2A2A2A"/>
                </a:solidFill>
              </a:defRPr>
            </a:pPr>
            <a:r>
              <a:rPr sz="1013" b="0">
                <a:solidFill>
                  <a:srgbClr val="2A2A2A"/>
                </a:solidFill>
              </a:rPr>
              <a:t>90%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A1DF1DE-D82F-47E1-AA1C-A741A199D331}"/>
              </a:ext>
            </a:extLst>
          </p:cNvPr>
          <p:cNvSpPr>
            <a:spLocks noGrp="1"/>
          </p:cNvSpPr>
          <p:nvPr/>
        </p:nvSpPr>
        <p:spPr>
          <a:xfrm>
            <a:off x="4067175" y="5238750"/>
            <a:ext cx="504825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B18898B-467D-493D-8C21-5A2FFFB29A91}"/>
              </a:ext>
            </a:extLst>
          </p:cNvPr>
          <p:cNvSpPr>
            <a:spLocks noGrp="1"/>
          </p:cNvSpPr>
          <p:nvPr/>
        </p:nvSpPr>
        <p:spPr>
          <a:xfrm>
            <a:off x="4162425" y="5314950"/>
            <a:ext cx="4857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2A2A2A"/>
                </a:solidFill>
              </a:defRPr>
            </a:pPr>
            <a:r>
              <a:rPr sz="1013" b="0">
                <a:solidFill>
                  <a:srgbClr val="2A2A2A"/>
                </a:solidFill>
              </a:rPr>
              <a:t>33 exact 20:00 probes; 32 failures; 1 success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C6C1FCE-C233-4EDC-B473-C1E7E7B59479}"/>
              </a:ext>
            </a:extLst>
          </p:cNvPr>
          <p:cNvSpPr>
            <a:spLocks noGrp="1"/>
          </p:cNvSpPr>
          <p:nvPr/>
        </p:nvSpPr>
        <p:spPr>
          <a:xfrm>
            <a:off x="9115425" y="5238750"/>
            <a:ext cx="2390775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AD309B4-54AC-4A99-A8C7-9C9DAC4A239B}"/>
              </a:ext>
            </a:extLst>
          </p:cNvPr>
          <p:cNvSpPr>
            <a:spLocks noGrp="1"/>
          </p:cNvSpPr>
          <p:nvPr/>
        </p:nvSpPr>
        <p:spPr>
          <a:xfrm>
            <a:off x="9210675" y="5314950"/>
            <a:ext cx="22002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2A2A2A"/>
                </a:solidFill>
              </a:defRPr>
            </a:pPr>
            <a:r>
              <a:rPr sz="1013" b="0">
                <a:solidFill>
                  <a:srgbClr val="2A2A2A"/>
                </a:solidFill>
              </a:rPr>
              <a:t>Step-up MFA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75FFB14-2320-4289-8882-D2C279F25744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2095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AD03463-93D3-46E7-A364-C6D7D6F00D67}"/>
              </a:ext>
            </a:extLst>
          </p:cNvPr>
          <p:cNvSpPr>
            <a:spLocks noGrp="1"/>
          </p:cNvSpPr>
          <p:nvPr/>
        </p:nvSpPr>
        <p:spPr>
          <a:xfrm>
            <a:off x="781050" y="5743575"/>
            <a:ext cx="1905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2A2A2A"/>
                </a:solidFill>
              </a:defRPr>
            </a:pPr>
            <a:r>
              <a:rPr sz="1013" b="1">
                <a:solidFill>
                  <a:srgbClr val="2A2A2A"/>
                </a:solidFill>
              </a:rPr>
              <a:t>45.139.113.61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07F3308-A458-40BB-AD42-8B4F7B1E4EE2}"/>
              </a:ext>
            </a:extLst>
          </p:cNvPr>
          <p:cNvSpPr>
            <a:spLocks noGrp="1"/>
          </p:cNvSpPr>
          <p:nvPr/>
        </p:nvSpPr>
        <p:spPr>
          <a:xfrm>
            <a:off x="2781300" y="5667375"/>
            <a:ext cx="128587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AEE4B3B-9B41-426B-A9E4-C9B3D5AFF491}"/>
              </a:ext>
            </a:extLst>
          </p:cNvPr>
          <p:cNvSpPr>
            <a:spLocks noGrp="1"/>
          </p:cNvSpPr>
          <p:nvPr/>
        </p:nvSpPr>
        <p:spPr>
          <a:xfrm>
            <a:off x="2876550" y="5743575"/>
            <a:ext cx="1095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2A2A2A"/>
                </a:solidFill>
              </a:defRPr>
            </a:pPr>
            <a:r>
              <a:rPr sz="1013" b="0">
                <a:solidFill>
                  <a:srgbClr val="2A2A2A"/>
                </a:solidFill>
              </a:rPr>
              <a:t>92%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A21D65B-DAF4-4BBA-AA3F-68261A6ED8AA}"/>
              </a:ext>
            </a:extLst>
          </p:cNvPr>
          <p:cNvSpPr>
            <a:spLocks noGrp="1"/>
          </p:cNvSpPr>
          <p:nvPr/>
        </p:nvSpPr>
        <p:spPr>
          <a:xfrm>
            <a:off x="4067175" y="5667375"/>
            <a:ext cx="50482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DBC0ABC-8FB7-409F-9F27-700A64B56BDB}"/>
              </a:ext>
            </a:extLst>
          </p:cNvPr>
          <p:cNvSpPr>
            <a:spLocks noGrp="1"/>
          </p:cNvSpPr>
          <p:nvPr/>
        </p:nvSpPr>
        <p:spPr>
          <a:xfrm>
            <a:off x="4162425" y="5743575"/>
            <a:ext cx="4857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2A2A2A"/>
                </a:solidFill>
              </a:defRPr>
            </a:pPr>
            <a:r>
              <a:rPr sz="1013" b="0">
                <a:solidFill>
                  <a:srgbClr val="2A2A2A"/>
                </a:solidFill>
              </a:rPr>
              <a:t>20 users at one timestamp; 13 successes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DDA2D92-020E-4CBD-BF5E-AAC6EDEB6A58}"/>
              </a:ext>
            </a:extLst>
          </p:cNvPr>
          <p:cNvSpPr>
            <a:spLocks noGrp="1"/>
          </p:cNvSpPr>
          <p:nvPr/>
        </p:nvSpPr>
        <p:spPr>
          <a:xfrm>
            <a:off x="9115425" y="5667375"/>
            <a:ext cx="239077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B326A9F5-12E2-47B6-AF3B-92152AD27833}"/>
              </a:ext>
            </a:extLst>
          </p:cNvPr>
          <p:cNvSpPr>
            <a:spLocks noGrp="1"/>
          </p:cNvSpPr>
          <p:nvPr/>
        </p:nvSpPr>
        <p:spPr>
          <a:xfrm>
            <a:off x="9210675" y="5743575"/>
            <a:ext cx="22002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2A2A2A"/>
                </a:solidFill>
              </a:defRPr>
            </a:pPr>
            <a:r>
              <a:rPr sz="1013" b="0">
                <a:solidFill>
                  <a:srgbClr val="2A2A2A"/>
                </a:solidFill>
              </a:rPr>
              <a:t>Open case and enrich IP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5828E7E-73F8-42AC-8999-8132D0B16AB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A20988E-85E5-410B-AD9A-BC8A1C93FB4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59C07CA-B660-4B58-8500-66F2D2C8A0BB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573671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Рисунок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94AFE5-CBD6-4DBE-AA3F-03D33F91A4A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62B1D4C-09D6-48AB-8AB9-CED542862554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762CD3C-46CE-48F1-B577-0922B4170871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61877CA-838A-4486-93C2-C81402140825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Anomalies 4 and 5: calibration-sensitive signals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95E2702-7E99-49D2-9EC7-1CB6A7091B70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IP velocity and off-hours access are useful, but should not fire alone.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06F1E17-2ADD-4517-B40E-FB3B127A5E75}"/>
              </a:ext>
            </a:extLst>
          </p:cNvPr>
          <p:cNvSpPr>
            <a:spLocks noGrp="1"/>
          </p:cNvSpPr>
          <p:nvPr/>
        </p:nvSpPr>
        <p:spPr>
          <a:xfrm>
            <a:off x="685800" y="1663700"/>
            <a:ext cx="5143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5" name="Рисунок 4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235490"/>
            <a:ext cx="4876800" cy="1713921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71B1A26-1CBF-4F0A-AB1D-E5113EB33E0B}"/>
              </a:ext>
            </a:extLst>
          </p:cNvPr>
          <p:cNvSpPr>
            <a:spLocks noGrp="1"/>
          </p:cNvSpPr>
          <p:nvPr/>
        </p:nvSpPr>
        <p:spPr>
          <a:xfrm>
            <a:off x="6362700" y="1663700"/>
            <a:ext cx="5143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7" name="Рисунок 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96050" y="2193497"/>
            <a:ext cx="4876800" cy="1797906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665A4BB-474A-4B71-A149-DB5E1AD0CC44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2095500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72E3A1D-EF79-4D93-915A-AB2960031BF7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FB238F0-A3BB-46CA-B73E-788FE8B0F1EF}"/>
              </a:ext>
            </a:extLst>
          </p:cNvPr>
          <p:cNvSpPr>
            <a:spLocks noGrp="1"/>
          </p:cNvSpPr>
          <p:nvPr/>
        </p:nvSpPr>
        <p:spPr>
          <a:xfrm>
            <a:off x="2781300" y="4810125"/>
            <a:ext cx="1285875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5F4B36B-2240-444E-937E-B92FDCED34CB}"/>
              </a:ext>
            </a:extLst>
          </p:cNvPr>
          <p:cNvSpPr>
            <a:spLocks noGrp="1"/>
          </p:cNvSpPr>
          <p:nvPr/>
        </p:nvSpPr>
        <p:spPr>
          <a:xfrm>
            <a:off x="2876550" y="4905375"/>
            <a:ext cx="1095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F78CEAC-03C1-4A2F-A9C3-AD90DB4E685E}"/>
              </a:ext>
            </a:extLst>
          </p:cNvPr>
          <p:cNvSpPr>
            <a:spLocks noGrp="1"/>
          </p:cNvSpPr>
          <p:nvPr/>
        </p:nvSpPr>
        <p:spPr>
          <a:xfrm>
            <a:off x="4067175" y="4810125"/>
            <a:ext cx="3714750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3620DC2-AD0B-43C1-89FC-B01D692C23F9}"/>
              </a:ext>
            </a:extLst>
          </p:cNvPr>
          <p:cNvSpPr>
            <a:spLocks noGrp="1"/>
          </p:cNvSpPr>
          <p:nvPr/>
        </p:nvSpPr>
        <p:spPr>
          <a:xfrm>
            <a:off x="4162425" y="4905375"/>
            <a:ext cx="3524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8A50BEF-C3B1-4057-829C-D6169DC599AE}"/>
              </a:ext>
            </a:extLst>
          </p:cNvPr>
          <p:cNvSpPr>
            <a:spLocks noGrp="1"/>
          </p:cNvSpPr>
          <p:nvPr/>
        </p:nvSpPr>
        <p:spPr>
          <a:xfrm>
            <a:off x="7781925" y="4810125"/>
            <a:ext cx="3724275" cy="428625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AE41A7C-7037-4E1A-97AA-6C8A45CEF6E6}"/>
              </a:ext>
            </a:extLst>
          </p:cNvPr>
          <p:cNvSpPr>
            <a:spLocks noGrp="1"/>
          </p:cNvSpPr>
          <p:nvPr/>
        </p:nvSpPr>
        <p:spPr>
          <a:xfrm>
            <a:off x="7877175" y="4905375"/>
            <a:ext cx="3533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Production hardening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F66D03B-6177-4AC2-AD9F-1D1FA33F1A38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209550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EA060C3-AC4F-4326-83C4-58CED3F99A09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1905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1">
                <a:solidFill>
                  <a:srgbClr val="2A2A2A"/>
                </a:solidFill>
              </a:defRPr>
            </a:pPr>
            <a:r>
              <a:rPr sz="990" b="1">
                <a:solidFill>
                  <a:srgbClr val="2A2A2A"/>
                </a:solidFill>
              </a:rPr>
              <a:t>High IP velocity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0C75AFB-CD80-4115-81EA-A9A47A613E60}"/>
              </a:ext>
            </a:extLst>
          </p:cNvPr>
          <p:cNvSpPr>
            <a:spLocks noGrp="1"/>
          </p:cNvSpPr>
          <p:nvPr/>
        </p:nvSpPr>
        <p:spPr>
          <a:xfrm>
            <a:off x="2781300" y="5238750"/>
            <a:ext cx="1285875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898E05C-C532-42E0-B4AB-450F4E707F36}"/>
              </a:ext>
            </a:extLst>
          </p:cNvPr>
          <p:cNvSpPr>
            <a:spLocks noGrp="1"/>
          </p:cNvSpPr>
          <p:nvPr/>
        </p:nvSpPr>
        <p:spPr>
          <a:xfrm>
            <a:off x="2876550" y="5314950"/>
            <a:ext cx="1095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2A2A2A"/>
                </a:solidFill>
              </a:defRPr>
            </a:pPr>
            <a:r>
              <a:rPr sz="990" b="0">
                <a:solidFill>
                  <a:srgbClr val="2A2A2A"/>
                </a:solidFill>
              </a:rPr>
              <a:t>70%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C7D602B-D0F4-4713-97E7-38816D7E59A6}"/>
              </a:ext>
            </a:extLst>
          </p:cNvPr>
          <p:cNvSpPr>
            <a:spLocks noGrp="1"/>
          </p:cNvSpPr>
          <p:nvPr/>
        </p:nvSpPr>
        <p:spPr>
          <a:xfrm>
            <a:off x="4067175" y="5238750"/>
            <a:ext cx="3714750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A10ED6F-CBC2-4080-8F13-CA243E7DE710}"/>
              </a:ext>
            </a:extLst>
          </p:cNvPr>
          <p:cNvSpPr>
            <a:spLocks noGrp="1"/>
          </p:cNvSpPr>
          <p:nvPr/>
        </p:nvSpPr>
        <p:spPr>
          <a:xfrm>
            <a:off x="4162425" y="5314950"/>
            <a:ext cx="352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2A2A2A"/>
                </a:solidFill>
              </a:defRPr>
            </a:pPr>
            <a:r>
              <a:rPr sz="990" b="0">
                <a:solidFill>
                  <a:srgbClr val="2A2A2A"/>
                </a:solidFill>
              </a:rPr>
              <a:t>Potential proxy/VPN/bot source rotation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8373287-EF81-4F65-AC20-4D9A9BBF1BE6}"/>
              </a:ext>
            </a:extLst>
          </p:cNvPr>
          <p:cNvSpPr>
            <a:spLocks noGrp="1"/>
          </p:cNvSpPr>
          <p:nvPr/>
        </p:nvSpPr>
        <p:spPr>
          <a:xfrm>
            <a:off x="7781925" y="5238750"/>
            <a:ext cx="3724275" cy="428625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362D444-1E63-4E16-A719-B3028785FD9E}"/>
              </a:ext>
            </a:extLst>
          </p:cNvPr>
          <p:cNvSpPr>
            <a:spLocks noGrp="1"/>
          </p:cNvSpPr>
          <p:nvPr/>
        </p:nvSpPr>
        <p:spPr>
          <a:xfrm>
            <a:off x="7877175" y="5314950"/>
            <a:ext cx="35337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2A2A2A"/>
                </a:solidFill>
              </a:defRPr>
            </a:pPr>
            <a:r>
              <a:rPr sz="990" b="0">
                <a:solidFill>
                  <a:srgbClr val="2A2A2A"/>
                </a:solidFill>
              </a:rPr>
              <a:t>Add geo, ASN, device and user history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90F4681-6892-4687-B7DD-2DD654E3EF92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2095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E414405-9DB9-4B48-84A1-5922CC5B96AF}"/>
              </a:ext>
            </a:extLst>
          </p:cNvPr>
          <p:cNvSpPr>
            <a:spLocks noGrp="1"/>
          </p:cNvSpPr>
          <p:nvPr/>
        </p:nvSpPr>
        <p:spPr>
          <a:xfrm>
            <a:off x="781050" y="5743575"/>
            <a:ext cx="1905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1">
                <a:solidFill>
                  <a:srgbClr val="2A2A2A"/>
                </a:solidFill>
              </a:defRPr>
            </a:pPr>
            <a:r>
              <a:rPr sz="990" b="1">
                <a:solidFill>
                  <a:srgbClr val="2A2A2A"/>
                </a:solidFill>
              </a:rPr>
              <a:t>Off-hours access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5A411FF-68A2-4983-BC53-2B774DE9DE5B}"/>
              </a:ext>
            </a:extLst>
          </p:cNvPr>
          <p:cNvSpPr>
            <a:spLocks noGrp="1"/>
          </p:cNvSpPr>
          <p:nvPr/>
        </p:nvSpPr>
        <p:spPr>
          <a:xfrm>
            <a:off x="2781300" y="5667375"/>
            <a:ext cx="128587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5188B0F-0EF8-43A7-A5EA-C44F0922B63D}"/>
              </a:ext>
            </a:extLst>
          </p:cNvPr>
          <p:cNvSpPr>
            <a:spLocks noGrp="1"/>
          </p:cNvSpPr>
          <p:nvPr/>
        </p:nvSpPr>
        <p:spPr>
          <a:xfrm>
            <a:off x="2876550" y="5743575"/>
            <a:ext cx="1095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2A2A2A"/>
                </a:solidFill>
              </a:defRPr>
            </a:pPr>
            <a:r>
              <a:rPr sz="990" b="0">
                <a:solidFill>
                  <a:srgbClr val="2A2A2A"/>
                </a:solidFill>
              </a:rPr>
              <a:t>65%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D67DE5B-644C-4B2A-AE01-E09A783191A1}"/>
              </a:ext>
            </a:extLst>
          </p:cNvPr>
          <p:cNvSpPr>
            <a:spLocks noGrp="1"/>
          </p:cNvSpPr>
          <p:nvPr/>
        </p:nvSpPr>
        <p:spPr>
          <a:xfrm>
            <a:off x="4067175" y="5667375"/>
            <a:ext cx="37147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17C1EF4-5F77-4F9A-928F-4E89DA6609E3}"/>
              </a:ext>
            </a:extLst>
          </p:cNvPr>
          <p:cNvSpPr>
            <a:spLocks noGrp="1"/>
          </p:cNvSpPr>
          <p:nvPr/>
        </p:nvSpPr>
        <p:spPr>
          <a:xfrm>
            <a:off x="4162425" y="5743575"/>
            <a:ext cx="3524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2A2A2A"/>
                </a:solidFill>
              </a:defRPr>
            </a:pPr>
            <a:r>
              <a:rPr sz="990" b="0">
                <a:solidFill>
                  <a:srgbClr val="2A2A2A"/>
                </a:solidFill>
              </a:rPr>
              <a:t>Suspicious only with novelty or sensitive actions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E6C22C6-620A-44BB-A398-1A75AA735F21}"/>
              </a:ext>
            </a:extLst>
          </p:cNvPr>
          <p:cNvSpPr>
            <a:spLocks noGrp="1"/>
          </p:cNvSpPr>
          <p:nvPr/>
        </p:nvSpPr>
        <p:spPr>
          <a:xfrm>
            <a:off x="7781925" y="5667375"/>
            <a:ext cx="372427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083163B-2E02-4B8A-8F39-288A9BB9B2E8}"/>
              </a:ext>
            </a:extLst>
          </p:cNvPr>
          <p:cNvSpPr>
            <a:spLocks noGrp="1"/>
          </p:cNvSpPr>
          <p:nvPr/>
        </p:nvSpPr>
        <p:spPr>
          <a:xfrm>
            <a:off x="7877175" y="5743575"/>
            <a:ext cx="35337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2A2A2A"/>
                </a:solidFill>
              </a:defRPr>
            </a:pPr>
            <a:r>
              <a:rPr sz="990" b="0">
                <a:solidFill>
                  <a:srgbClr val="2A2A2A"/>
                </a:solidFill>
              </a:rPr>
              <a:t>Use work schedules and role context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E1347398-8149-4EDF-8EE3-D50B7901B89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C2BFC00-E400-46F8-91F8-1EB745300F79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838B8854-8ACF-4548-9A83-6B355FB7F144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961784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6A5D2A0-D675-40A4-90FE-A0FA1785B663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92F5308-B482-420B-A21B-BF3335D9C30C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PRODUCT ANALYTICS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7E74BA-2B6D-4BBC-942D-1E442CB98F63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85432F5-DB47-4C7D-A31B-190AED6B940D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Product KPI case: signup spike needs quality checks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5F718D6-F5A3-4F53-B789-05C50FD6F131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A growth spike is valuable only if acquisition quality and downstream activation hold.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EF99D3B-2CBD-4E32-8E9C-45C97D8F94D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000875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80924" y="1924050"/>
            <a:ext cx="5010626" cy="37338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169D367-5F39-4985-BFEA-5CA2FDF38B0B}"/>
              </a:ext>
            </a:extLst>
          </p:cNvPr>
          <p:cNvSpPr>
            <a:spLocks noGrp="1"/>
          </p:cNvSpPr>
          <p:nvPr/>
        </p:nvSpPr>
        <p:spPr>
          <a:xfrm>
            <a:off x="8048625" y="15716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Dashboard questions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052C73A-BF09-4925-859F-8A97789B7519}"/>
              </a:ext>
            </a:extLst>
          </p:cNvPr>
          <p:cNvSpPr>
            <a:spLocks noGrp="1"/>
          </p:cNvSpPr>
          <p:nvPr/>
        </p:nvSpPr>
        <p:spPr>
          <a:xfrm>
            <a:off x="8048625" y="1952625"/>
            <a:ext cx="3238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Which channel, country, and device changed?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Did verification, activation, and payment quality hold?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Was the spike real traffic, bot abuse, or instrumentation drift?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What revenue or retention signal followed the spike?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B7AF6C9-FBCA-4F84-B6BD-77F461167B02}"/>
              </a:ext>
            </a:extLst>
          </p:cNvPr>
          <p:cNvSpPr>
            <a:spLocks noGrp="1"/>
          </p:cNvSpPr>
          <p:nvPr/>
        </p:nvSpPr>
        <p:spPr>
          <a:xfrm>
            <a:off x="8048625" y="39719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Core KPIs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C53B97F-16AB-47FB-BA2F-740E8173EAC8}"/>
              </a:ext>
            </a:extLst>
          </p:cNvPr>
          <p:cNvSpPr>
            <a:spLocks noGrp="1"/>
          </p:cNvSpPr>
          <p:nvPr/>
        </p:nvSpPr>
        <p:spPr>
          <a:xfrm>
            <a:off x="8048625" y="4343400"/>
            <a:ext cx="3143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Signups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Activation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Verified users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Fraud rate</a:t>
            </a:r>
          </a:p>
          <a:p>
            <a:pPr algn="l">
              <a:defRPr sz="1200" b="0">
                <a:solidFill>
                  <a:srgbClr val="2A2A2A"/>
                </a:solidFill>
              </a:defRPr>
            </a:pPr>
            <a:r>
              <a:rPr sz="1200" b="0">
                <a:solidFill>
                  <a:srgbClr val="2A2A2A"/>
                </a:solidFill>
              </a:rPr>
              <a:t>- Revenue impact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26DB3B-F47B-495D-BFCB-92FC46E77AA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C128289-41BF-45DE-AFB1-5C7CB2BD6F3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01C7110-895B-48C9-A180-20D60CE58217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1619172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Рисунок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394635F-C74C-4D28-9173-4F91DDF130A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749AB4-A8C3-4A14-BF14-96B979FAFB75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9204618-8BE7-41B1-90BD-B6B57DA42A4E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0527BC4-83A8-42F2-A636-DE0EC3EB19B8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Why explainability and cost matter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A618D4C-D5A9-4264-8DC5-14BA506215D7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Security teams need alerts they can trust, defend, tune, and afford to run.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9D47B34-6128-468D-BA99-6641EE1CB0CA}"/>
              </a:ext>
            </a:extLst>
          </p:cNvPr>
          <p:cNvSpPr>
            <a:spLocks noGrp="1"/>
          </p:cNvSpPr>
          <p:nvPr/>
        </p:nvSpPr>
        <p:spPr>
          <a:xfrm>
            <a:off x="685800" y="1663700"/>
            <a:ext cx="2571750" cy="5334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CA05129-8DB7-42D4-9723-13B91A3A2E2B}"/>
              </a:ext>
            </a:extLst>
          </p:cNvPr>
          <p:cNvSpPr>
            <a:spLocks noGrp="1"/>
          </p:cNvSpPr>
          <p:nvPr/>
        </p:nvSpPr>
        <p:spPr>
          <a:xfrm>
            <a:off x="781050" y="17589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63A26BD-7244-4F79-A214-2D5DE8671E39}"/>
              </a:ext>
            </a:extLst>
          </p:cNvPr>
          <p:cNvSpPr>
            <a:spLocks noGrp="1"/>
          </p:cNvSpPr>
          <p:nvPr/>
        </p:nvSpPr>
        <p:spPr>
          <a:xfrm>
            <a:off x="3257550" y="1663700"/>
            <a:ext cx="4000500" cy="5334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E385E65-D4E7-4577-903A-26202AC8C744}"/>
              </a:ext>
            </a:extLst>
          </p:cNvPr>
          <p:cNvSpPr>
            <a:spLocks noGrp="1"/>
          </p:cNvSpPr>
          <p:nvPr/>
        </p:nvSpPr>
        <p:spPr>
          <a:xfrm>
            <a:off x="3352800" y="17589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Heuristics first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7CB685D-5555-4454-AA89-A1359A4310C4}"/>
              </a:ext>
            </a:extLst>
          </p:cNvPr>
          <p:cNvSpPr>
            <a:spLocks noGrp="1"/>
          </p:cNvSpPr>
          <p:nvPr/>
        </p:nvSpPr>
        <p:spPr>
          <a:xfrm>
            <a:off x="7258050" y="1663700"/>
            <a:ext cx="4248150" cy="53340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6AA1945-7F21-4370-AB9F-BEECDE6BC3E1}"/>
              </a:ext>
            </a:extLst>
          </p:cNvPr>
          <p:cNvSpPr>
            <a:spLocks noGrp="1"/>
          </p:cNvSpPr>
          <p:nvPr/>
        </p:nvSpPr>
        <p:spPr>
          <a:xfrm>
            <a:off x="7353300" y="1758950"/>
            <a:ext cx="4057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Machine learning later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7C99587-70B9-4D74-BA4E-0B3B2BFC3DC2}"/>
              </a:ext>
            </a:extLst>
          </p:cNvPr>
          <p:cNvSpPr>
            <a:spLocks noGrp="1"/>
          </p:cNvSpPr>
          <p:nvPr/>
        </p:nvSpPr>
        <p:spPr>
          <a:xfrm>
            <a:off x="685800" y="2197100"/>
            <a:ext cx="257175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A3388AB-7996-437F-8952-523464EFCCD7}"/>
              </a:ext>
            </a:extLst>
          </p:cNvPr>
          <p:cNvSpPr>
            <a:spLocks noGrp="1"/>
          </p:cNvSpPr>
          <p:nvPr/>
        </p:nvSpPr>
        <p:spPr>
          <a:xfrm>
            <a:off x="781050" y="22733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SOC trust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90B7561-EB35-4CF5-8E11-0EA0F7BB9D93}"/>
              </a:ext>
            </a:extLst>
          </p:cNvPr>
          <p:cNvSpPr>
            <a:spLocks noGrp="1"/>
          </p:cNvSpPr>
          <p:nvPr/>
        </p:nvSpPr>
        <p:spPr>
          <a:xfrm>
            <a:off x="3257550" y="2197100"/>
            <a:ext cx="40005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2C168F1-655A-4AAA-B5EA-C2BD64081E08}"/>
              </a:ext>
            </a:extLst>
          </p:cNvPr>
          <p:cNvSpPr>
            <a:spLocks noGrp="1"/>
          </p:cNvSpPr>
          <p:nvPr/>
        </p:nvSpPr>
        <p:spPr>
          <a:xfrm>
            <a:off x="3352800" y="22733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Clear evidence per alert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4BD5D3B-DFA4-4EF5-87FB-6C50BF10053D}"/>
              </a:ext>
            </a:extLst>
          </p:cNvPr>
          <p:cNvSpPr>
            <a:spLocks noGrp="1"/>
          </p:cNvSpPr>
          <p:nvPr/>
        </p:nvSpPr>
        <p:spPr>
          <a:xfrm>
            <a:off x="7258050" y="2197100"/>
            <a:ext cx="424815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2056E5B-376C-4F60-AA7E-BE465607F9AE}"/>
              </a:ext>
            </a:extLst>
          </p:cNvPr>
          <p:cNvSpPr>
            <a:spLocks noGrp="1"/>
          </p:cNvSpPr>
          <p:nvPr/>
        </p:nvSpPr>
        <p:spPr>
          <a:xfrm>
            <a:off x="7353300" y="2273300"/>
            <a:ext cx="405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Needs model explanation layer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80823D7-A226-4B34-B306-B96F1BF68B60}"/>
              </a:ext>
            </a:extLst>
          </p:cNvPr>
          <p:cNvSpPr>
            <a:spLocks noGrp="1"/>
          </p:cNvSpPr>
          <p:nvPr/>
        </p:nvSpPr>
        <p:spPr>
          <a:xfrm>
            <a:off x="685800" y="2730500"/>
            <a:ext cx="2571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40A115A-246B-4E52-82CE-C7208ED6A34C}"/>
              </a:ext>
            </a:extLst>
          </p:cNvPr>
          <p:cNvSpPr>
            <a:spLocks noGrp="1"/>
          </p:cNvSpPr>
          <p:nvPr/>
        </p:nvSpPr>
        <p:spPr>
          <a:xfrm>
            <a:off x="781050" y="28067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Legal defensibility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B04A139-973F-4DCB-84C7-28D25D3673BE}"/>
              </a:ext>
            </a:extLst>
          </p:cNvPr>
          <p:cNvSpPr>
            <a:spLocks noGrp="1"/>
          </p:cNvSpPr>
          <p:nvPr/>
        </p:nvSpPr>
        <p:spPr>
          <a:xfrm>
            <a:off x="3257550" y="2730500"/>
            <a:ext cx="4000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5238D8A-296E-46A2-965F-11AA4AA6A5B1}"/>
              </a:ext>
            </a:extLst>
          </p:cNvPr>
          <p:cNvSpPr>
            <a:spLocks noGrp="1"/>
          </p:cNvSpPr>
          <p:nvPr/>
        </p:nvSpPr>
        <p:spPr>
          <a:xfrm>
            <a:off x="3352800" y="28067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Rule and threshold are inspectable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D3AADDC-DABE-4FB2-94A4-C067CA767FBA}"/>
              </a:ext>
            </a:extLst>
          </p:cNvPr>
          <p:cNvSpPr>
            <a:spLocks noGrp="1"/>
          </p:cNvSpPr>
          <p:nvPr/>
        </p:nvSpPr>
        <p:spPr>
          <a:xfrm>
            <a:off x="7258050" y="2730500"/>
            <a:ext cx="42481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8FA3C34-4D35-4ADB-87CE-0D6AC4E7E565}"/>
              </a:ext>
            </a:extLst>
          </p:cNvPr>
          <p:cNvSpPr>
            <a:spLocks noGrp="1"/>
          </p:cNvSpPr>
          <p:nvPr/>
        </p:nvSpPr>
        <p:spPr>
          <a:xfrm>
            <a:off x="7353300" y="2806700"/>
            <a:ext cx="405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Requires governance and documentation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BFCF7C7-113F-4823-B782-ADD79AD894AC}"/>
              </a:ext>
            </a:extLst>
          </p:cNvPr>
          <p:cNvSpPr>
            <a:spLocks noGrp="1"/>
          </p:cNvSpPr>
          <p:nvPr/>
        </p:nvSpPr>
        <p:spPr>
          <a:xfrm>
            <a:off x="685800" y="3263900"/>
            <a:ext cx="257175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E2F786F-F314-4DDA-9EC1-1EA6D1DA148E}"/>
              </a:ext>
            </a:extLst>
          </p:cNvPr>
          <p:cNvSpPr>
            <a:spLocks noGrp="1"/>
          </p:cNvSpPr>
          <p:nvPr/>
        </p:nvSpPr>
        <p:spPr>
          <a:xfrm>
            <a:off x="781050" y="33401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Tuning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27A98B3-012A-4B40-ABE0-C25C66ED1325}"/>
              </a:ext>
            </a:extLst>
          </p:cNvPr>
          <p:cNvSpPr>
            <a:spLocks noGrp="1"/>
          </p:cNvSpPr>
          <p:nvPr/>
        </p:nvSpPr>
        <p:spPr>
          <a:xfrm>
            <a:off x="3257550" y="3263900"/>
            <a:ext cx="40005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11CD7D1-9A99-4830-BAB7-F1B75A5EFBE2}"/>
              </a:ext>
            </a:extLst>
          </p:cNvPr>
          <p:cNvSpPr>
            <a:spLocks noGrp="1"/>
          </p:cNvSpPr>
          <p:nvPr/>
        </p:nvSpPr>
        <p:spPr>
          <a:xfrm>
            <a:off x="3352800" y="33401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Fast threshold changes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1FD3435-2111-4060-A208-3DBCC45D5312}"/>
              </a:ext>
            </a:extLst>
          </p:cNvPr>
          <p:cNvSpPr>
            <a:spLocks noGrp="1"/>
          </p:cNvSpPr>
          <p:nvPr/>
        </p:nvSpPr>
        <p:spPr>
          <a:xfrm>
            <a:off x="7258050" y="3263900"/>
            <a:ext cx="424815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9346DE4-688F-4289-971C-3C3E7C605D10}"/>
              </a:ext>
            </a:extLst>
          </p:cNvPr>
          <p:cNvSpPr>
            <a:spLocks noGrp="1"/>
          </p:cNvSpPr>
          <p:nvPr/>
        </p:nvSpPr>
        <p:spPr>
          <a:xfrm>
            <a:off x="7353300" y="3340100"/>
            <a:ext cx="405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Needs retraining and drift monitoring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F887F44-049B-4A85-8BDB-4D8344FCE18A}"/>
              </a:ext>
            </a:extLst>
          </p:cNvPr>
          <p:cNvSpPr>
            <a:spLocks noGrp="1"/>
          </p:cNvSpPr>
          <p:nvPr/>
        </p:nvSpPr>
        <p:spPr>
          <a:xfrm>
            <a:off x="685800" y="3797300"/>
            <a:ext cx="2571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CE6AF65-F2CC-42E1-B566-C178D69D6378}"/>
              </a:ext>
            </a:extLst>
          </p:cNvPr>
          <p:cNvSpPr>
            <a:spLocks noGrp="1"/>
          </p:cNvSpPr>
          <p:nvPr/>
        </p:nvSpPr>
        <p:spPr>
          <a:xfrm>
            <a:off x="781050" y="38735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Latency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497AC71-6BE1-41F0-9C26-4FDFCFD89788}"/>
              </a:ext>
            </a:extLst>
          </p:cNvPr>
          <p:cNvSpPr>
            <a:spLocks noGrp="1"/>
          </p:cNvSpPr>
          <p:nvPr/>
        </p:nvSpPr>
        <p:spPr>
          <a:xfrm>
            <a:off x="3257550" y="3797300"/>
            <a:ext cx="4000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D4C647C-8CAD-4605-96B2-87500F5B1DC4}"/>
              </a:ext>
            </a:extLst>
          </p:cNvPr>
          <p:cNvSpPr>
            <a:spLocks noGrp="1"/>
          </p:cNvSpPr>
          <p:nvPr/>
        </p:nvSpPr>
        <p:spPr>
          <a:xfrm>
            <a:off x="3352800" y="38735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Milliseconds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A29F30C-5FC2-4EAE-9EBD-D81119F5895E}"/>
              </a:ext>
            </a:extLst>
          </p:cNvPr>
          <p:cNvSpPr>
            <a:spLocks noGrp="1"/>
          </p:cNvSpPr>
          <p:nvPr/>
        </p:nvSpPr>
        <p:spPr>
          <a:xfrm>
            <a:off x="7258050" y="3797300"/>
            <a:ext cx="42481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4113C2C8-B432-45D9-AABE-7108D105D839}"/>
              </a:ext>
            </a:extLst>
          </p:cNvPr>
          <p:cNvSpPr>
            <a:spLocks noGrp="1"/>
          </p:cNvSpPr>
          <p:nvPr/>
        </p:nvSpPr>
        <p:spPr>
          <a:xfrm>
            <a:off x="7353300" y="3873500"/>
            <a:ext cx="405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Higher inference and feature costs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7910C0F-5C37-4AD9-A332-11C79CDD1760}"/>
              </a:ext>
            </a:extLst>
          </p:cNvPr>
          <p:cNvSpPr>
            <a:spLocks noGrp="1"/>
          </p:cNvSpPr>
          <p:nvPr/>
        </p:nvSpPr>
        <p:spPr>
          <a:xfrm>
            <a:off x="685800" y="4330700"/>
            <a:ext cx="257175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A1BE741F-46CE-4730-8412-A036D08E291D}"/>
              </a:ext>
            </a:extLst>
          </p:cNvPr>
          <p:cNvSpPr>
            <a:spLocks noGrp="1"/>
          </p:cNvSpPr>
          <p:nvPr/>
        </p:nvSpPr>
        <p:spPr>
          <a:xfrm>
            <a:off x="781050" y="44069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Maintenance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E529318-19BA-4D1C-9ECA-C753F9600080}"/>
              </a:ext>
            </a:extLst>
          </p:cNvPr>
          <p:cNvSpPr>
            <a:spLocks noGrp="1"/>
          </p:cNvSpPr>
          <p:nvPr/>
        </p:nvSpPr>
        <p:spPr>
          <a:xfrm>
            <a:off x="3257550" y="4330700"/>
            <a:ext cx="400050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4C05CCF2-D9CE-464F-8A44-760A780F9E2A}"/>
              </a:ext>
            </a:extLst>
          </p:cNvPr>
          <p:cNvSpPr>
            <a:spLocks noGrp="1"/>
          </p:cNvSpPr>
          <p:nvPr/>
        </p:nvSpPr>
        <p:spPr>
          <a:xfrm>
            <a:off x="3352800" y="44069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Low to moderate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EC31F72-80FE-4CEF-94A0-B4E065313B39}"/>
              </a:ext>
            </a:extLst>
          </p:cNvPr>
          <p:cNvSpPr>
            <a:spLocks noGrp="1"/>
          </p:cNvSpPr>
          <p:nvPr/>
        </p:nvSpPr>
        <p:spPr>
          <a:xfrm>
            <a:off x="7258050" y="4330700"/>
            <a:ext cx="4248150" cy="53340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6857A22-FBE8-407E-B47E-EE99DE99187F}"/>
              </a:ext>
            </a:extLst>
          </p:cNvPr>
          <p:cNvSpPr>
            <a:spLocks noGrp="1"/>
          </p:cNvSpPr>
          <p:nvPr/>
        </p:nvSpPr>
        <p:spPr>
          <a:xfrm>
            <a:off x="7353300" y="4406900"/>
            <a:ext cx="405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Model monitoring, retraining, feature parity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7A15FCAD-8C17-4215-8FF9-E1C01E81815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476250"/>
          </a:xfrm>
          <a:prstGeom prst="roundRect">
            <a:avLst>
              <a:gd name="adj" fmla="val 16000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BC3C0C5A-8D6F-4E4E-BF73-D8F66C97C5F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66675" cy="47625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11887A0F-7BB9-4C25-925C-C7681738B9BA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right path is not anti-ML; it is staged automation after evidence, labels, and feedback exist.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4A035B8-28E8-495E-8D53-E13D23C70C7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BA0EA097-CD83-4B11-ADDD-09C707FCC1D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81DF19E4-2435-4115-8CC4-443DCC6EBA50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115112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Рисунок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C06CB8C-52EC-4CFC-93F9-3EE7CAAED4B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265F93E-BDF9-45FD-AE2D-3DD18168A949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PRODUCTION DESIGN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5546D3-DBA3-4532-9DE8-0681B4DE619C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AC19053-0C9D-4A14-A65C-C804F615084B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Production architecture expands the notebook into a detection platform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E74859D-5476-4A99-A79D-39CF2525BEA4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The same features become streaming signals, alert rules, and feedback data.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9FF0AF8-5D29-4FA3-99F2-187C4CD9EAB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5C05322-B8D6-4306-91C0-9C587F5FD62E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Applications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7C92CF3-A4C7-40F5-A421-786964B1C8C8}"/>
              </a:ext>
            </a:extLst>
          </p:cNvPr>
          <p:cNvSpPr>
            <a:spLocks noGrp="1"/>
          </p:cNvSpPr>
          <p:nvPr/>
        </p:nvSpPr>
        <p:spPr>
          <a:xfrm>
            <a:off x="3286125" y="186690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59CAD73-39BF-4F0C-A0EF-D45EB837966B}"/>
              </a:ext>
            </a:extLst>
          </p:cNvPr>
          <p:cNvSpPr>
            <a:spLocks noGrp="1"/>
          </p:cNvSpPr>
          <p:nvPr/>
        </p:nvSpPr>
        <p:spPr>
          <a:xfrm>
            <a:off x="3429000" y="167640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096EDD0-430F-49ED-B517-84BD219F3896}"/>
              </a:ext>
            </a:extLst>
          </p:cNvPr>
          <p:cNvSpPr>
            <a:spLocks noGrp="1"/>
          </p:cNvSpPr>
          <p:nvPr/>
        </p:nvSpPr>
        <p:spPr>
          <a:xfrm>
            <a:off x="3505200" y="182880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Kafka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CF2FC99-29CF-4736-AD64-D8BA3B6B797E}"/>
              </a:ext>
            </a:extLst>
          </p:cNvPr>
          <p:cNvSpPr>
            <a:spLocks noGrp="1"/>
          </p:cNvSpPr>
          <p:nvPr/>
        </p:nvSpPr>
        <p:spPr>
          <a:xfrm>
            <a:off x="6029325" y="186690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5776897-2508-41A9-AFED-14F0B2C93284}"/>
              </a:ext>
            </a:extLst>
          </p:cNvPr>
          <p:cNvSpPr>
            <a:spLocks noGrp="1"/>
          </p:cNvSpPr>
          <p:nvPr/>
        </p:nvSpPr>
        <p:spPr>
          <a:xfrm>
            <a:off x="6172200" y="167640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DF107C-DD00-4BEB-8A50-2849056CD1CF}"/>
              </a:ext>
            </a:extLst>
          </p:cNvPr>
          <p:cNvSpPr>
            <a:spLocks noGrp="1"/>
          </p:cNvSpPr>
          <p:nvPr/>
        </p:nvSpPr>
        <p:spPr>
          <a:xfrm>
            <a:off x="6248400" y="182880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Validation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5AAB896-23CB-4CB8-9D47-05E4582DC6DC}"/>
              </a:ext>
            </a:extLst>
          </p:cNvPr>
          <p:cNvSpPr>
            <a:spLocks noGrp="1"/>
          </p:cNvSpPr>
          <p:nvPr/>
        </p:nvSpPr>
        <p:spPr>
          <a:xfrm>
            <a:off x="8772525" y="186690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7E2AD78-5D3B-45D7-85F9-236EE0A31714}"/>
              </a:ext>
            </a:extLst>
          </p:cNvPr>
          <p:cNvSpPr>
            <a:spLocks noGrp="1"/>
          </p:cNvSpPr>
          <p:nvPr/>
        </p:nvSpPr>
        <p:spPr>
          <a:xfrm>
            <a:off x="8915400" y="167640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06F27D0-2854-41B0-ABF9-8BADF8A9C22D}"/>
              </a:ext>
            </a:extLst>
          </p:cNvPr>
          <p:cNvSpPr>
            <a:spLocks noGrp="1"/>
          </p:cNvSpPr>
          <p:nvPr/>
        </p:nvSpPr>
        <p:spPr>
          <a:xfrm>
            <a:off x="8991600" y="182880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Streaming ETL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BA347D3-0AFC-40E4-9023-E821BD2B1979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FA5B8EA-CBF3-4A8E-B8F8-9A641521DA6F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Feature Store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CEF5A25-D41D-4322-BE9A-E1A836780099}"/>
              </a:ext>
            </a:extLst>
          </p:cNvPr>
          <p:cNvSpPr>
            <a:spLocks noGrp="1"/>
          </p:cNvSpPr>
          <p:nvPr/>
        </p:nvSpPr>
        <p:spPr>
          <a:xfrm>
            <a:off x="3286125" y="280035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218864F-6CAC-43FE-BB41-32173C76B502}"/>
              </a:ext>
            </a:extLst>
          </p:cNvPr>
          <p:cNvSpPr>
            <a:spLocks noGrp="1"/>
          </p:cNvSpPr>
          <p:nvPr/>
        </p:nvSpPr>
        <p:spPr>
          <a:xfrm>
            <a:off x="3429000" y="260985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A46B205-AD27-4CFB-B08C-4990CFFE0403}"/>
              </a:ext>
            </a:extLst>
          </p:cNvPr>
          <p:cNvSpPr>
            <a:spLocks noGrp="1"/>
          </p:cNvSpPr>
          <p:nvPr/>
        </p:nvSpPr>
        <p:spPr>
          <a:xfrm>
            <a:off x="3505200" y="27622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Risk Scoring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BFB1742-C08D-4668-A599-D81C44FD2F07}"/>
              </a:ext>
            </a:extLst>
          </p:cNvPr>
          <p:cNvSpPr>
            <a:spLocks noGrp="1"/>
          </p:cNvSpPr>
          <p:nvPr/>
        </p:nvSpPr>
        <p:spPr>
          <a:xfrm>
            <a:off x="6029325" y="280035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617E3230-C311-4AA1-B433-B16DDB24C16A}"/>
              </a:ext>
            </a:extLst>
          </p:cNvPr>
          <p:cNvSpPr>
            <a:spLocks noGrp="1"/>
          </p:cNvSpPr>
          <p:nvPr/>
        </p:nvSpPr>
        <p:spPr>
          <a:xfrm>
            <a:off x="6172200" y="260985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E0F7027-7927-48E9-A574-C917FEE5102B}"/>
              </a:ext>
            </a:extLst>
          </p:cNvPr>
          <p:cNvSpPr>
            <a:spLocks noGrp="1"/>
          </p:cNvSpPr>
          <p:nvPr/>
        </p:nvSpPr>
        <p:spPr>
          <a:xfrm>
            <a:off x="6248400" y="27622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Rules Engine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07A37BA-AAD5-479B-A17E-BDA6BBAD552D}"/>
              </a:ext>
            </a:extLst>
          </p:cNvPr>
          <p:cNvSpPr>
            <a:spLocks noGrp="1"/>
          </p:cNvSpPr>
          <p:nvPr/>
        </p:nvSpPr>
        <p:spPr>
          <a:xfrm>
            <a:off x="8772525" y="280035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9C7AF0B1-9BDE-4187-B726-F53FCF6A3AF1}"/>
              </a:ext>
            </a:extLst>
          </p:cNvPr>
          <p:cNvSpPr>
            <a:spLocks noGrp="1"/>
          </p:cNvSpPr>
          <p:nvPr/>
        </p:nvSpPr>
        <p:spPr>
          <a:xfrm>
            <a:off x="8915400" y="260985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744F171-7F31-4830-BA92-F3899381298F}"/>
              </a:ext>
            </a:extLst>
          </p:cNvPr>
          <p:cNvSpPr>
            <a:spLocks noGrp="1"/>
          </p:cNvSpPr>
          <p:nvPr/>
        </p:nvSpPr>
        <p:spPr>
          <a:xfrm>
            <a:off x="8991600" y="27622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SIEM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6B1BD4E6-76B9-4EC0-92C3-65A0419033BA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3307992-8D9C-4F74-BFD1-A53CF3489846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SOAR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814DD05-24AE-4B3E-9C63-BC9A7CE2FE55}"/>
              </a:ext>
            </a:extLst>
          </p:cNvPr>
          <p:cNvSpPr>
            <a:spLocks noGrp="1"/>
          </p:cNvSpPr>
          <p:nvPr/>
        </p:nvSpPr>
        <p:spPr>
          <a:xfrm>
            <a:off x="3286125" y="373380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7EE54B87-5BAA-46FB-AC78-0EA8A0AD72A4}"/>
              </a:ext>
            </a:extLst>
          </p:cNvPr>
          <p:cNvSpPr>
            <a:spLocks noGrp="1"/>
          </p:cNvSpPr>
          <p:nvPr/>
        </p:nvSpPr>
        <p:spPr>
          <a:xfrm>
            <a:off x="3429000" y="354330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5570EBA-8B93-4488-8176-98C939ABFC6C}"/>
              </a:ext>
            </a:extLst>
          </p:cNvPr>
          <p:cNvSpPr>
            <a:spLocks noGrp="1"/>
          </p:cNvSpPr>
          <p:nvPr/>
        </p:nvSpPr>
        <p:spPr>
          <a:xfrm>
            <a:off x="3505200" y="369570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SOC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4DC71A2B-11A1-4F45-BEBA-F7B27447A26E}"/>
              </a:ext>
            </a:extLst>
          </p:cNvPr>
          <p:cNvSpPr>
            <a:spLocks noGrp="1"/>
          </p:cNvSpPr>
          <p:nvPr/>
        </p:nvSpPr>
        <p:spPr>
          <a:xfrm>
            <a:off x="6029325" y="373380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E02341D1-C463-4733-83F6-8997E73867A7}"/>
              </a:ext>
            </a:extLst>
          </p:cNvPr>
          <p:cNvSpPr>
            <a:spLocks noGrp="1"/>
          </p:cNvSpPr>
          <p:nvPr/>
        </p:nvSpPr>
        <p:spPr>
          <a:xfrm>
            <a:off x="6172200" y="354330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E372B3C-B2A8-4551-8592-B59D1BB15785}"/>
              </a:ext>
            </a:extLst>
          </p:cNvPr>
          <p:cNvSpPr>
            <a:spLocks noGrp="1"/>
          </p:cNvSpPr>
          <p:nvPr/>
        </p:nvSpPr>
        <p:spPr>
          <a:xfrm>
            <a:off x="6248400" y="369570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Feedback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878A0555-F81F-4525-A78C-835979A1FB7D}"/>
              </a:ext>
            </a:extLst>
          </p:cNvPr>
          <p:cNvSpPr>
            <a:spLocks noGrp="1"/>
          </p:cNvSpPr>
          <p:nvPr/>
        </p:nvSpPr>
        <p:spPr>
          <a:xfrm>
            <a:off x="8772525" y="3733800"/>
            <a:ext cx="13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A582D"/>
                </a:solidFill>
              </a:defRPr>
            </a:pPr>
            <a:r>
              <a:rPr sz="1500" b="1">
                <a:solidFill>
                  <a:srgbClr val="FA582D"/>
                </a:solidFill>
              </a:rPr>
              <a:t>&gt;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84CEC34C-AD58-43A8-8657-14B1B4AFFCA9}"/>
              </a:ext>
            </a:extLst>
          </p:cNvPr>
          <p:cNvSpPr>
            <a:spLocks noGrp="1"/>
          </p:cNvSpPr>
          <p:nvPr/>
        </p:nvSpPr>
        <p:spPr>
          <a:xfrm>
            <a:off x="8915400" y="354330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FA58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6E77518-716D-4954-B49D-311EEFB19675}"/>
              </a:ext>
            </a:extLst>
          </p:cNvPr>
          <p:cNvSpPr>
            <a:spLocks noGrp="1"/>
          </p:cNvSpPr>
          <p:nvPr/>
        </p:nvSpPr>
        <p:spPr>
          <a:xfrm>
            <a:off x="8991600" y="369570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111111"/>
                </a:solidFill>
              </a:defRPr>
            </a:pPr>
            <a:r>
              <a:rPr sz="1013" b="1">
                <a:solidFill>
                  <a:srgbClr val="111111"/>
                </a:solidFill>
              </a:rPr>
              <a:t>Model Retraining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2CBCF40D-C39E-4F0A-B8CE-4AC3218720CA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476250"/>
          </a:xfrm>
          <a:prstGeom prst="roundRect">
            <a:avLst>
              <a:gd name="adj" fmla="val 16000"/>
            </a:avLst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68715DB-443E-4D71-9936-21D482324646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66675" cy="476250"/>
          </a:xfrm>
          <a:prstGeom prst="rect">
            <a:avLst/>
          </a:prstGeom>
          <a:solidFill>
            <a:srgbClr val="FA582D"/>
          </a:solidFill>
          <a:ln w="0">
            <a:noFill/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9DE68B1E-D5B2-4CA6-BADD-65229DAB7D81}"/>
              </a:ext>
            </a:extLst>
          </p:cNvPr>
          <p:cNvSpPr>
            <a:spLocks noGrp="1"/>
          </p:cNvSpPr>
          <p:nvPr/>
        </p:nvSpPr>
        <p:spPr>
          <a:xfrm>
            <a:off x="914400" y="57245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Analyst feedback closes the loop: it improves thresholds now and creates labels for future ML.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BE272E1E-9622-4710-A77A-799A6D5EECF9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B48737A-3331-4E4A-AAA1-F22D4C1026A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0C68830E-80EB-4926-B13F-8C18FB690C4E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505980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Рисунок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3906" y="323850"/>
            <a:ext cx="1660187" cy="304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0101E74-DCF2-461A-9B6D-A6F425DA39C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2DB22FC-46D5-4305-BA7A-E5F916649479}"/>
              </a:ext>
            </a:extLst>
          </p:cNvPr>
          <p:cNvSpPr>
            <a:spLocks noGrp="1"/>
          </p:cNvSpPr>
          <p:nvPr/>
        </p:nvSpPr>
        <p:spPr>
          <a:xfrm>
            <a:off x="2781300" y="35242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SHORT REVIEW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0363549-73FD-470F-A2FB-6E62B84B3494}"/>
              </a:ext>
            </a:extLst>
          </p:cNvPr>
          <p:cNvSpPr>
            <a:spLocks noGrp="1"/>
          </p:cNvSpPr>
          <p:nvPr/>
        </p:nvSpPr>
        <p:spPr>
          <a:xfrm>
            <a:off x="10953750" y="33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F6F6F"/>
                </a:solidFill>
              </a:defRPr>
            </a:pPr>
            <a:r>
              <a:rPr sz="975" b="1">
                <a:solidFill>
                  <a:srgbClr val="6F6F6F"/>
                </a:solidFill>
              </a:rPr>
              <a:t>16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9DF0E6-7D8D-4F97-BE2B-C13B7BC02C7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Recommendations and conclusion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A3387AB-D986-4ACC-B0D9-185682746B60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F6F"/>
                </a:solidFill>
              </a:defRPr>
            </a:pPr>
            <a:r>
              <a:rPr sz="1350" b="0">
                <a:solidFill>
                  <a:srgbClr val="6F6F6F"/>
                </a:solidFill>
              </a:rPr>
              <a:t>The final recommendation is a repeatable, defensible analytics framework.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669FEE-E77D-45DC-A5C8-27961C5FC04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000250" cy="5143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071F919-94F5-47AC-A0D3-13EC76D6E784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Time horizon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E69460-C311-40B6-B5A7-93925462AA9F}"/>
              </a:ext>
            </a:extLst>
          </p:cNvPr>
          <p:cNvSpPr>
            <a:spLocks noGrp="1"/>
          </p:cNvSpPr>
          <p:nvPr/>
        </p:nvSpPr>
        <p:spPr>
          <a:xfrm>
            <a:off x="2686050" y="1619250"/>
            <a:ext cx="5238750" cy="5143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4207054-5594-4A32-AECD-4F68BC65407E}"/>
              </a:ext>
            </a:extLst>
          </p:cNvPr>
          <p:cNvSpPr>
            <a:spLocks noGrp="1"/>
          </p:cNvSpPr>
          <p:nvPr/>
        </p:nvSpPr>
        <p:spPr>
          <a:xfrm>
            <a:off x="2781300" y="17145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910F819-E304-4FA3-90A8-6B024C35B20D}"/>
              </a:ext>
            </a:extLst>
          </p:cNvPr>
          <p:cNvSpPr>
            <a:spLocks noGrp="1"/>
          </p:cNvSpPr>
          <p:nvPr/>
        </p:nvSpPr>
        <p:spPr>
          <a:xfrm>
            <a:off x="7924800" y="1619250"/>
            <a:ext cx="3581400" cy="514350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43A473-914B-4A15-A73A-80C63D2E495C}"/>
              </a:ext>
            </a:extLst>
          </p:cNvPr>
          <p:cNvSpPr>
            <a:spLocks noGrp="1"/>
          </p:cNvSpPr>
          <p:nvPr/>
        </p:nvSpPr>
        <p:spPr>
          <a:xfrm>
            <a:off x="8020050" y="1714500"/>
            <a:ext cx="3390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Owner value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D163F7B-5A0B-4AAE-85CD-EDD4B086CDBD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000250" cy="5143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6FC2903-3AD1-48AE-B46C-30097888CB5B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Now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7BCA0F1-4B02-472D-9EDF-F26A55DA314E}"/>
              </a:ext>
            </a:extLst>
          </p:cNvPr>
          <p:cNvSpPr>
            <a:spLocks noGrp="1"/>
          </p:cNvSpPr>
          <p:nvPr/>
        </p:nvSpPr>
        <p:spPr>
          <a:xfrm>
            <a:off x="2686050" y="2133600"/>
            <a:ext cx="5238750" cy="5143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63E5DDE-4271-43D9-BFD3-4A05E57B3AB8}"/>
              </a:ext>
            </a:extLst>
          </p:cNvPr>
          <p:cNvSpPr>
            <a:spLocks noGrp="1"/>
          </p:cNvSpPr>
          <p:nvPr/>
        </p:nvSpPr>
        <p:spPr>
          <a:xfrm>
            <a:off x="2781300" y="22098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Deduplicate, normalize labels, triage top anomalies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419B475-8511-4100-BF1A-E7403CC4EC8D}"/>
              </a:ext>
            </a:extLst>
          </p:cNvPr>
          <p:cNvSpPr>
            <a:spLocks noGrp="1"/>
          </p:cNvSpPr>
          <p:nvPr/>
        </p:nvSpPr>
        <p:spPr>
          <a:xfrm>
            <a:off x="7924800" y="2133600"/>
            <a:ext cx="3581400" cy="5143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A01B52B-9132-4F56-9427-5BE37740D537}"/>
              </a:ext>
            </a:extLst>
          </p:cNvPr>
          <p:cNvSpPr>
            <a:spLocks noGrp="1"/>
          </p:cNvSpPr>
          <p:nvPr/>
        </p:nvSpPr>
        <p:spPr>
          <a:xfrm>
            <a:off x="8020050" y="2209800"/>
            <a:ext cx="339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Cleaner alerts and faster response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FE90837-C063-42FB-9712-2943E6243566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C690577-DF27-452E-A3E2-EC05FC98150E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Next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2827B73-CE67-41ED-82ED-C9309C6077E9}"/>
              </a:ext>
            </a:extLst>
          </p:cNvPr>
          <p:cNvSpPr>
            <a:spLocks noGrp="1"/>
          </p:cNvSpPr>
          <p:nvPr/>
        </p:nvSpPr>
        <p:spPr>
          <a:xfrm>
            <a:off x="2686050" y="2647950"/>
            <a:ext cx="5238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E9AD283-FB7C-4CE0-BB29-2F879614359C}"/>
              </a:ext>
            </a:extLst>
          </p:cNvPr>
          <p:cNvSpPr>
            <a:spLocks noGrp="1"/>
          </p:cNvSpPr>
          <p:nvPr/>
        </p:nvSpPr>
        <p:spPr>
          <a:xfrm>
            <a:off x="2781300" y="272415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Add geo, ASN, user agent, MFA, session context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6964092-C89D-4418-8F79-7BD2563939A6}"/>
              </a:ext>
            </a:extLst>
          </p:cNvPr>
          <p:cNvSpPr>
            <a:spLocks noGrp="1"/>
          </p:cNvSpPr>
          <p:nvPr/>
        </p:nvSpPr>
        <p:spPr>
          <a:xfrm>
            <a:off x="7924800" y="2647950"/>
            <a:ext cx="35814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304B2F3-8B1D-47BC-BB7C-322321B79FA5}"/>
              </a:ext>
            </a:extLst>
          </p:cNvPr>
          <p:cNvSpPr>
            <a:spLocks noGrp="1"/>
          </p:cNvSpPr>
          <p:nvPr/>
        </p:nvSpPr>
        <p:spPr>
          <a:xfrm>
            <a:off x="8020050" y="2724150"/>
            <a:ext cx="339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Fewer false positives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C7BAC2A-F10F-49BF-BBCF-256E3D65D636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000250" cy="5143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94839B8-1DD1-4B98-BEBE-BB2847CE15A2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Next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B79A239-6411-4FF3-B387-4422A19E179E}"/>
              </a:ext>
            </a:extLst>
          </p:cNvPr>
          <p:cNvSpPr>
            <a:spLocks noGrp="1"/>
          </p:cNvSpPr>
          <p:nvPr/>
        </p:nvSpPr>
        <p:spPr>
          <a:xfrm>
            <a:off x="2686050" y="3162300"/>
            <a:ext cx="5238750" cy="5143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DDBA65B-ECC2-4D1C-AE18-EAECCB611857}"/>
              </a:ext>
            </a:extLst>
          </p:cNvPr>
          <p:cNvSpPr>
            <a:spLocks noGrp="1"/>
          </p:cNvSpPr>
          <p:nvPr/>
        </p:nvSpPr>
        <p:spPr>
          <a:xfrm>
            <a:off x="2781300" y="32385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Build SOC dashboard with confidence and evidence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61EBBDF-875F-4019-8D22-351DE4B59E61}"/>
              </a:ext>
            </a:extLst>
          </p:cNvPr>
          <p:cNvSpPr>
            <a:spLocks noGrp="1"/>
          </p:cNvSpPr>
          <p:nvPr/>
        </p:nvSpPr>
        <p:spPr>
          <a:xfrm>
            <a:off x="7924800" y="3162300"/>
            <a:ext cx="3581400" cy="514350"/>
          </a:xfrm>
          <a:prstGeom prst="rect">
            <a:avLst/>
          </a:prstGeom>
          <a:solidFill>
            <a:srgbClr val="F5F6F7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034EBCA-14DD-486F-8C1A-7B94983C4C96}"/>
              </a:ext>
            </a:extLst>
          </p:cNvPr>
          <p:cNvSpPr>
            <a:spLocks noGrp="1"/>
          </p:cNvSpPr>
          <p:nvPr/>
        </p:nvSpPr>
        <p:spPr>
          <a:xfrm>
            <a:off x="8020050" y="3238500"/>
            <a:ext cx="339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Analyst trust and auditability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D701207-5750-4599-82C8-FC8753B78F8F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93CBCE1-F799-46A5-ABC4-16E100D8F23D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1">
                <a:solidFill>
                  <a:srgbClr val="2A2A2A"/>
                </a:solidFill>
              </a:defRPr>
            </a:pPr>
            <a:r>
              <a:rPr sz="1088" b="1">
                <a:solidFill>
                  <a:srgbClr val="2A2A2A"/>
                </a:solidFill>
              </a:rPr>
              <a:t>Later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D9BD60F-379B-4D0D-ADDA-DCC10625C13A}"/>
              </a:ext>
            </a:extLst>
          </p:cNvPr>
          <p:cNvSpPr>
            <a:spLocks noGrp="1"/>
          </p:cNvSpPr>
          <p:nvPr/>
        </p:nvSpPr>
        <p:spPr>
          <a:xfrm>
            <a:off x="2686050" y="3676650"/>
            <a:ext cx="5238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4E8A352-5FCF-4BEB-8E11-1F4AF0EB66D4}"/>
              </a:ext>
            </a:extLst>
          </p:cNvPr>
          <p:cNvSpPr>
            <a:spLocks noGrp="1"/>
          </p:cNvSpPr>
          <p:nvPr/>
        </p:nvSpPr>
        <p:spPr>
          <a:xfrm>
            <a:off x="2781300" y="375285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Use feedback labels for ML and drift monitoring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E88DEAD7-4AA8-4EB2-B81E-B4F7D62A9E2D}"/>
              </a:ext>
            </a:extLst>
          </p:cNvPr>
          <p:cNvSpPr>
            <a:spLocks noGrp="1"/>
          </p:cNvSpPr>
          <p:nvPr/>
        </p:nvSpPr>
        <p:spPr>
          <a:xfrm>
            <a:off x="7924800" y="3676650"/>
            <a:ext cx="35814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9E9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ADEDC36-D1B9-426B-B82D-C4D3046AAE94}"/>
              </a:ext>
            </a:extLst>
          </p:cNvPr>
          <p:cNvSpPr>
            <a:spLocks noGrp="1"/>
          </p:cNvSpPr>
          <p:nvPr/>
        </p:nvSpPr>
        <p:spPr>
          <a:xfrm>
            <a:off x="8020050" y="3752850"/>
            <a:ext cx="339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2A2A2A"/>
                </a:solidFill>
              </a:defRPr>
            </a:pPr>
            <a:r>
              <a:rPr sz="1088" b="0">
                <a:solidFill>
                  <a:srgbClr val="2A2A2A"/>
                </a:solidFill>
              </a:rPr>
              <a:t>Gradual automation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8D780C7-AFAA-4C08-BD17-79EB9B8B073B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Close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B7D1BD0-7FC7-44F0-8F89-2DDEF6D30F4A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1076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A2A2A"/>
                </a:solidFill>
              </a:defRPr>
            </a:pPr>
            <a:r>
              <a:rPr sz="1275" b="0">
                <a:solidFill>
                  <a:srgbClr val="2A2A2A"/>
                </a:solidFill>
              </a:rPr>
              <a:t>This investigation demonstrates a repeatable analytical framework rather than a collection of isolated findings. I prioritized interpretable behavioral analytics because the dataset lacked labels and production context. The proposed features, workflow, dashboard, and architecture support analysts today while creating a path toward a production-grade detection platform.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2FE86F1-E839-4847-BE31-98D62188234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E9E9E9"/>
          </a:solidFill>
          <a:ln w="0">
            <a:noFill/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9BA8982-A032-4DCA-A132-A233276A06F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Senior Data Analyst Assignment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A600293-30E4-4267-9AB0-8E8AE3836515}"/>
              </a:ext>
            </a:extLst>
          </p:cNvPr>
          <p:cNvSpPr>
            <a:spLocks noGrp="1"/>
          </p:cNvSpPr>
          <p:nvPr/>
        </p:nvSpPr>
        <p:spPr>
          <a:xfrm>
            <a:off x="7239000" y="6457950"/>
            <a:ext cx="426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6F6F6F"/>
                </a:solidFill>
              </a:defRPr>
            </a:pPr>
            <a:r>
              <a:rPr sz="825" b="0">
                <a:solidFill>
                  <a:srgbClr val="6F6F6F"/>
                </a:solidFill>
              </a:rPr>
              <a:t>Analytical visuals are notebook-generated</a:t>
            </a:r>
          </a:p>
        </p:txBody>
      </p:sp>
    </p:spTree>
    <p:extLst>
      <p:ext uri="{BB962C8B-B14F-4D97-AF65-F5344CB8AC3E}">
        <p14:creationId xmlns:p14="http://schemas.microsoft.com/office/powerpoint/2010/main" val="6419047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1507</Words>
  <Application>Microsoft Office PowerPoint</Application>
  <DocSecurity>0</DocSecurity>
  <PresentationFormat>Широкоэкранный</PresentationFormat>
  <Paragraphs>380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8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Stasy</cp:lastModifiedBy>
  <cp:revision>1</cp:revision>
  <dcterms:created xsi:type="dcterms:W3CDTF">2026-07-06T13:06:50Z</dcterms:created>
  <dcterms:modified xsi:type="dcterms:W3CDTF">2026-07-06T13:13:04Z</dcterms:modified>
</cp:coreProperties>
</file>